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0E2A55"/>
                </a:solidFill>
              </a:rPr>
              <a:t>Outcomes by engagement tier  (illustrative model)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Course completion (%)</c:v>
                </c:pt>
              </c:strCache>
            </c:strRef>
          </c:tx>
          <c:spPr>
            <a:solidFill>
              <a:srgbClr val="0E2A55"/>
            </a:solidFill>
          </c:spPr>
          <c:cat>
            <c:strRef>
              <c:f>Sheet1!$A$2:$A$4</c:f>
              <c:strCache>
                <c:ptCount val="3"/>
                <c:pt idx="0">
                  <c:v>Low engagement</c:v>
                </c:pt>
                <c:pt idx="1">
                  <c:v>Medium</c:v>
                </c:pt>
                <c:pt idx="2">
                  <c:v>High engagement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</c:v>
                </c:pt>
                <c:pt idx="1">
                  <c:v>60</c:v>
                </c:pt>
                <c:pt idx="2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Promoter Score</c:v>
                </c:pt>
              </c:strCache>
            </c:strRef>
          </c:tx>
          <c:spPr>
            <a:solidFill>
              <a:srgbClr val="F2B61A"/>
            </a:solidFill>
          </c:spPr>
          <c:cat>
            <c:strRef>
              <c:f>Sheet1!$A$2:$A$4</c:f>
              <c:strCache>
                <c:ptCount val="3"/>
                <c:pt idx="0">
                  <c:v>Low engagement</c:v>
                </c:pt>
                <c:pt idx="1">
                  <c:v>Medium</c:v>
                </c:pt>
                <c:pt idx="2">
                  <c:v>High engagement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55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Referral rate (%)</c:v>
                </c:pt>
              </c:strCache>
            </c:strRef>
          </c:tx>
          <c:spPr>
            <a:solidFill>
              <a:srgbClr val="1E8E9C"/>
            </a:solidFill>
          </c:spPr>
          <c:cat>
            <c:strRef>
              <c:f>Sheet1!$A$2:$A$4</c:f>
              <c:strCache>
                <c:ptCount val="3"/>
                <c:pt idx="0">
                  <c:v>Low engagement</c:v>
                </c:pt>
                <c:pt idx="1">
                  <c:v>Medium</c:v>
                </c:pt>
                <c:pt idx="2">
                  <c:v>High engagement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7</c:v>
                </c:pt>
                <c:pt idx="2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udent_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0"/>
            <a:ext cx="5425135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6560" y="0"/>
            <a:ext cx="5425135" cy="6858000"/>
          </a:xfrm>
          <a:prstGeom prst="rect">
            <a:avLst/>
          </a:prstGeom>
          <a:solidFill>
            <a:srgbClr val="071B3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246120"/>
            <a:ext cx="6766560" cy="36576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" y="438912"/>
            <a:ext cx="1947840" cy="72237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728384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182880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MARKETING MANAGER  ·  ASSIGNMENT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73152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Reimagining the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Online-Learner</a:t>
            </a:r>
          </a:p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FFFFFF"/>
                </a:solidFill>
                <a:latin typeface="Calibri"/>
              </a:rPr>
              <a:t>A launch, a year-long roadmap, and a leadership story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64608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for Amity University Online's 2,50,000+ learners.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715000"/>
            <a:ext cx="54864" cy="6400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715000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8D36F"/>
                </a:solidFill>
                <a:latin typeface="Calibri"/>
              </a:rPr>
              <a:t>Submitted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436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Paras Jain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F8D36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A QUICK READ BEFORE WE DIVE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How I approached this brief.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2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41B2D"/>
                </a:solidFill>
                <a:latin typeface="Calibri"/>
              </a:rPr>
              <a:t>Before writing a single deliverable, I read what Amity University Online publishes about itself (amityonline.com, the Chairman's Careers360 interview, and the beSocial launch blog). Three patterns kept showing up. The whole deck is built around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3657600" cy="20116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50592"/>
            <a:ext cx="914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Belonging is the missing product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83280"/>
            <a:ext cx="32004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Amity Online has 2,50,000+ learners but most never set foot on the Noida campus. The university itself launched beSocial in June 2024 to build a 'virtual campus' — a clear signal even Amity sees this as a gap. We can close it with one in-person moment a year.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2286000"/>
            <a:ext cx="3657600" cy="20116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2450592"/>
            <a:ext cx="914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2B61A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9260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Engagement is the leading number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3383280"/>
            <a:ext cx="32004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An online learner who finishes 4 modules on time is far more likely to graduate, refer a friend, and renew with us. Most universities chase enrolment metrics. The lever that actually moves enrolment lives one step earlier — in engagement.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2286000"/>
            <a:ext cx="3657600" cy="20116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4" y="2450592"/>
            <a:ext cx="914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2B61A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29260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Our biggest growth channel is already inside the 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4" y="3383280"/>
            <a:ext cx="32004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We have 2,50,000+ learners and an alumni base growing every semester. That is the cheapest acquisition channel in higher education. Right now, almost nothing systematic turns a happy learner into a referrer. That is a fixable miss.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2628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F2B61A"/>
                </a:solidFill>
                <a:latin typeface="Calibri"/>
              </a:rPr>
              <a:t>FRAMEWORKS I'M USING (BY NAME, SO WE CAN AUDIT THEM)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83480"/>
            <a:ext cx="5166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8D36F"/>
                </a:solidFill>
                <a:latin typeface="Calibri"/>
              </a:rPr>
              <a:t>Jobs-to-be-Done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84648"/>
            <a:ext cx="5166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What is the learner really 'hiring' the degree to do? Career change, salary jump, family pride.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312664"/>
            <a:ext cx="5166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8D36F"/>
                </a:solidFill>
                <a:latin typeface="Calibri"/>
              </a:rPr>
              <a:t>AARRR funnel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513832"/>
            <a:ext cx="5166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Acquisition → Activation → Retention → Referral → Revenue. The 5-stage growth funnel.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41848"/>
            <a:ext cx="5166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8D36F"/>
                </a:solidFill>
                <a:latin typeface="Calibri"/>
              </a:rPr>
              <a:t>70-20-10 budget 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43016"/>
            <a:ext cx="5166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70% on what works, 20% on what looks promising, 10% on small experiments.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71032"/>
            <a:ext cx="5166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8D36F"/>
                </a:solidFill>
                <a:latin typeface="Calibri"/>
              </a:rPr>
              <a:t>North Star 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72200"/>
            <a:ext cx="5166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FFFFFF"/>
                </a:solidFill>
                <a:latin typeface="Calibri"/>
              </a:rPr>
              <a:t>One number the team optimises for. Mine: 30-day Active Learner Score.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526280"/>
            <a:ext cx="5715000" cy="18288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663440"/>
            <a:ext cx="5715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0E2A55"/>
                </a:solidFill>
                <a:latin typeface="Calibri"/>
              </a:rPr>
              <a:t>PLAIN-ENGLISH GLOSSARY (FOR EVERY ACRONYM IN THIS DECK)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98348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CAC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98348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9" b="0" i="0">
                <a:solidFill>
                  <a:srgbClr val="141B2D"/>
                </a:solidFill>
                <a:latin typeface="Calibri"/>
              </a:rPr>
              <a:t>Customer Acquisition Cost — the rupees we spend to get one new student.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498348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LMS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498348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9" b="0" i="0">
                <a:solidFill>
                  <a:srgbClr val="141B2D"/>
                </a:solidFill>
                <a:latin typeface="Calibri"/>
              </a:rPr>
              <a:t>Learning Management System — the website / app where lectures and quizzes live.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5312664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LTV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5312664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9" b="0" i="0">
                <a:solidFill>
                  <a:srgbClr val="141B2D"/>
                </a:solidFill>
                <a:latin typeface="Calibri"/>
              </a:rPr>
              <a:t>Lifetime Value — total fees a student pays us across their journey.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5312664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AMA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5312664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9" b="0" i="0">
                <a:solidFill>
                  <a:srgbClr val="141B2D"/>
                </a:solidFill>
                <a:latin typeface="Calibri"/>
              </a:rPr>
              <a:t>Ask-Me-Anything — an open Q&amp;A session where anyone can ask anything.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64184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NPS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64184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9" b="0" i="0">
                <a:solidFill>
                  <a:srgbClr val="141B2D"/>
                </a:solidFill>
                <a:latin typeface="Calibri"/>
              </a:rPr>
              <a:t>Net Promoter Score — a 0–100 score showing how likely a learner is to recommend us.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641848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MAU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564184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9" b="0" i="0">
                <a:solidFill>
                  <a:srgbClr val="141B2D"/>
                </a:solidFill>
                <a:latin typeface="Calibri"/>
              </a:rPr>
              <a:t>Monthly Active User — a learner who logged in at least once that month.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5971032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KPI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5971032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9" b="0" i="0">
                <a:solidFill>
                  <a:srgbClr val="141B2D"/>
                </a:solidFill>
                <a:latin typeface="Calibri"/>
              </a:rPr>
              <a:t>Key Performance Indicator — the single number we track to know if a thing worked.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5971032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F2B61A"/>
                </a:solidFill>
                <a:latin typeface="Calibri"/>
              </a:rPr>
              <a:t>MQL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5971032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9" b="0" i="0">
                <a:solidFill>
                  <a:srgbClr val="141B2D"/>
                </a:solidFill>
                <a:latin typeface="Calibri"/>
              </a:rPr>
              <a:t>Marketing Qualified Lead — a prospect who has shown interest, ready for sales follow-up.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206240"/>
            <a:ext cx="822960" cy="6400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434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Launching Amity Ignite — a campus moment for our online learners.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A small, on-campus pilot that gives every Amity Online learner one in-person memory they can show their family.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08008" y="210312"/>
            <a:ext cx="1681935" cy="630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F8D36F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·  LAUNCH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Amity Ignite — the launch plan on one page.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4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555C6B"/>
                </a:solidFill>
                <a:latin typeface="Calibri"/>
              </a:rPr>
              <a:t>A short, on-campus immersion for online learners — designed as the photo every learner will show their family. We pilot small, prove the impact, then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32120" cy="1325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73152" cy="13258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THE OPPORTUNITY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395728"/>
            <a:ext cx="51663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Amity Online has 2,50,000+ learners and 450+ hiring partners — the largest online learner base in India. Yet most learners never visit the Noida campus. That gap is our wedge.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5532120" cy="1325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566160"/>
            <a:ext cx="73152" cy="13258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5760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TARGET LEARNER (JOB-TO-BE-DONE)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50208"/>
            <a:ext cx="51663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A 25-35 year-old working professional from a Tier-2 / Tier-3 city. She is paying her own fees. She wants the Amity name and a credential her family can be proud of.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120640"/>
            <a:ext cx="5532120" cy="1325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20640"/>
            <a:ext cx="73152" cy="13258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21208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POSITIONING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51663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'The only online university in India where you actually walk the campus.' We do not compete on price. We compete on the experience, the brand, and the photo.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011680"/>
            <a:ext cx="5532120" cy="1325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011680"/>
            <a:ext cx="73152" cy="13258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10312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CHANNELS &amp; SPEND (PHASE 1 PILOT)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395728"/>
            <a:ext cx="51663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Pilot budget approx. Rs 60-70 lakh, cohort of 100 learners. 50% organic content + email + in-LMS, 25% existing performance media reallocation, 15% on-campus production, 10% earned PR.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566160"/>
            <a:ext cx="5532120" cy="1325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3566160"/>
            <a:ext cx="73152" cy="13258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65760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GOALS (FIRST 90 DAYS)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950208"/>
            <a:ext cx="51663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Cohort 0: 100 learners on Noida campus, 4.5+ NSAT (Net Satisfaction), 50%+ post-event social-share rate, baseline lift in next-cohort referral signal. Modelled, validated in pilot.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120640"/>
            <a:ext cx="5532120" cy="1325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5120640"/>
            <a:ext cx="73152" cy="13258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521208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E2A55"/>
                </a:solidFill>
                <a:latin typeface="Calibri"/>
              </a:rPr>
              <a:t>SUCCESS LOOKS LIKE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504688"/>
            <a:ext cx="51663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41B2D"/>
                </a:solidFill>
                <a:latin typeface="Calibri"/>
              </a:rPr>
              <a:t>By month 6, 'Did you do Ignite?' becomes a question that prospective students ask current Amity Online learners — and current learners answer with a photo, not a brochure.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·  EVENT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Event concept: Amity Ignite — Cohort 0.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5 / 19</a:t>
            </a:r>
          </a:p>
        </p:txBody>
      </p:sp>
      <p:pic>
        <p:nvPicPr>
          <p:cNvPr id="8" name="Picture 7" descr="students_grou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023360" cy="4846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035040"/>
            <a:ext cx="4023360" cy="365760"/>
          </a:xfrm>
          <a:prstGeom prst="rect">
            <a:avLst/>
          </a:prstGeom>
          <a:solidFill>
            <a:srgbClr val="071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1 day  ·  Noida campus  ·  100 learners  · 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463040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1">
                <a:solidFill>
                  <a:srgbClr val="0E2A55"/>
                </a:solidFill>
                <a:latin typeface="Calibri"/>
              </a:rPr>
              <a:t>Three feelings, in order: belong, build, broadcast.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555C6B"/>
                </a:solidFill>
                <a:latin typeface="Calibri"/>
              </a:rPr>
              <a:t>We start small on purpose. One day, 100 learners, on the existing Noida campus. If it works, we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2377440"/>
            <a:ext cx="7040880" cy="1325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09160" y="2377440"/>
            <a:ext cx="91440" cy="132588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496312"/>
            <a:ext cx="70408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MORNING  ·  BELONG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788920"/>
            <a:ext cx="66751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141B2D"/>
                </a:solidFill>
                <a:latin typeface="Calibri"/>
              </a:rPr>
              <a:t>Welcome by the Amity Online team. Campus walk-through. Lunch with current Amity faculty and a few volunteer alumni. Group photograph that learners can share home.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3813048"/>
            <a:ext cx="7040880" cy="1325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09160" y="3813048"/>
            <a:ext cx="91440" cy="132588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3931920"/>
            <a:ext cx="70408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AFTERNOON  ·  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224528"/>
            <a:ext cx="66751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141B2D"/>
                </a:solidFill>
                <a:latin typeface="Calibri"/>
              </a:rPr>
              <a:t>Two short masterclasses from in-house faculty (career skills + industry trends). A 90-minute group challenge solving a real Amity Online problem (e.g., how would you onboard a new learner from your own city?). Awards announced at high tea.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5248656"/>
            <a:ext cx="7040880" cy="13258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09160" y="5248656"/>
            <a:ext cx="91440" cy="132588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5367528"/>
            <a:ext cx="70408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EVENING  ·  BROADCAST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5660136"/>
            <a:ext cx="66751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141B2D"/>
                </a:solidFill>
                <a:latin typeface="Calibri"/>
              </a:rPr>
              <a:t>Mentor pairing — every learner leaves with one alumni mentor for the next 12 months. Closing 'Ignite Pledge'. Professional photographer and a 60-second video reel for every attendee. Bus drop to nearest Metro / hotel.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·  EMAIL TO EXISTING ONLINE LEARNERS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launch email.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6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7589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589520" cy="4114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5C6B"/>
                </a:solidFill>
                <a:latin typeface="Calibri"/>
              </a:rPr>
              <a:t>From: Amity Online Marketing  ·  online@amity.edu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0E2A55"/>
                </a:solidFill>
                <a:latin typeface="Calibri"/>
              </a:rPr>
              <a:t>Subject:  You enrolled online. We'd like to host you in person.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7040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555C6B"/>
                </a:solidFill>
                <a:latin typeface="Calibri"/>
              </a:rPr>
              <a:t>Preheader:  One day at the Noida campus. No recorded lectures. Yes, really.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141B2D"/>
                </a:solidFill>
                <a:latin typeface="Calibri"/>
              </a:rPr>
              <a:t>Hi {{first_name}},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08376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141B2D"/>
                </a:solidFill>
                <a:latin typeface="Calibri"/>
              </a:rPr>
              <a:t>You picked Amity University Online for one big reason: it had to fit around your work, your family, and your commute. It does. But there's one thing it can't do over a phone screen — let you see the campus you've technically been part of all along.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64992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141B2D"/>
                </a:solidFill>
                <a:latin typeface="Calibri"/>
              </a:rPr>
              <a:t>We'd like to fix that.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21608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141B2D"/>
                </a:solidFill>
                <a:latin typeface="Calibri"/>
              </a:rPr>
              <a:t>We're piloting Amity Ignite — a one-day, on-campus immersion at our Noida campus, free for our existing online learners. No recorded lectures. No pretending to take notes. Two short masterclasses, a real-world group challenge, lunch with faculty, and one mentor you'll keep for the next 12 months.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78224"/>
            <a:ext cx="7040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80" b="0" i="0">
                <a:solidFill>
                  <a:srgbClr val="141B2D"/>
                </a:solidFill>
                <a:latin typeface="Calibri"/>
              </a:rPr>
              <a:t>Cohort 0 is small on purpose: 100 learners. If you've completed at least one semester with us, you can apply for a seat by 25 August. We'll select on the basis of programme spread and travel feasibility, not first-come-first-served.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416552"/>
            <a:ext cx="2194560" cy="41148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416552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Apply for Cohort 0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507992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55C6B"/>
                </a:solidFill>
                <a:latin typeface="Calibri"/>
              </a:rPr>
              <a:t>Takes 90 seconds.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56632"/>
            <a:ext cx="70408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141B2D"/>
                </a:solidFill>
                <a:latin typeface="Calibri"/>
              </a:rPr>
              <a:t>— Amity Online Marketing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85232"/>
            <a:ext cx="7040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Amity University Online  ·  Noida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50876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Why this email is built this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1874519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Subject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103119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Personal + curiosity. Not 'Announcing'. Not 'Excited to share'. The reader feels invited, not pitched.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2587751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2816351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From the Amity Online Marketing team — institutional and honest. We do not invent a fictional employee to make the email feel personal. The voice does that on its own.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300983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Single CTA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529583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One blue button. No sidebar links. Every extra link costs us focus.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014215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Real scarcity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4242815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100 seats, real cap, real selection criteria. No fake countdown timer.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727447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Audience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956047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Only learners with at least 1 semester completed. Earned, not blasted.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440679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Send window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669279"/>
            <a:ext cx="31546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41B2D"/>
                </a:solidFill>
                <a:latin typeface="Calibri"/>
              </a:rPr>
              <a:t>Tuesday or Wednesday, 10:30 AM IST. We will run a small A/B test (split test) on send time for our own audience before we trust any external benchmark.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·  POSTED FROM THE CHAIRMAN'S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LinkedIn post.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7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6858000" cy="5212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0E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2B61A"/>
                </a:solidFill>
                <a:latin typeface="Calibri"/>
              </a:rPr>
              <a:t>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691640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41B2D"/>
                </a:solidFill>
                <a:latin typeface="Calibri"/>
              </a:rPr>
              <a:t>Mr. Ajit Chauhan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20240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C6B"/>
                </a:solidFill>
                <a:latin typeface="Calibri"/>
              </a:rPr>
              <a:t>Chairman, Amity University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0552"/>
            <a:ext cx="68580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1d  ·  Public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640080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I keep meeting Amity Online learners at airports.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Last week, one of them — a working professional from Bhubaneswar, doing his MBA after his work day ends — asked me a simple question.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"Sir, will I ever come to the campus?"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We launched Amity Online to make a high-quality degree fit around real lives. It does. But I went home and asked my team why our answer to that question is still "only during exams."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From this year, the answer becomes "yes" — at least once a year, for every learner who wants to.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We are calling it Amity Ignite. We start small: a one-day pilot at our Noida campus. If it earns the right to scale, it scales.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Online learning gave us reach. Ignite is how we add memory.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If you're an Amity Online learner reading this, your invite is in your inbox.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B2D"/>
                </a:solidFill>
                <a:latin typeface="Calibri"/>
              </a:rPr>
              <a:t>#AmityIgnite  #AmityUniversityOnline  #OnlineLearning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172200"/>
            <a:ext cx="6766560" cy="18288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6858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Like     Comment     Repost     Send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1417320"/>
            <a:ext cx="4251960" cy="521208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1554480"/>
            <a:ext cx="4251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E2A55"/>
                </a:solidFill>
                <a:latin typeface="Calibri"/>
              </a:rPr>
              <a:t>Why this is the Chairman's post, not a brand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192024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1" i="0">
                <a:solidFill>
                  <a:srgbClr val="F2B61A"/>
                </a:solidFill>
                <a:latin typeface="Calibri"/>
              </a:rPr>
              <a:t>Story, not announcement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16712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It opens with one specific learner from one specific city. The 'launch' is buried in paragraph five — that is on purpose.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78892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1" i="0">
                <a:solidFill>
                  <a:srgbClr val="F2B61A"/>
                </a:solidFill>
                <a:latin typeface="Calibri"/>
              </a:rPr>
              <a:t>A leader admitting a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303580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'I went home and asked my team why our answer is still maybe.' Honest. People share honest leadership posts.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65760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1" i="0">
                <a:solidFill>
                  <a:srgbClr val="F2B61A"/>
                </a:solidFill>
                <a:latin typeface="Calibri"/>
              </a:rPr>
              <a:t>One quotable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390448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'Online learning gave us reach. Ignite is how we add memory.' Built so that an Amity employee can quote it in their own post that same 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452628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1" i="0">
                <a:solidFill>
                  <a:srgbClr val="F2B61A"/>
                </a:solidFill>
                <a:latin typeface="Calibri"/>
              </a:rPr>
              <a:t>Earned distribution &gt; paid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77316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If a few hundred Amity Online employees + alumni each share with one line of context, organic reach beats paid reach for this kind of message.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5394960"/>
            <a:ext cx="3886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1" i="0">
                <a:solidFill>
                  <a:srgbClr val="F2B61A"/>
                </a:solidFill>
                <a:latin typeface="Calibri"/>
              </a:rPr>
              <a:t>Posting craft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641848"/>
            <a:ext cx="38862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Hashtags below the fold, line breaks every 1-2 sentences, no link in the post itself. These are the basic LinkedIn rules — we follow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1  ·  BROCHURE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Ignite brochure — page-by-page outline.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8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Format: A5 portrait, 8 pages, saddle-stitched. Low-cost print (approx. Rs 35 / brochure at 5,000 print run). Distributed digitally as a PDF; physical copies only at on-campus events.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56692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4008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65959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79"/>
            <a:ext cx="5394960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Single line of copy. Navy background. Gold flame.</a:t>
            </a:r>
          </a:p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Text: 'You enrolled online. You graduate in person.'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6692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874519"/>
            <a:ext cx="64008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965959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PAGE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240279"/>
            <a:ext cx="5394960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Founder's letter from Mr. Ajit Chauhan (Chairman, Amity Online). 200 words max. Hand-signed scan. No corporate cliches.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063239"/>
            <a:ext cx="56692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063239"/>
            <a:ext cx="64008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54679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PAGES 2-3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28999"/>
            <a:ext cx="5394960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Spread: 'Why Ignite exists' — three real learner stories from Cohort 0. Full-bleed photographs. Names with consent. No stock images.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063239"/>
            <a:ext cx="56692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063239"/>
            <a:ext cx="64008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154679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PAGE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428999"/>
            <a:ext cx="5394960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What one day looks like — visual timeline with simple icons. Morning, afternoon, evening.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51959"/>
            <a:ext cx="56692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51959"/>
            <a:ext cx="64008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343399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PAGE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17719"/>
            <a:ext cx="5394960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Your degree, your validation: NAAC A+ grade (National Assessment and Accreditation Council), UGC entitled (University Grants Commission), WASC accredited (Western Association of Schools and Colleges, USA), QAA accredited (Quality Assurance Agency, UK), QS Asia-Pacific Top 10 MBA. Built as a clean credibility wall — no inflated claims.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251959"/>
            <a:ext cx="56692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251959"/>
            <a:ext cx="64008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343399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PAGE 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617719"/>
            <a:ext cx="5394960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Real numbers: 2,50,000+ learners, 450+ hiring partners, 40+ programmes (source: amityonline.com, current). One sentence on what those numbers mean for the learner.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40679"/>
            <a:ext cx="56692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440679"/>
            <a:ext cx="64008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532119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PAGE 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806439"/>
            <a:ext cx="5394960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FAQ — 6 questions real prospects ask. Especially: 'Will my employer recognise this?' — answered head-on with the accreditations from page 5.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5440679"/>
            <a:ext cx="566928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5440679"/>
            <a:ext cx="64008" cy="1078992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5532119"/>
            <a:ext cx="5394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0E2A55"/>
                </a:solidFill>
                <a:latin typeface="Calibri"/>
              </a:rPr>
              <a:t>PAGE 8 / BACK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5806439"/>
            <a:ext cx="5394960" cy="66751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QR code to register. One sentence: 'One day. The rest of your career.' Amity Online lockup in the bottom-right corner.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48640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Task</a:t>
            </a:r>
          </a:p>
          <a:p>
            <a:pPr algn="l">
              <a:lnSpc>
                <a:spcPct val="90000"/>
              </a:lnSpc>
            </a:pPr>
            <a:r>
              <a:rPr sz="11000" b="1" i="0">
                <a:solidFill>
                  <a:srgbClr val="F2B61A"/>
                </a:solidFill>
                <a:latin typeface="Calibr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206240"/>
            <a:ext cx="822960" cy="64008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4340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A 12-month engagement roadmap.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From onboarding rituals to advocacy programmes — built so every learner has at least three 'I felt seen' moments per year.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08008" y="210312"/>
            <a:ext cx="1681935" cy="630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F8D36F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2  ·  ANNUAL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12-month engagement roadmap.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10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Four quarters, four themes, one outcome: every learner has at least three moments per year where they feel seen by Amity Online.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28346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2834640" cy="36576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Q1  ·  Apr-Jun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2316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BELONG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80360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141B2D"/>
                </a:solidFill>
                <a:latin typeface="Calibri"/>
              </a:rPr>
              <a:t>Onboarding rituals + first Amity Ignite pilot + community kick-off.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747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F2B61A"/>
                </a:solidFill>
                <a:latin typeface="Calibri"/>
              </a:rPr>
              <a:t>Anchor: Ignite Cohort 0 (100 learners) + Onboard 7-Day Sprint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10712" y="1965960"/>
            <a:ext cx="28346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10712" y="1965960"/>
            <a:ext cx="2834640" cy="36576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0116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Q2  ·  Jul-Sep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42316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2880360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141B2D"/>
                </a:solidFill>
                <a:latin typeface="Calibri"/>
              </a:rPr>
              <a:t>Career launchpad season — short masterclasses, mentor pairing, mock-interview drives.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34747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1E8E9C"/>
                </a:solidFill>
                <a:latin typeface="Calibri"/>
              </a:rPr>
              <a:t>Anchor: Amity Champions pilot (50 learners)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4224" y="1965960"/>
            <a:ext cx="28346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64224" y="1965960"/>
            <a:ext cx="2834640" cy="36576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20116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Q3  ·  Oct-Dec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242316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BROADCAST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2880360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141B2D"/>
                </a:solidFill>
                <a:latin typeface="Calibri"/>
              </a:rPr>
              <a:t>Storytelling at scale — alumni reels, AmityVoices podcast, advocacy programmes.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34747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C04A4A"/>
                </a:solidFill>
                <a:latin typeface="Calibri"/>
              </a:rPr>
              <a:t>Anchor: 'Pass the Flame' referral pilot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17736" y="1965960"/>
            <a:ext cx="283464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17736" y="1965960"/>
            <a:ext cx="2834640" cy="36576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0616" y="20116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Q4  ·  Jan-Mar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0616" y="242316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BEYOND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0616" y="2880360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141B2D"/>
                </a:solidFill>
                <a:latin typeface="Calibri"/>
              </a:rPr>
              <a:t>Convocation moment, capstone showcase, lifelong-learner network.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0616" y="347472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0E2A55"/>
                </a:solidFill>
                <a:latin typeface="Calibri"/>
              </a:rPr>
              <a:t>Anchor: Capstone Showcase + Alumni network activation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069079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0E2A55"/>
                </a:solidFill>
                <a:latin typeface="Calibri"/>
              </a:rPr>
              <a:t>Year-end target metrics  ·  modelled, to be validated in pilot: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34839"/>
            <a:ext cx="11247120" cy="36576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57199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9834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Active Learner Score (North Star)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2120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1E8E9C"/>
                </a:solidFill>
                <a:latin typeface="Calibri"/>
              </a:rPr>
              <a:t>from baseline ~40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52344" y="457199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+10 pts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52344" y="49834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Course completion (annual)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52344" y="52120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1E8E9C"/>
                </a:solidFill>
                <a:latin typeface="Calibri"/>
              </a:rPr>
              <a:t>vs current baseline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01768" y="457199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45+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49834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Net Promoter Score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01768" y="52120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1E8E9C"/>
                </a:solidFill>
                <a:latin typeface="Calibri"/>
              </a:rPr>
              <a:t>vs baseline ~25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1192" y="457199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1192" y="49834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Referral-driven enrolments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2120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1E8E9C"/>
                </a:solidFill>
                <a:latin typeface="Calibri"/>
              </a:rPr>
              <a:t>vs current ~3%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0616" y="4571999"/>
            <a:ext cx="2249424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-25%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0616" y="49834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555C6B"/>
                </a:solidFill>
                <a:latin typeface="Calibri"/>
              </a:rPr>
              <a:t>Cost per enrolment (organic)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0616" y="5212079"/>
            <a:ext cx="2249424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1E8E9C"/>
                </a:solidFill>
                <a:latin typeface="Calibri"/>
              </a:rPr>
              <a:t>vs current paid blend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2  ·  NEW INITIATIVES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Five initiatives I'd ship this year.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11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Each has a clear cost, a single owner, a measurable KPI, and a kill-criterion. If the kill-criterion is hit, we stop the initiative — quickly and publicly.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11247120" cy="8869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57399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8E9C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993391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Onboard 7-Day Sprint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240279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F2B61A"/>
                </a:solidFill>
                <a:latin typeface="Calibri"/>
              </a:rPr>
              <a:t>Learner activation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039111"/>
            <a:ext cx="36576" cy="5486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993391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First 7 days post-enrolment make or break long-term engagement. A guided sprint with a study buddy, three small wins, and one short call with a faculty mentor on Day 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377439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0E2A55"/>
                </a:solidFill>
                <a:latin typeface="Calibri"/>
              </a:rPr>
              <a:t>KPI: drop 30-day drop-off by 5+ percentage points (modelled). Cost: ~Rs 12 lakh / cohort. Owner: Activation Lead. Kill if no measurable change after 2 cohorts.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798063"/>
            <a:ext cx="11247120" cy="8869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980943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2B61A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916935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Amity Ignite Cohort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163823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F2B61A"/>
                </a:solidFill>
                <a:latin typeface="Calibri"/>
              </a:rPr>
              <a:t>On-campus immersion (pilot)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2962655"/>
            <a:ext cx="36576" cy="5486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916935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One-day, 100 learners, on the existing Noida campus. Belong - Build - Broadcast format. If NSAT (Net Satisfaction) is greater than 4.5/5, we plan Cohort 1 at slightly larger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300983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0E2A55"/>
                </a:solidFill>
                <a:latin typeface="Calibri"/>
              </a:rPr>
              <a:t>KPI: NSAT 4.5+ and 50%+ social-share rate. Cost: ~Rs 35 lakh. Owner: Events + Marketing. Kill-criterion: NSAT below 4.0.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21607"/>
            <a:ext cx="11247120" cy="8869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04487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C04A4A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840479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Amity Champions (50-learner pilot)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087367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F2B61A"/>
                </a:solidFill>
                <a:latin typeface="Calibri"/>
              </a:rPr>
              <a:t>Peer leadership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886199"/>
            <a:ext cx="36576" cy="5486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840479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50 hand-picked learners trained to host beSocial circles, run study huddles, and represent Amity online. Stipend Rs 2,000 / month for 6 months + Ignite priority + a verified 'Champion' tag on the certificate.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4224527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0E2A55"/>
                </a:solidFill>
                <a:latin typeface="Calibri"/>
              </a:rPr>
              <a:t>KPI: 60% of beSocial activity sourced by Champions in the pilot programmes. Cost: ~Rs 6 lakh. Owner: Community Manager. Kill if activity does not move.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45151"/>
            <a:ext cx="11247120" cy="8869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828031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A55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764023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Cohort Circles on beSocial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5010911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F2B61A"/>
                </a:solidFill>
                <a:latin typeface="Calibri"/>
              </a:rPr>
              <a:t>Community-as-product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06240" y="4809743"/>
            <a:ext cx="36576" cy="5486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4764023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Group every learner into a 24-person 'Circle' on enrolment day. Same Circle for the full programme. Weekly check-in prompt, monthly Champion-led 30-minute call. Mostly a product change in beSocial — low marginal cost.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400" y="5148071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0E2A55"/>
                </a:solidFill>
                <a:latin typeface="Calibri"/>
              </a:rPr>
              <a:t>KPI: 50% of Circles still active at month 3. Cost: ~Rs 4 lakh (product + comms). Owner: Product (beSocial) + Community. Kill if activity is below 25%.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568695"/>
            <a:ext cx="11247120" cy="886968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751575"/>
            <a:ext cx="640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555C6B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25880" y="5687567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Capstone-to-Career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5934455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1">
                <a:solidFill>
                  <a:srgbClr val="F2B61A"/>
                </a:solidFill>
                <a:latin typeface="Calibri"/>
              </a:rPr>
              <a:t>Career outcomes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6240" y="5733287"/>
            <a:ext cx="36576" cy="548640"/>
          </a:xfrm>
          <a:prstGeom prst="rect">
            <a:avLst/>
          </a:prstGeom>
          <a:solidFill>
            <a:srgbClr val="55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43400" y="5687567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69" b="0" i="0">
                <a:solidFill>
                  <a:srgbClr val="141B2D"/>
                </a:solidFill>
                <a:latin typeface="Calibri"/>
              </a:rPr>
              <a:t>Replace one generic capstone in the Master of Business Administration programme with a real brief contributed by a hiring partner. Best 5% of capstones are surfaced to that partner's hiring team.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6071615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1">
                <a:solidFill>
                  <a:srgbClr val="0E2A55"/>
                </a:solidFill>
                <a:latin typeface="Calibri"/>
              </a:rPr>
              <a:t>KPI: 10% of pilot-cohort learners get a capstone-led interview. Cost: ~Rs 3 lakh. Owner: Career Services. Kill if hiring partners do not commit briefs in the first month.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TASK 2  ·  COMMUNITY-BUILDING, ADVOCACY &amp; REFERRALS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Community, advocacy, and referrals — one connected system.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12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1">
                <a:solidFill>
                  <a:srgbClr val="555C6B"/>
                </a:solidFill>
                <a:latin typeface="Calibri"/>
              </a:rPr>
              <a:t>These three are usually run as separate programmes. They work better as one funnel: join the community, become an advocate, refer the next learner.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3703320" cy="41148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3703320" cy="36576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01  ·  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23160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beSocial as a town square, not a feed.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1" i="0">
                <a:solidFill>
                  <a:srgbClr val="F2B61A"/>
                </a:solidFill>
                <a:latin typeface="Calibri"/>
              </a:rPr>
              <a:t>Cohort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46120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24-learner Circles, formed on enrolment day, kept for the full programme.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3075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1" i="0">
                <a:solidFill>
                  <a:srgbClr val="F2B61A"/>
                </a:solidFill>
                <a:latin typeface="Calibri"/>
              </a:rPr>
              <a:t>Skill Tribes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59352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Self-organising sub-communities by interest (data, finance, marketing). Champion-led, weekly thread, monthly project.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43984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1" i="0">
                <a:solidFill>
                  <a:srgbClr val="F2B61A"/>
                </a:solidFill>
                <a:latin typeface="Calibri"/>
              </a:rPr>
              <a:t>Quarterly Town Hall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72584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Open AMA (Ask-Me-Anything) with leadership. Anyone can submit a question. Top questions answered live, recording archived.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57216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1" i="0">
                <a:solidFill>
                  <a:srgbClr val="F2B61A"/>
                </a:solidFill>
                <a:latin typeface="Calibri"/>
              </a:rPr>
              <a:t>'Quiet Sunday'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85816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No broadcast posts on Sundays. Only learner-initiated content. Small rule, big signal: this platform is for them, not at them.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965960"/>
            <a:ext cx="3703320" cy="41148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1965960"/>
            <a:ext cx="3703320" cy="36576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2011680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02  ·  ADVOCACY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423160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Three tiers, increasing intensity.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57700" y="3017520"/>
            <a:ext cx="3383280" cy="868680"/>
          </a:xfrm>
          <a:prstGeom prst="roundRect">
            <a:avLst>
              <a:gd name="adj" fmla="val 4000"/>
            </a:avLst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4860" y="3108960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AMBASSADORS  ·  ~500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4860" y="3346704"/>
            <a:ext cx="31089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69" b="0" i="0">
                <a:solidFill>
                  <a:srgbClr val="FFFFFF"/>
                </a:solidFill>
                <a:latin typeface="Calibri"/>
              </a:rPr>
              <a:t>Anyone who shares one piece of public content with #AmityOnline. Self-enrol. Auto-perks: monthly digital drop, early Ignite access.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69180" y="3931920"/>
            <a:ext cx="2560320" cy="868680"/>
          </a:xfrm>
          <a:prstGeom prst="roundRect">
            <a:avLst>
              <a:gd name="adj" fmla="val 4000"/>
            </a:avLst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6340" y="402336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CHAMPIONS  ·  ~50 (yr1)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6340" y="4261104"/>
            <a:ext cx="2286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69" b="0" i="0">
                <a:solidFill>
                  <a:srgbClr val="FFFFFF"/>
                </a:solidFill>
                <a:latin typeface="Calibri"/>
              </a:rPr>
              <a:t>Trusted learners who run circles and host AMAs. Stipend Rs 2,000 / month + Ignite priority + 'Champion' on the certificate.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80660" y="4846320"/>
            <a:ext cx="1737360" cy="868680"/>
          </a:xfrm>
          <a:prstGeom prst="roundRect">
            <a:avLst>
              <a:gd name="adj" fmla="val 4000"/>
            </a:avLst>
          </a:prstGeom>
          <a:solidFill>
            <a:srgbClr val="071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17820" y="493776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VOICES  ·  ~10 (yr1)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7820" y="5175504"/>
            <a:ext cx="14630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69" b="0" i="0">
                <a:solidFill>
                  <a:srgbClr val="FFFFFF"/>
                </a:solidFill>
                <a:latin typeface="Calibri"/>
              </a:rPr>
              <a:t>Top storytellers. Co-create content for the AmityVoices podcast and reels. Quarterly retainer + Ignite VIP access.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1965960"/>
            <a:ext cx="3703320" cy="41148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38160" y="1965960"/>
            <a:ext cx="3703320" cy="36576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2011680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03  ·  REFERRALS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2423160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Pass the Flame — three lever ladder.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01752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19" b="1" i="0">
                <a:solidFill>
                  <a:srgbClr val="F2B61A"/>
                </a:solidFill>
                <a:latin typeface="Calibri"/>
              </a:rPr>
              <a:t>Rs 10,000 fee waiver — for the friend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401568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Front-load the value to the joiner, not the referrer. Trust beats cashback.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388620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19" b="1" i="0">
                <a:solidFill>
                  <a:srgbClr val="F2B61A"/>
                </a:solidFill>
                <a:latin typeface="Calibri"/>
              </a:rPr>
              <a:t>Tier kicker — for the referrer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270248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1 referral: Ignite seat hold. 3 referrals: free Ignite seat + 'Top Referrer' badge. 5 referrals: paid masterclass-host slot. Ladders work better than flat rates.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754880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19" b="1" i="0">
                <a:solidFill>
                  <a:srgbClr val="F2B61A"/>
                </a:solidFill>
                <a:latin typeface="Calibri"/>
              </a:rPr>
              <a:t>Cohort unlock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138928"/>
            <a:ext cx="3337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30" b="0" i="0">
                <a:solidFill>
                  <a:srgbClr val="141B2D"/>
                </a:solidFill>
                <a:latin typeface="Calibri"/>
              </a:rPr>
              <a:t>Once a cohort hits 50 referrals, the whole cohort gets one extra exclusive event with a marquee Amity faculty member. Group goal beats individual goal.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>
                <a:solidFill>
                  <a:srgbClr val="555C6B"/>
                </a:solidFill>
                <a:latin typeface="Calibri"/>
              </a:rPr>
              <a:t>Honest take: nothing scales until something becomes a status symbol. 'Champion' on the certificate is the smallest, cheapest move in this whole deck — and probably the highest-leverage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ad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0"/>
            <a:ext cx="5333695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858000" y="0"/>
            <a:ext cx="5333695" cy="6858000"/>
          </a:xfrm>
          <a:prstGeom prst="rect">
            <a:avLst/>
          </a:prstGeom>
          <a:solidFill>
            <a:srgbClr val="071B3C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438912"/>
            <a:ext cx="1681935" cy="630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mity_onlin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62479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82880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TASK 03  ·  LEADERSHIP DECK · 5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73152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How student engagement</a:t>
            </a:r>
          </a:p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drives retention</a:t>
            </a:r>
          </a:p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and brand advocacy.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68580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A short, board-ready story — five slides — built around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F8D36F"/>
                </a:solidFill>
                <a:latin typeface="Calibri"/>
              </a:rPr>
              <a:t>the question: who is the most expensive learner we have?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F8D36F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1 OF 5  ·  THE 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The most expensive learner is the quietest one.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14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5486400" cy="4937760"/>
          </a:xfrm>
          <a:prstGeom prst="roundRect">
            <a:avLst>
              <a:gd name="adj" fmla="val 4000"/>
            </a:avLst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2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OUR HYPOTHESIS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493776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0" b="1" i="0">
                <a:solidFill>
                  <a:srgbClr val="FFFFFF"/>
                </a:solidFill>
                <a:latin typeface="Calibri"/>
              </a:rPr>
              <a:t>1 in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06240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of our learners is quietly drifting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 the first 30 days.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1">
                <a:solidFill>
                  <a:srgbClr val="F8D36F"/>
                </a:solidFill>
                <a:latin typeface="Calibri"/>
              </a:rPr>
              <a:t>Anchor for diagnostic. To be measured against our actual</a:t>
            </a:r>
          </a:p>
          <a:p>
            <a:pPr algn="l">
              <a:lnSpc>
                <a:spcPct val="130000"/>
              </a:lnSpc>
            </a:pPr>
            <a:r>
              <a:rPr sz="900" b="0" i="1">
                <a:solidFill>
                  <a:srgbClr val="F8D36F"/>
                </a:solidFill>
                <a:latin typeface="Calibri"/>
              </a:rPr>
              <a:t>Active Learner Score in week 1 of the engagement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Why this is the most expensive line on our P&amp;L: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b="1" sz="1200">
                <a:solidFill>
                  <a:srgbClr val="0E2A55"/>
                </a:solidFill>
                <a:latin typeface="Calibri"/>
              </a:rPr>
              <a:t>Most learners do not drop out loudly. </a:t>
            </a:r>
            <a:r>
              <a:rPr sz="1200">
                <a:solidFill>
                  <a:srgbClr val="141B2D"/>
                </a:solidFill>
                <a:latin typeface="Calibri"/>
              </a:rPr>
              <a:t>They drift. Two missed weeks become a month, then a tab in someone's browser called 'finish later' that never gets reopened.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11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b="1" sz="1200">
                <a:solidFill>
                  <a:srgbClr val="0E2A55"/>
                </a:solidFill>
                <a:latin typeface="Calibri"/>
              </a:rPr>
              <a:t>And the brutal economics: </a:t>
            </a:r>
            <a:r>
              <a:rPr sz="1200">
                <a:solidFill>
                  <a:srgbClr val="141B2D"/>
                </a:solidFill>
                <a:latin typeface="Calibri"/>
              </a:rPr>
              <a:t>every learner who ghosts is paid-for marketing wasted, and a referral we will not get. We do not just lose tuition — we lose the next learner they would have brought 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9377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b="1" sz="1200">
                <a:solidFill>
                  <a:srgbClr val="0E2A55"/>
                </a:solidFill>
                <a:latin typeface="Calibri"/>
              </a:rPr>
              <a:t>So the right question is not </a:t>
            </a:r>
            <a:r>
              <a:rPr sz="1200">
                <a:solidFill>
                  <a:srgbClr val="141B2D"/>
                </a:solidFill>
                <a:latin typeface="Calibri"/>
              </a:rPr>
              <a:t>'how do we get more leads?' It is 'how do we make a learner who has already paid us feel something on day 14 that makes them open the LMS again?'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2 OF 5  · 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Engagement is the variable. Everything else follows.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15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An illustrative model of how three outcomes change as a learner moves from low to high engagement. Real numbers come from the diagnostic audit in the first 30 days.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2057400"/>
          <a:ext cx="594360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75120" y="2057400"/>
            <a:ext cx="5349240" cy="41148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286000"/>
            <a:ext cx="4892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Three things this model says: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834640"/>
            <a:ext cx="4892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Move a learner from low to medium engagement.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246120"/>
            <a:ext cx="4892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1">
                <a:solidFill>
                  <a:srgbClr val="141B2D"/>
                </a:solidFill>
                <a:latin typeface="Calibri"/>
              </a:rPr>
              <a:t>That alone produces the biggest single jump in completion. More than any curriculum redesign would.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886200"/>
            <a:ext cx="4892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Net Promoter Score is the leading indicator.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297680"/>
            <a:ext cx="4892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1">
                <a:solidFill>
                  <a:srgbClr val="141B2D"/>
                </a:solidFill>
                <a:latin typeface="Calibri"/>
              </a:rPr>
              <a:t>Learners decide whether they will recommend us long before they finish their degree. We can measure this in month 3, not month 30.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937760"/>
            <a:ext cx="4892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E2A55"/>
                </a:solidFill>
                <a:latin typeface="Calibri"/>
              </a:rPr>
              <a:t>The top tier refers at ~20%.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5349240"/>
            <a:ext cx="4892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1">
                <a:solidFill>
                  <a:srgbClr val="141B2D"/>
                </a:solidFill>
                <a:latin typeface="Calibri"/>
              </a:rPr>
              <a:t>If we can move even 5% of our 2,50,000+ learners into the top tier, organic referrals alone become a meaningful enrolment channel — at almost zero marginal cost.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3 OF 5  ·  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Three levers. That's the whole strategy.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16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If we get these three right, every other engagement metric improves on its own. Each lever maps to a tested, named playbook — not invented for this deck.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112471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109728" cy="13716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2240280"/>
            <a:ext cx="822960" cy="822960"/>
          </a:xfrm>
          <a:prstGeom prst="roundRect">
            <a:avLst>
              <a:gd name="adj" fmla="val 4000"/>
            </a:avLst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30552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RITUAL  ·  Sean Ellis 'Aha Moment'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0008"/>
            <a:ext cx="4114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E2A55"/>
                </a:solidFill>
                <a:latin typeface="Calibri"/>
              </a:rPr>
              <a:t>Cohort, not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48840"/>
            <a:ext cx="5486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Stop treating learners as a list. Group them into 24-person Circles on Day 1. Layer rituals on top: weekly check-in, monthly Champion-led huddle, quarterly Ignite. Cohort-based learning consistently retains better than open self-paced courses (Coursera and edX have published this).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74720"/>
            <a:ext cx="112471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474720"/>
            <a:ext cx="109728" cy="137160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749040"/>
            <a:ext cx="822960" cy="822960"/>
          </a:xfrm>
          <a:prstGeom prst="roundRect">
            <a:avLst>
              <a:gd name="adj" fmla="val 4000"/>
            </a:avLst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74904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639312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EXPERIENCE  ·  Brand-as-memory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58768"/>
            <a:ext cx="4114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E2A55"/>
                </a:solidFill>
                <a:latin typeface="Calibri"/>
              </a:rPr>
              <a:t>Make the campus visible.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57600"/>
            <a:ext cx="5486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One on-campus moment — even one day — gives the learner a photograph they can show their family. Family validation is the most under-priced retention tool in Indian online education. Convocation is too late; a small Ignite moment in the first 6 months is the right time.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83480"/>
            <a:ext cx="112471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83480"/>
            <a:ext cx="109728" cy="137160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257800"/>
            <a:ext cx="822960" cy="822960"/>
          </a:xfrm>
          <a:prstGeom prst="roundRect">
            <a:avLst>
              <a:gd name="adj" fmla="val 4000"/>
            </a:avLst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578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148072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INTELLIGENCE  ·  Active Learner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367528"/>
            <a:ext cx="4114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E2A55"/>
                </a:solidFill>
                <a:latin typeface="Calibri"/>
              </a:rPr>
              <a:t>Catch the drift early.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166360"/>
            <a:ext cx="5486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70" b="0" i="0">
                <a:solidFill>
                  <a:srgbClr val="141B2D"/>
                </a:solidFill>
                <a:latin typeface="Calibri"/>
              </a:rPr>
              <a:t>Every learner gets a score (logins, video completion, assignment lag, beSocial activity). When the score crosses a threshold, a human — not an automated email — calls them. The Score flags it. People fix it. We will validate the lift in our own pilot before scaling.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4 OF 5  ·  THE FLYWHEEL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Engagement compounds. Quietly — then suddenly.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17 /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55C6B"/>
                </a:solidFill>
                <a:latin typeface="Calibri"/>
              </a:rPr>
              <a:t>When engagement rises, completion rises. When completion rises, advocacy follows. When advocacy follows, our cost per new enrolment falls. The flywheel does not need a lot of force — it needs to never stop.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2606040" cy="32004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2606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8892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Engaged</a:t>
            </a:r>
          </a:p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learner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9476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41B2D"/>
                </a:solidFill>
                <a:latin typeface="Calibri"/>
              </a:rPr>
              <a:t>She finishes 4 modules in a row.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33172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331720"/>
            <a:ext cx="2606040" cy="32004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377440"/>
            <a:ext cx="2606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78892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Higher</a:t>
            </a:r>
          </a:p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completion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79476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41B2D"/>
                </a:solidFill>
                <a:latin typeface="Calibri"/>
              </a:rPr>
              <a:t>She graduates. NPS 50+.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33172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331720"/>
            <a:ext cx="2606040" cy="32004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377440"/>
            <a:ext cx="2606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78892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Public</a:t>
            </a:r>
          </a:p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advocacy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9476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41B2D"/>
                </a:solidFill>
                <a:latin typeface="Calibri"/>
              </a:rPr>
              <a:t>She posts a photo from Ignite.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2331720"/>
            <a:ext cx="260604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560" y="2331720"/>
            <a:ext cx="2606040" cy="32004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2377440"/>
            <a:ext cx="2606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788920"/>
            <a:ext cx="233172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Lower</a:t>
            </a:r>
          </a:p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E2A55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794760"/>
            <a:ext cx="23317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41B2D"/>
                </a:solidFill>
                <a:latin typeface="Calibri"/>
              </a:rPr>
              <a:t>Two friends enrol next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291840"/>
            <a:ext cx="2743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F2B61A"/>
                </a:solidFill>
                <a:latin typeface="Calibri"/>
              </a:rPr>
              <a:t>&gt;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291840"/>
            <a:ext cx="2743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F2B61A"/>
                </a:solidFill>
                <a:latin typeface="Calibri"/>
              </a:rPr>
              <a:t>&gt;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291840"/>
            <a:ext cx="2743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F2B61A"/>
                </a:solidFill>
                <a:latin typeface="Calibri"/>
              </a:rPr>
              <a:t>&gt;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800600"/>
            <a:ext cx="11247120" cy="914400"/>
          </a:xfrm>
          <a:prstGeom prst="rect">
            <a:avLst/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0060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1">
                <a:solidFill>
                  <a:srgbClr val="F2B61A"/>
                </a:solidFill>
                <a:latin typeface="Calibri"/>
              </a:rPr>
              <a:t>Every learner who reaches step 4 is a paid-marketing replacement we did not have to buy. Engagement is not a brand initiative — it is the cheapest growth lever we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64592" cy="5029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55C6B"/>
                </a:solidFill>
                <a:latin typeface="Calibri"/>
              </a:rPr>
              <a:t>LEADERSHIP · 5 OF 5  · 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E2A55"/>
                </a:solidFill>
                <a:latin typeface="Calibri"/>
              </a:rPr>
              <a:t>What I'm asking for: three small bets, gated on outcomes.</a:t>
            </a:r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736" y="2743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555C6B"/>
                </a:solidFill>
                <a:latin typeface="Calibri"/>
              </a:rPr>
              <a:t>Marketing Manager Assignment  ·  Paras Jain  ·  Amity University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555C6B"/>
                </a:solidFill>
                <a:latin typeface="Calibri"/>
              </a:rPr>
              <a:t>18 /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4572000" cy="4983480"/>
          </a:xfrm>
          <a:prstGeom prst="roundRect">
            <a:avLst>
              <a:gd name="adj" fmla="val 4000"/>
            </a:avLst>
          </a:prstGeom>
          <a:solidFill>
            <a:srgbClr val="0E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2B61A"/>
                </a:solidFill>
                <a:latin typeface="Calibri"/>
              </a:rPr>
              <a:t>THE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4114800" cy="2194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Approve a phased</a:t>
            </a:r>
          </a:p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12-month</a:t>
            </a:r>
          </a:p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Engagement Charter.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023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Total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44568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FFFFFF"/>
                </a:solidFill>
                <a:latin typeface="Calibri"/>
              </a:rPr>
              <a:t>~Rs 2.7 cr over 12 months. No phase exceeds Rs 1 cr — each phase is approved separately.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46320"/>
            <a:ext cx="4023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Funding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93208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FFFFFF"/>
                </a:solidFill>
                <a:latin typeface="Calibri"/>
              </a:rPr>
              <a:t>~50% reallocated from current performance-media spend. ~50% incremental.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4023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Owner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41848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FFFFFF"/>
                </a:solidFill>
                <a:latin typeface="Calibri"/>
              </a:rPr>
              <a:t>Marketing Manager. Cross-functional with Academics + Product (beSocial).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40233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2B61A"/>
                </a:solidFill>
                <a:latin typeface="Calibri"/>
              </a:rPr>
              <a:t>North Star Metric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190488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30" b="0" i="0">
                <a:solidFill>
                  <a:srgbClr val="FFFFFF"/>
                </a:solidFill>
                <a:latin typeface="Calibri"/>
              </a:rPr>
              <a:t>Active Learner Score, reported on every Monday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508760"/>
            <a:ext cx="6903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E2A55"/>
                </a:solidFill>
                <a:latin typeface="Calibri"/>
              </a:rPr>
              <a:t>Three phases — each ≤ Rs 1 cr, each gated on the prior: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57800" y="2011680"/>
            <a:ext cx="6903720" cy="14173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57800" y="2011680"/>
            <a:ext cx="91440" cy="141732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2130552"/>
            <a:ext cx="6903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2B61A"/>
                </a:solidFill>
                <a:latin typeface="Calibri"/>
              </a:rPr>
              <a:t>PHASE 1  ·  DAYS 0-90  ·  ≤ Rs 85 LAKH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2377440"/>
            <a:ext cx="6629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Diagnose &amp; 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2724912"/>
            <a:ext cx="6629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Stand up Active Learner Score dashboard. Run Onboard 7-Day Sprint pilot (1 cohort). Run Amity Ignite Cohort 0 (100 learners, 1 day, Noida). Recruit 50 Champions. Decision gate: NPS lift ≥ +10 vs control AND 30-day drop-off down ≥ 5 pts.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57800" y="3493008"/>
            <a:ext cx="6903720" cy="14173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57800" y="3493008"/>
            <a:ext cx="91440" cy="1417320"/>
          </a:xfrm>
          <a:prstGeom prst="rect">
            <a:avLst/>
          </a:prstGeom>
          <a:solidFill>
            <a:srgbClr val="1E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680" y="3611880"/>
            <a:ext cx="6903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E8E9C"/>
                </a:solidFill>
                <a:latin typeface="Calibri"/>
              </a:rPr>
              <a:t>PHASE 2  ·  MONTHS 4-9  ·  ≤ Rs 95 LAKH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3858768"/>
            <a:ext cx="6629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Scale what worked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4206240"/>
            <a:ext cx="6629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Conditional on Phase 1 hitting bar. Expand Champions to 200. Ignite Cohort 1 (200 learners, 2 days). Roll out Cohort Circles on beSocial. Launch 'Pass the Flame' referral pilot. Decision gate: referral rate ≥ 6% in pilot programmes.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57800" y="4974336"/>
            <a:ext cx="6903720" cy="141732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9525">
            <a:solidFill>
              <a:srgbClr val="E9EC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57800" y="4974336"/>
            <a:ext cx="91440" cy="1417320"/>
          </a:xfrm>
          <a:prstGeom prst="rect">
            <a:avLst/>
          </a:prstGeom>
          <a:solidFill>
            <a:srgbClr val="C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5093208"/>
            <a:ext cx="6903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C04A4A"/>
                </a:solidFill>
                <a:latin typeface="Calibri"/>
              </a:rPr>
              <a:t>PHASE 3  ·  MONTHS 10-12  ·  ≤ Rs 90 LAKH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40680" y="5340096"/>
            <a:ext cx="6629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E2A55"/>
                </a:solidFill>
                <a:latin typeface="Calibri"/>
              </a:rPr>
              <a:t>Institutionalise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5687568"/>
            <a:ext cx="6629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41B2D"/>
                </a:solidFill>
                <a:latin typeface="Calibri"/>
              </a:rPr>
              <a:t>Roll proven items across all programmes. Convocation moment for Cohort 0 graduates. Capstone Showcase + hiring-partner brief. Publish a public engagement report. If a metric did not move, we kill the workstream — publicly.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30352" y="438912"/>
            <a:ext cx="1681935" cy="630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mity_onlin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46247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F8D36F"/>
                </a:solidFill>
                <a:latin typeface="Calibri"/>
              </a:rPr>
              <a:t>Happy to discuss any of this in more detail.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06240"/>
            <a:ext cx="54864" cy="1828800"/>
          </a:xfrm>
          <a:prstGeom prst="rect">
            <a:avLst/>
          </a:prstGeom>
          <a:solidFill>
            <a:srgbClr val="F2B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2B61A"/>
                </a:solidFill>
                <a:latin typeface="Calibri"/>
              </a:rP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26280"/>
            <a:ext cx="5486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Paras Jain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F8D36F"/>
                </a:solidFill>
                <a:latin typeface="Calibri"/>
              </a:rPr>
              <a:t>Marketing Manager candidate  ·  Amity University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20624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2B61A"/>
                </a:solidFill>
                <a:latin typeface="Calibri"/>
              </a:rPr>
              <a:t>One honest 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526280"/>
            <a:ext cx="5029200" cy="2011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1">
                <a:solidFill>
                  <a:srgbClr val="FFFFFF"/>
                </a:solidFill>
                <a:latin typeface="Calibri"/>
              </a:rPr>
              <a:t>Everything in this deck is built on one belief: a great university is not the one that scales the cheapest content — it is the one that makes the loneliest learner feel found. Amity Online has the scale, the brand, and the platform to be that university. I would like to help.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F8D36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F8D36F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