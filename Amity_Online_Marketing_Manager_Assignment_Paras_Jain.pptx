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udent_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0"/>
            <a:ext cx="542513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766560" y="0"/>
            <a:ext cx="5425135" cy="6858000"/>
          </a:xfrm>
          <a:prstGeom prst="rect">
            <a:avLst/>
          </a:prstGeom>
          <a:solidFill>
            <a:srgbClr val="051433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3200400"/>
            <a:ext cx="548640" cy="36576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0352" y="484632"/>
            <a:ext cx="1814887" cy="6766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1595431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1874519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2B61A"/>
                </a:solidFill>
                <a:latin typeface="Calibri"/>
              </a:rPr>
              <a:t>MARKETING MANAGER   ASSIGNMENT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31720"/>
            <a:ext cx="7315200" cy="2194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Reimagining the</a:t>
            </a:r>
          </a:p>
          <a:p>
            <a:pPr algn="l">
              <a:lnSpc>
                <a:spcPct val="9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Online Learner</a:t>
            </a:r>
          </a:p>
          <a:p>
            <a:pPr algn="l">
              <a:lnSpc>
                <a:spcPct val="9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Experience.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00600"/>
            <a:ext cx="6400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FFFFFF"/>
                </a:solidFill>
                <a:latin typeface="Calibri"/>
              </a:rPr>
              <a:t>A launch. A yearlong roadmap. A leadership story.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6400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F8D36F"/>
                </a:solidFill>
                <a:latin typeface="Calibri"/>
              </a:rPr>
              <a:t>Built for Amity University Online's 2,50,000+ learners.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852160"/>
            <a:ext cx="54864" cy="54864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852160"/>
            <a:ext cx="4572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SUBMITTED 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08076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Paras Jain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F8D36F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F8D36F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THE APPROACH   |   PERSONA, PATTERNS,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Before I drafted, I listened.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2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3840480" cy="507492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udent_lapt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45920"/>
            <a:ext cx="3383280" cy="2011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3794760"/>
            <a:ext cx="3840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MEET ROHIT.   OUR LEARNER.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23360"/>
            <a:ext cx="35661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0E2A55"/>
                </a:solidFill>
                <a:latin typeface="Calibri"/>
              </a:rPr>
              <a:t>28. Bhopal. MBA, Sem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72000"/>
            <a:ext cx="347472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30" b="1">
                <a:solidFill>
                  <a:srgbClr val="F2B61A"/>
                </a:solidFill>
                <a:latin typeface="Calibri"/>
              </a:rPr>
              <a:t>• </a:t>
            </a:r>
            <a:r>
              <a:rPr sz="1030">
                <a:solidFill>
                  <a:srgbClr val="141B2D"/>
                </a:solidFill>
                <a:latin typeface="Calibri"/>
              </a:rPr>
              <a:t>Senior account executive at a Tier 2 firm.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30" b="1">
                <a:solidFill>
                  <a:srgbClr val="F2B61A"/>
                </a:solidFill>
                <a:latin typeface="Calibri"/>
              </a:rPr>
              <a:t>• </a:t>
            </a:r>
            <a:r>
              <a:rPr sz="1030">
                <a:solidFill>
                  <a:srgbClr val="141B2D"/>
                </a:solidFill>
                <a:latin typeface="Calibri"/>
              </a:rPr>
              <a:t>Pays his own fees. Studies after dinner.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30" b="1">
                <a:solidFill>
                  <a:srgbClr val="F2B61A"/>
                </a:solidFill>
                <a:latin typeface="Calibri"/>
              </a:rPr>
              <a:t>• </a:t>
            </a:r>
            <a:r>
              <a:rPr sz="1030">
                <a:solidFill>
                  <a:srgbClr val="141B2D"/>
                </a:solidFill>
                <a:latin typeface="Calibri"/>
              </a:rPr>
              <a:t>Married. One toddler. Family is proud.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30" b="1">
                <a:solidFill>
                  <a:srgbClr val="F2B61A"/>
                </a:solidFill>
                <a:latin typeface="Calibri"/>
              </a:rPr>
              <a:t>• </a:t>
            </a:r>
            <a:r>
              <a:rPr sz="1030">
                <a:solidFill>
                  <a:srgbClr val="141B2D"/>
                </a:solidFill>
                <a:latin typeface="Calibri"/>
              </a:rPr>
              <a:t>Has never seen the Noida campus.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30" b="1">
                <a:solidFill>
                  <a:srgbClr val="F2B61A"/>
                </a:solidFill>
                <a:latin typeface="Calibri"/>
              </a:rPr>
              <a:t>• </a:t>
            </a:r>
            <a:r>
              <a:rPr sz="1030">
                <a:solidFill>
                  <a:srgbClr val="141B2D"/>
                </a:solidFill>
                <a:latin typeface="Calibri"/>
              </a:rPr>
              <a:t>Logs into beSocial maybe once a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417320"/>
            <a:ext cx="7315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0E2A55"/>
                </a:solidFill>
                <a:latin typeface="Calibri"/>
              </a:rPr>
              <a:t>Three patterns showed up everywhere.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1920240"/>
            <a:ext cx="7315200" cy="1097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1920240"/>
            <a:ext cx="73152" cy="109728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2084832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F2B61A"/>
                </a:solidFill>
                <a:latin typeface="Calibr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2084832"/>
            <a:ext cx="6309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Belonging is the missing product.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87168"/>
            <a:ext cx="6309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141B2D"/>
                </a:solidFill>
                <a:latin typeface="Calibri"/>
              </a:rPr>
              <a:t>beSocial is the right instinct. Add one in person moment.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3127248"/>
            <a:ext cx="7315200" cy="1097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0" y="3127248"/>
            <a:ext cx="73152" cy="109728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3291840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E8E9C"/>
                </a:solidFill>
                <a:latin typeface="Calibr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3291840"/>
            <a:ext cx="6309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Engagement leads enrolment.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3694176"/>
            <a:ext cx="6309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141B2D"/>
                </a:solidFill>
                <a:latin typeface="Calibri"/>
              </a:rPr>
              <a:t>Engaged learners complete more and refer more. Not the other way around.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0" y="4334256"/>
            <a:ext cx="7315200" cy="1097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0" y="4334256"/>
            <a:ext cx="73152" cy="109728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4498848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04A4A"/>
                </a:solidFill>
                <a:latin typeface="Calibr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4498848"/>
            <a:ext cx="6309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Our learners are our cheapest growth channel.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0680" y="4901184"/>
            <a:ext cx="6309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141B2D"/>
                </a:solidFill>
                <a:latin typeface="Calibri"/>
              </a:rPr>
              <a:t>2,50,000+ learners. Almost no system to turn them into referrers.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0" y="5349240"/>
            <a:ext cx="7315200" cy="1143000"/>
          </a:xfrm>
          <a:prstGeom prst="roundRect">
            <a:avLst>
              <a:gd name="adj" fmla="val 3000"/>
            </a:avLst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0" y="54864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FRAMEWORKS I AM USING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0" y="5852160"/>
            <a:ext cx="1193292" cy="329184"/>
          </a:xfrm>
          <a:prstGeom prst="roundRect">
            <a:avLst>
              <a:gd name="adj" fmla="val 50000"/>
            </a:avLst>
          </a:prstGeom>
          <a:solidFill>
            <a:srgbClr val="F2B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0E2A55"/>
                </a:solidFill>
                <a:latin typeface="Calibri"/>
              </a:rPr>
              <a:t>Jobs to be Done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21324" y="5852160"/>
            <a:ext cx="987551" cy="329184"/>
          </a:xfrm>
          <a:prstGeom prst="roundRect">
            <a:avLst>
              <a:gd name="adj" fmla="val 50000"/>
            </a:avLst>
          </a:prstGeom>
          <a:solidFill>
            <a:srgbClr val="F2B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0E2A55"/>
                </a:solidFill>
                <a:latin typeface="Calibri"/>
              </a:rPr>
              <a:t>AARRR funnel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82027" y="5852160"/>
            <a:ext cx="987551" cy="329184"/>
          </a:xfrm>
          <a:prstGeom prst="roundRect">
            <a:avLst>
              <a:gd name="adj" fmla="val 50000"/>
            </a:avLst>
          </a:prstGeom>
          <a:solidFill>
            <a:srgbClr val="F2B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0E2A55"/>
                </a:solidFill>
                <a:latin typeface="Calibri"/>
              </a:rPr>
              <a:t>70 / 20 / 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42730" y="5852160"/>
            <a:ext cx="1330451" cy="329184"/>
          </a:xfrm>
          <a:prstGeom prst="roundRect">
            <a:avLst>
              <a:gd name="adj" fmla="val 50000"/>
            </a:avLst>
          </a:prstGeom>
          <a:solidFill>
            <a:srgbClr val="F2B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0E2A55"/>
                </a:solidFill>
                <a:latin typeface="Calibri"/>
              </a:rPr>
              <a:t>North Star Metric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6217920"/>
            <a:ext cx="6949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F8D36F"/>
                </a:solidFill>
                <a:latin typeface="Calibri"/>
              </a:rPr>
              <a:t>All named, all auditable. None invented for this deck.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udents_gro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433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486400" cy="3200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F2B61A"/>
                </a:solidFill>
                <a:latin typeface="Calibri"/>
              </a:rPr>
              <a:t>Task</a:t>
            </a:r>
          </a:p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F2B61A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3484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Launching the Amity Online Immersion Program.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53212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F8D36F"/>
                </a:solidFill>
                <a:latin typeface="Calibri"/>
              </a:rPr>
              <a:t>A one day on campus experience for our online learners. One page strategy. Event concept. Launch email. LinkedIn post. Brochure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40961" y="228600"/>
            <a:ext cx="1548982" cy="58521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F8D36F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F8D36F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TASK 1   |   DELIVERABLE 1 OF 5   |   ONE PAGE LAUNCH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Amity Online Immersion. The launch on one page.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4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1">
                <a:solidFill>
                  <a:srgbClr val="555C6B"/>
                </a:solidFill>
                <a:latin typeface="Calibri"/>
              </a:rPr>
              <a:t>An annual on campus immersion for our online learners. Pilot Cohort 0 with 100 learners. Scale to 6 cities in Year 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3703320" cy="210312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3703320" cy="64008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28600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THE PROGRAM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56032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One day. One campus. One photograph.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337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F2B61A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Annual on campus immersion for online learners.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F2B61A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Day = academic. Evening = cultural. Wrap = mini convocation.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F2B61A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Pilot 100 learners. Scale to 6 cities in Year 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103120"/>
            <a:ext cx="3703320" cy="210312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2103120"/>
            <a:ext cx="3703320" cy="64008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28600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E8E9C"/>
                </a:solidFill>
                <a:latin typeface="Calibri"/>
              </a:rPr>
              <a:t>TARGET LEARNER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56032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Working professionals from Tier 2 India.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3246120"/>
            <a:ext cx="3337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E8E9C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28 year olds, MBA or BBA, on Amity Online.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E8E9C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Have never seen the campus they paid for.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E8E9C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Family is proud but distant from the journey.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4" y="2103120"/>
            <a:ext cx="3703320" cy="210312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3024" y="2103120"/>
            <a:ext cx="3703320" cy="64008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1624" y="228600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4A4A"/>
                </a:solidFill>
                <a:latin typeface="Calibri"/>
              </a:rPr>
              <a:t>THE PROMISE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1624" y="256032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You enrolled online. You walk the campus.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1624" y="3246120"/>
            <a:ext cx="3337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C04A4A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Differentiation: the only online university with this experience.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C04A4A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Family travels with the learner.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C04A4A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The photograph and the stage are the products.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370832"/>
            <a:ext cx="3703320" cy="210312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370832"/>
            <a:ext cx="3703320" cy="64008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553712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CHANNELS AND SPEND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828032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Pilot at approximately Rs 65 lakh.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513832"/>
            <a:ext cx="3337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F2B61A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50% organic email, in app, beSocial.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F2B61A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25% reallocated paid media.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F2B61A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25% production (photo, reel, stage, food).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5112" y="4370832"/>
            <a:ext cx="3703320" cy="210312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25112" y="4370832"/>
            <a:ext cx="3703320" cy="64008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53712" y="4553712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E8E9C"/>
                </a:solidFill>
                <a:latin typeface="Calibri"/>
              </a:rPr>
              <a:t>GOALS (COHORT 0, 90 DAYS)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4828032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Hit a tight bar before scaling.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5513832"/>
            <a:ext cx="3337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E8E9C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100 learners on Noida campus, with family.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E8E9C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NSAT (Net Satisfaction) above 4.5 of 5.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E8E9C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More than 50% share publicly within 7 days.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93024" y="4370832"/>
            <a:ext cx="3703320" cy="210312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93024" y="4370832"/>
            <a:ext cx="3703320" cy="64008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21624" y="4553712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4A4A"/>
                </a:solidFill>
                <a:latin typeface="Calibri"/>
              </a:rPr>
              <a:t>SUCCESS IN 6 MONTHS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1624" y="4828032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Prospects ask current learners the question.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1624" y="5513832"/>
            <a:ext cx="3337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C04A4A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'Did you go to immersion?' becomes the question.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C04A4A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Current learners answer with a photograph.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C04A4A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Inbound interest cites Immersion.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TASK 1   |   DELIVERABLE 2 OF 5   |   EVENT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Amity Online Immersion. The day.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5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555C6B"/>
                </a:solidFill>
                <a:latin typeface="Calibri"/>
              </a:rPr>
              <a:t>100 learners and 100 family members. Noida campus. One day shaped to feel like four moments in order.</a:t>
            </a:r>
          </a:p>
        </p:txBody>
      </p:sp>
      <p:pic>
        <p:nvPicPr>
          <p:cNvPr id="9" name="Picture 8" descr="students_gro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20240"/>
            <a:ext cx="329184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57200" y="5074920"/>
            <a:ext cx="3291840" cy="365760"/>
          </a:xfrm>
          <a:prstGeom prst="rect">
            <a:avLst/>
          </a:prstGeom>
          <a:solidFill>
            <a:srgbClr val="051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5093208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1 DAY   |   100 + 100   |   NOIDA CAMPUS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532120"/>
            <a:ext cx="3291840" cy="1005840"/>
          </a:xfrm>
          <a:prstGeom prst="roundRect">
            <a:avLst>
              <a:gd name="adj" fmla="val 3000"/>
            </a:avLst>
          </a:prstGeom>
          <a:solidFill>
            <a:srgbClr val="051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605272"/>
            <a:ext cx="3108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F2B61A"/>
                </a:solidFill>
                <a:latin typeface="Calibri"/>
              </a:rPr>
              <a:t>WHY THIS 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824728"/>
            <a:ext cx="31089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FFFFFF"/>
                </a:solidFill>
                <a:latin typeface="Calibri"/>
              </a:rPr>
              <a:t>Every online learner gets one moment that</a:t>
            </a:r>
          </a:p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FFFFFF"/>
                </a:solidFill>
                <a:latin typeface="Calibri"/>
              </a:rPr>
              <a:t>is theirs. One stage. One photograph. One memory</a:t>
            </a:r>
          </a:p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FFFFFF"/>
                </a:solidFill>
                <a:latin typeface="Calibri"/>
              </a:rPr>
              <a:t>their family can frame.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1920240"/>
            <a:ext cx="7818120" cy="10789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31920" y="1920240"/>
            <a:ext cx="91440" cy="1078992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0520" y="2039112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F2B61A"/>
                </a:solidFill>
                <a:latin typeface="Calibri"/>
              </a:rPr>
              <a:t>MORNING  10:00 to 13:00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228600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2A55"/>
                </a:solidFill>
                <a:latin typeface="Calibri"/>
              </a:rPr>
              <a:t>BELONG.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039112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• Welcome address. Campus walk with family.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331720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• Visit to library, classrooms, the convocation hall.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624328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• Family lunch with faculty.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31920" y="3090672"/>
            <a:ext cx="7818120" cy="10789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31920" y="3090672"/>
            <a:ext cx="91440" cy="1078992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60520" y="3209544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1E8E9C"/>
                </a:solidFill>
                <a:latin typeface="Calibri"/>
              </a:rPr>
              <a:t>AFTERNOON  13:30 to 16:30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60520" y="3456432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2A55"/>
                </a:solidFill>
                <a:latin typeface="Calibri"/>
              </a:rPr>
              <a:t>BUILD.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209544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• Two short masterclasses (Career, Industry).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502152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• Industry mentor pairing for 12 months.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794760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• Group photo on the convocation stage.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31920" y="4261104"/>
            <a:ext cx="7818120" cy="10789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31920" y="4261104"/>
            <a:ext cx="91440" cy="1078992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60520" y="4379976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C04A4A"/>
                </a:solidFill>
                <a:latin typeface="Calibri"/>
              </a:rPr>
              <a:t>EVENING  17:30 to 20:30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60520" y="4626864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2A55"/>
                </a:solidFill>
                <a:latin typeface="Calibri"/>
              </a:rPr>
              <a:t>CELEBRATE.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4379976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• Cultural night. Comedy or music headliner (Rs 8 to 15 lakh).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4672584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• Five learner finalists open via beSocial audition.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4965192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• Brand stalls (Boat, Cred, MakeMyTrip) offset 30% of cost.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31920" y="5431536"/>
            <a:ext cx="7818120" cy="10789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31920" y="5431536"/>
            <a:ext cx="91440" cy="1078992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60520" y="5550408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0E2A55"/>
                </a:solidFill>
                <a:latin typeface="Calibri"/>
              </a:rPr>
              <a:t>WRAP  20:30 to 21:30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60520" y="5797296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2A55"/>
                </a:solidFill>
                <a:latin typeface="Calibri"/>
              </a:rPr>
              <a:t>AMPLIFY.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5550408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• Mini convocation. Stole and certificate ceremony.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5843016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• Pro photographer plus 60 second reel for every learner.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6135624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• Creator partner films a 3 part docuseries.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931920" y="6355080"/>
            <a:ext cx="7818120" cy="45720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0" y="6409944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F2B61A"/>
                </a:solidFill>
                <a:latin typeface="Calibri"/>
              </a:rPr>
              <a:t>BUDGET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46320" y="6400800"/>
            <a:ext cx="6812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Production Rs 25L  +  Headliner Rs 12L  +  Photo / Video Rs 8L  +  Logistics Rs 10L   =   Rs 55L     Sponsor offset minus Rs 18L     Net Rs 37L for Cohort 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TASK 1   |   DELIVERABLE 3 OF 5   |   EMAIL TO EXISTING LEARNERS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The launch email.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6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777240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772400" cy="4114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44752"/>
            <a:ext cx="7772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C6B"/>
                </a:solidFill>
                <a:latin typeface="Calibri"/>
              </a:rPr>
              <a:t>From: Amity Online Marketing   online@amity.edu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20240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Subject:   You enrolled online. Come walk the campus.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7223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1">
                <a:solidFill>
                  <a:srgbClr val="555C6B"/>
                </a:solidFill>
                <a:latin typeface="Calibri"/>
              </a:rPr>
              <a:t>Preheader:   One day on the Noida campus. With your family. Apply by 25 August.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97480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Hi {{first_name}},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80944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You picked Amity Online for the right reason. It fits your work, your family, and your commute. It does.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64408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But there is one thing it has not given you. The campus.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47872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We are launching Amity Online Immersion. One day on the Noida campus, designed for our online learners.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31336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Morning. Walk the campus with your family. Two masterclasses.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78224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Afternoon. Industry mentor pairing for the year ahead.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25112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Evening. A cultural night with a headline act, opened by five Amity Online learners who win a beSocial audition.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572000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Wrap. A short convocation moment. Stole, certificate, photo with family.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55464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Free for existing learners. One family member included. 100 seats in Cohort 0.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148072"/>
            <a:ext cx="2103120" cy="384048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48072"/>
            <a:ext cx="210312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Reserve your seat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221224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555C6B"/>
                </a:solidFill>
                <a:latin typeface="Calibri"/>
              </a:rPr>
              <a:t>Takes 90 seconds.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0" y="1371600"/>
            <a:ext cx="3337560" cy="516636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41080" y="1508760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2A55"/>
                </a:solidFill>
                <a:latin typeface="Calibri"/>
              </a:rPr>
              <a:t>Why it works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1874519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F2B61A"/>
                </a:solidFill>
                <a:latin typeface="Calibri"/>
              </a:rPr>
              <a:t>Subject is direct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2121407"/>
            <a:ext cx="2971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Names the moment, not the marketing.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2587751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F2B61A"/>
                </a:solidFill>
                <a:latin typeface="Calibri"/>
              </a:rPr>
              <a:t>Promise is the day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2834639"/>
            <a:ext cx="2971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Walk. Learn. Celebrate. Wrap. One thing each.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1080" y="3300983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F2B61A"/>
                </a:solidFill>
                <a:latin typeface="Calibri"/>
              </a:rPr>
              <a:t>Single CTA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3547871"/>
            <a:ext cx="2971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One blue button. No sidebar links.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1080" y="4014215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F2B61A"/>
                </a:solidFill>
                <a:latin typeface="Calibri"/>
              </a:rPr>
              <a:t>Real scarcity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4261103"/>
            <a:ext cx="2971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100 seats. 2,50,000 learners. Honest math.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1080" y="4727447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F2B61A"/>
                </a:solidFill>
                <a:latin typeface="Calibri"/>
              </a:rPr>
              <a:t>Family included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41080" y="4974335"/>
            <a:ext cx="2971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Solves the most common no without asking.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41080" y="5440679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F2B61A"/>
                </a:solidFill>
                <a:latin typeface="Calibri"/>
              </a:rPr>
              <a:t>Send window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5687567"/>
            <a:ext cx="2971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Tuesday, 10:30 AM IST. We'll A B test subject 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TASK 1   |   DELIVERABLE 4 OF 5   |   FROM THE CHAIRMAN'S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The LinkedIn post.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7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7132320" cy="5212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1691640"/>
            <a:ext cx="640080" cy="640080"/>
          </a:xfrm>
          <a:prstGeom prst="ellipse">
            <a:avLst/>
          </a:prstGeom>
          <a:solidFill>
            <a:srgbClr val="0E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2B61A"/>
                </a:solidFill>
                <a:latin typeface="Calibri"/>
              </a:rPr>
              <a:t>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691640"/>
            <a:ext cx="7132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41B2D"/>
                </a:solidFill>
                <a:latin typeface="Calibri"/>
              </a:rPr>
              <a:t>Mr. Ajit Chauhan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920240"/>
            <a:ext cx="7132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55C6B"/>
                </a:solidFill>
                <a:latin typeface="Calibri"/>
              </a:rPr>
              <a:t>Chairman, Amity University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130552"/>
            <a:ext cx="71323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1d   Public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6675120" cy="3383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I keep meeting Amity Online learners at airports.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Last week, one of them. A working professional from Bhubaneswar. Doing his MBA after his work day ends. He asked me one question.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"Sir, will I ever come to the campus?"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We launched Amity Online to make a high quality degree fit real lives. It does. But our answer to that question was 'only during exams'.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From this year, the answer changes.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We are launching Amity Online Immersion. A one day on campus experience, designed for our 2,50,000+ online learners. They will walk our Noida campus with their families. They will sit in two masterclasses. Five of them will open a cultural night. They will stand on our convocation stage and take a photograph their family can frame.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Online gave us reach. Immersion is how we add memory.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If you're an Amity Online learner, your invite is in your inbox.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#AmityOnlineImmersion   #AmityUniversityOnline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172200"/>
            <a:ext cx="7040880" cy="18288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217920"/>
            <a:ext cx="7132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Like     Comment     Repost     Send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1417320"/>
            <a:ext cx="3931920" cy="52120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1600200"/>
            <a:ext cx="3931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2A55"/>
                </a:solidFill>
                <a:latin typeface="Calibri"/>
              </a:rPr>
              <a:t>Why it works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196596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70" b="1" i="0">
                <a:solidFill>
                  <a:srgbClr val="F2B61A"/>
                </a:solidFill>
                <a:latin typeface="Calibri"/>
              </a:rPr>
              <a:t>Story, not announcement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212848"/>
            <a:ext cx="35661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One specific learner. The launch arrives in the third paragraph.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83464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70" b="1" i="0">
                <a:solidFill>
                  <a:srgbClr val="F2B61A"/>
                </a:solidFill>
                <a:latin typeface="Calibri"/>
              </a:rPr>
              <a:t>A leader admits the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081528"/>
            <a:ext cx="35661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Our answer was 'only during exams'. Honest leadership shares.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70332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70" b="1" i="0">
                <a:solidFill>
                  <a:srgbClr val="F2B61A"/>
                </a:solidFill>
                <a:latin typeface="Calibri"/>
              </a:rPr>
              <a:t>Quotable 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950208"/>
            <a:ext cx="35661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'Online gave us reach. Immersion is how we add memory.'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57200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70" b="1" i="0">
                <a:solidFill>
                  <a:srgbClr val="F2B61A"/>
                </a:solidFill>
                <a:latin typeface="Calibri"/>
              </a:rPr>
              <a:t>Earned beats paid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818888"/>
            <a:ext cx="35661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Employees and alumni shares carry this further than any media buy.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544068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70" b="1" i="0">
                <a:solidFill>
                  <a:srgbClr val="F2B61A"/>
                </a:solidFill>
                <a:latin typeface="Calibri"/>
              </a:rPr>
              <a:t>Posting craft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5687568"/>
            <a:ext cx="35661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Hashtags below the fold. No external link. Line breaks.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TASK 1   |   DELIVERABLE 5 OF 5   |   BROCHURE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The Immersion brochure. Eight pages, A5.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8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555C6B"/>
                </a:solidFill>
                <a:latin typeface="Calibri"/>
              </a:rPr>
              <a:t>Saddle stitched. Around Rs 35 per copy at a 5,000 print run. Distributed digitally as a PDF. Physical copies on the day.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2788920" cy="384048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3911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01  COVER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468880"/>
            <a:ext cx="2331720" cy="128016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14500" y="2606040"/>
            <a:ext cx="274320" cy="384048"/>
          </a:xfrm>
          <a:prstGeom prst="ellipse">
            <a:avLst/>
          </a:prstGeom>
          <a:solidFill>
            <a:srgbClr val="F2B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108960"/>
            <a:ext cx="23317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1" i="0">
                <a:solidFill>
                  <a:srgbClr val="F2B61A"/>
                </a:solidFill>
                <a:latin typeface="Calibri"/>
              </a:rPr>
              <a:t>AMITY ONLINE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337560"/>
            <a:ext cx="1874520" cy="27432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05840" y="3392424"/>
            <a:ext cx="1691640" cy="27432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" y="3447288"/>
            <a:ext cx="1508760" cy="27432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813048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69" b="0" i="1">
                <a:solidFill>
                  <a:srgbClr val="141B2D"/>
                </a:solidFill>
                <a:latin typeface="Calibri"/>
              </a:rPr>
              <a:t>'You enrolled online. You walk the campus.'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64992" y="196596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64992" y="1965960"/>
            <a:ext cx="2788920" cy="384048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47872" y="203911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02  LETTER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93592" y="2468880"/>
            <a:ext cx="2331720" cy="128016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58184" y="2633472"/>
            <a:ext cx="2002536" cy="27432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58184" y="2779776"/>
            <a:ext cx="2002536" cy="27432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58184" y="2926080"/>
            <a:ext cx="2002536" cy="27432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58184" y="3072384"/>
            <a:ext cx="2002536" cy="27432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58184" y="3218688"/>
            <a:ext cx="1636776" cy="27432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76472" y="3474720"/>
            <a:ext cx="640080" cy="36576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76472" y="3547872"/>
            <a:ext cx="18288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1" i="1">
                <a:solidFill>
                  <a:srgbClr val="1E8E9C"/>
                </a:solidFill>
                <a:latin typeface="Calibri"/>
              </a:rPr>
              <a:t>AC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93592" y="3813048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69" b="0" i="1">
                <a:solidFill>
                  <a:srgbClr val="141B2D"/>
                </a:solidFill>
                <a:latin typeface="Calibri"/>
              </a:rPr>
              <a:t>Founder's letter. Hand signed.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72784" y="196596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72784" y="1965960"/>
            <a:ext cx="2788920" cy="384048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203911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03-04  WHY IMMERSION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01384" y="2468880"/>
            <a:ext cx="2331720" cy="128016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638544" y="2606040"/>
            <a:ext cx="618744" cy="50292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638544" y="3182112"/>
            <a:ext cx="618744" cy="22860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638544" y="3255264"/>
            <a:ext cx="618744" cy="22860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638544" y="3328416"/>
            <a:ext cx="573024" cy="22860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12152" y="2606040"/>
            <a:ext cx="618744" cy="50292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312152" y="3182112"/>
            <a:ext cx="618744" cy="22860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2152" y="3255264"/>
            <a:ext cx="618744" cy="22860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2152" y="3328416"/>
            <a:ext cx="573024" cy="22860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85760" y="2606040"/>
            <a:ext cx="618744" cy="50292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985760" y="3182112"/>
            <a:ext cx="618744" cy="22860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985760" y="3255264"/>
            <a:ext cx="618744" cy="22860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985760" y="3328416"/>
            <a:ext cx="573024" cy="22860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01384" y="3813048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69" b="0" i="1">
                <a:solidFill>
                  <a:srgbClr val="141B2D"/>
                </a:solidFill>
                <a:latin typeface="Calibri"/>
              </a:rPr>
              <a:t>Three real learner stories with photos.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80576" y="196596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180576" y="1965960"/>
            <a:ext cx="2788920" cy="384048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63456" y="203911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05  THE DAY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409176" y="2468880"/>
            <a:ext cx="2331720" cy="128016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637776" y="3108960"/>
            <a:ext cx="1874520" cy="2286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564624" y="3035808"/>
            <a:ext cx="146304" cy="146304"/>
          </a:xfrm>
          <a:prstGeom prst="ellipse">
            <a:avLst/>
          </a:prstGeom>
          <a:solidFill>
            <a:srgbClr val="F2B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189464" y="3035808"/>
            <a:ext cx="146304" cy="146304"/>
          </a:xfrm>
          <a:prstGeom prst="ellipse">
            <a:avLst/>
          </a:prstGeom>
          <a:solidFill>
            <a:srgbClr val="F2B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814304" y="3035808"/>
            <a:ext cx="146304" cy="146304"/>
          </a:xfrm>
          <a:prstGeom prst="ellipse">
            <a:avLst/>
          </a:prstGeom>
          <a:solidFill>
            <a:srgbClr val="F2B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439144" y="3035808"/>
            <a:ext cx="146304" cy="146304"/>
          </a:xfrm>
          <a:prstGeom prst="ellipse">
            <a:avLst/>
          </a:prstGeom>
          <a:solidFill>
            <a:srgbClr val="F2B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63456" y="3273552"/>
            <a:ext cx="5486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650" b="1" i="0">
                <a:solidFill>
                  <a:srgbClr val="0E2A55"/>
                </a:solidFill>
                <a:latin typeface="Calibri"/>
              </a:rPr>
              <a:t>MORN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88296" y="3273552"/>
            <a:ext cx="5486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650" b="1" i="0">
                <a:solidFill>
                  <a:srgbClr val="0E2A55"/>
                </a:solidFill>
                <a:latin typeface="Calibri"/>
              </a:rPr>
              <a:t>AFT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13136" y="3273552"/>
            <a:ext cx="5486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650" b="1" i="0">
                <a:solidFill>
                  <a:srgbClr val="0E2A55"/>
                </a:solidFill>
                <a:latin typeface="Calibri"/>
              </a:rPr>
              <a:t>EVE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237976" y="3273552"/>
            <a:ext cx="5486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650" b="1" i="0">
                <a:solidFill>
                  <a:srgbClr val="0E2A55"/>
                </a:solidFill>
                <a:latin typeface="Calibri"/>
              </a:rPr>
              <a:t>WRAP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09176" y="3813048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69" b="0" i="1">
                <a:solidFill>
                  <a:srgbClr val="141B2D"/>
                </a:solidFill>
                <a:latin typeface="Calibri"/>
              </a:rPr>
              <a:t>Visual timeline. Four moments.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429768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7200" y="4297680"/>
            <a:ext cx="2788920" cy="384048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437083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06  VALIDATION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5800" y="4800600"/>
            <a:ext cx="2331720" cy="128016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61288" y="5234940"/>
            <a:ext cx="411480" cy="411480"/>
          </a:xfrm>
          <a:prstGeom prst="ellipse">
            <a:avLst/>
          </a:prstGeom>
          <a:solidFill>
            <a:srgbClr val="1E8E9C"/>
          </a:solidFill>
          <a:ln w="15240">
            <a:solidFill>
              <a:srgbClr val="0E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61288" y="5234940"/>
            <a:ext cx="4114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A+</a:t>
            </a:r>
          </a:p>
        </p:txBody>
      </p:sp>
      <p:sp>
        <p:nvSpPr>
          <p:cNvPr id="68" name="Oval 67"/>
          <p:cNvSpPr/>
          <p:nvPr/>
        </p:nvSpPr>
        <p:spPr>
          <a:xfrm>
            <a:off x="1645920" y="5234940"/>
            <a:ext cx="411480" cy="411480"/>
          </a:xfrm>
          <a:prstGeom prst="ellipse">
            <a:avLst/>
          </a:prstGeom>
          <a:solidFill>
            <a:srgbClr val="1E8E9C"/>
          </a:solidFill>
          <a:ln w="15240">
            <a:solidFill>
              <a:srgbClr val="0E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45920" y="5234940"/>
            <a:ext cx="4114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QS</a:t>
            </a:r>
          </a:p>
        </p:txBody>
      </p:sp>
      <p:sp>
        <p:nvSpPr>
          <p:cNvPr id="70" name="Oval 69"/>
          <p:cNvSpPr/>
          <p:nvPr/>
        </p:nvSpPr>
        <p:spPr>
          <a:xfrm>
            <a:off x="2130552" y="5234940"/>
            <a:ext cx="411480" cy="411480"/>
          </a:xfrm>
          <a:prstGeom prst="ellipse">
            <a:avLst/>
          </a:prstGeom>
          <a:solidFill>
            <a:srgbClr val="1E8E9C"/>
          </a:solidFill>
          <a:ln w="15240">
            <a:solidFill>
              <a:srgbClr val="0E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130552" y="5234940"/>
            <a:ext cx="4114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WES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5800" y="6144768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69" b="0" i="1">
                <a:solidFill>
                  <a:srgbClr val="141B2D"/>
                </a:solidFill>
                <a:latin typeface="Calibri"/>
              </a:rPr>
              <a:t>NAAC A+. QS Asia Pacific Top 10. WASC.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364992" y="429768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364992" y="4297680"/>
            <a:ext cx="2788920" cy="384048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47872" y="437083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07  NUMBERS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593592" y="4800600"/>
            <a:ext cx="2331720" cy="128016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30752" y="4965192"/>
            <a:ext cx="618744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730752" y="4983480"/>
            <a:ext cx="61874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C04A4A"/>
                </a:solidFill>
                <a:latin typeface="Calibri"/>
              </a:rPr>
              <a:t>2.5L+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730752" y="5212080"/>
            <a:ext cx="618744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600" b="1" i="0">
                <a:solidFill>
                  <a:srgbClr val="0E2A55"/>
                </a:solidFill>
                <a:latin typeface="Calibri"/>
              </a:rPr>
              <a:t>LEARNERS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730752" y="5513832"/>
            <a:ext cx="573024" cy="22860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730752" y="5586984"/>
            <a:ext cx="573024" cy="22860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404360" y="4965192"/>
            <a:ext cx="618744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404360" y="4983480"/>
            <a:ext cx="61874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C04A4A"/>
                </a:solidFill>
                <a:latin typeface="Calibri"/>
              </a:rPr>
              <a:t>450+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04360" y="5212080"/>
            <a:ext cx="618744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600" b="1" i="0">
                <a:solidFill>
                  <a:srgbClr val="0E2A55"/>
                </a:solidFill>
                <a:latin typeface="Calibri"/>
              </a:rPr>
              <a:t>PARTNERS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404360" y="5513832"/>
            <a:ext cx="573024" cy="22860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404360" y="5586984"/>
            <a:ext cx="573024" cy="22860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077968" y="4965192"/>
            <a:ext cx="618744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077968" y="4983480"/>
            <a:ext cx="61874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C04A4A"/>
                </a:solidFill>
                <a:latin typeface="Calibri"/>
              </a:rPr>
              <a:t>40+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77968" y="5212080"/>
            <a:ext cx="618744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600" b="1" i="0">
                <a:solidFill>
                  <a:srgbClr val="0E2A55"/>
                </a:solidFill>
                <a:latin typeface="Calibri"/>
              </a:rPr>
              <a:t>PROGRAMS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077968" y="5513832"/>
            <a:ext cx="573024" cy="22860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077968" y="5586984"/>
            <a:ext cx="573024" cy="22860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593592" y="6144768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69" b="0" i="1">
                <a:solidFill>
                  <a:srgbClr val="141B2D"/>
                </a:solidFill>
                <a:latin typeface="Calibri"/>
              </a:rPr>
              <a:t>2,50,000+ learners. 450+ partners.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272784" y="429768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272784" y="4297680"/>
            <a:ext cx="2788920" cy="384048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455664" y="437083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08  FAQ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501384" y="4800600"/>
            <a:ext cx="2331720" cy="128016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684264" y="484632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2B61A"/>
                </a:solidFill>
                <a:latin typeface="Calibri"/>
              </a:rPr>
              <a:t>?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415784" y="4983480"/>
            <a:ext cx="1234440" cy="27432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415784" y="5148072"/>
            <a:ext cx="1234440" cy="27432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415784" y="5312664"/>
            <a:ext cx="1234440" cy="27432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415784" y="5477256"/>
            <a:ext cx="960120" cy="27432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501384" y="6144768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69" b="0" i="1">
                <a:solidFill>
                  <a:srgbClr val="141B2D"/>
                </a:solidFill>
                <a:latin typeface="Calibri"/>
              </a:rPr>
              <a:t>Six honest questions, clearly answered.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180576" y="429768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80576" y="4297680"/>
            <a:ext cx="2788920" cy="384048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363456" y="437083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09  BACK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409176" y="4800600"/>
            <a:ext cx="2331720" cy="128016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186416" y="4937760"/>
            <a:ext cx="7772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0E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206416" y="4957760"/>
            <a:ext cx="115448" cy="115448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361864" y="4957760"/>
            <a:ext cx="115448" cy="115448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672760" y="4957760"/>
            <a:ext cx="115448" cy="115448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828208" y="4957760"/>
            <a:ext cx="115448" cy="115448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206416" y="5113208"/>
            <a:ext cx="115448" cy="115448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517312" y="5113208"/>
            <a:ext cx="115448" cy="115448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828208" y="5113208"/>
            <a:ext cx="115448" cy="115448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361864" y="5268656"/>
            <a:ext cx="115448" cy="115448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517312" y="5268656"/>
            <a:ext cx="115448" cy="115448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672760" y="5268656"/>
            <a:ext cx="115448" cy="115448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206416" y="5424104"/>
            <a:ext cx="115448" cy="115448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517312" y="5424104"/>
            <a:ext cx="115448" cy="115448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828208" y="5424104"/>
            <a:ext cx="115448" cy="115448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06416" y="5579552"/>
            <a:ext cx="115448" cy="115448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61864" y="5579552"/>
            <a:ext cx="115448" cy="115448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672760" y="5579552"/>
            <a:ext cx="115448" cy="115448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828208" y="5579552"/>
            <a:ext cx="115448" cy="115448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409176" y="5779008"/>
            <a:ext cx="233172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650" b="1" i="0">
                <a:solidFill>
                  <a:srgbClr val="1E8E9C"/>
                </a:solidFill>
                <a:latin typeface="Calibri"/>
              </a:rPr>
              <a:t>SCAN TO REGISTER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09176" y="6144768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69" b="0" i="1">
                <a:solidFill>
                  <a:srgbClr val="141B2D"/>
                </a:solidFill>
                <a:latin typeface="Calibri"/>
              </a:rPr>
              <a:t>QR code to register.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nline_cla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433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486400" cy="3200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F2B61A"/>
                </a:solidFill>
                <a:latin typeface="Calibri"/>
              </a:rPr>
              <a:t>Task</a:t>
            </a:r>
          </a:p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F2B61A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3484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A 12 month engagement roadmap.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53212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F8D36F"/>
                </a:solidFill>
                <a:latin typeface="Calibri"/>
              </a:rPr>
              <a:t>All ideas at once. Engagement calendar. New initiatives. Community building. Advocacy programs. Referral opportunities.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40961" y="228600"/>
            <a:ext cx="1548982" cy="58521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F8D36F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F8D36F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TASK 2   |   DELIVERABLE 1 OF 5   |   ENGAGEMENT CALENDAR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The 12 month engagement calendar.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10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555C6B"/>
                </a:solidFill>
                <a:latin typeface="Calibri"/>
              </a:rPr>
              <a:t>Every month has one flagship moment. The year arcs through four themes: Belong, Build, Broadcast, Beyond.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2784348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278434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Q1   BELONG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4408" y="1920240"/>
            <a:ext cx="2784348" cy="50292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64408" y="1920240"/>
            <a:ext cx="278434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Q2   BUILD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71616" y="1920240"/>
            <a:ext cx="2784348" cy="50292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71616" y="1920240"/>
            <a:ext cx="278434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Q3   BROADCAST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78824" y="1920240"/>
            <a:ext cx="2784348" cy="50292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78824" y="1920240"/>
            <a:ext cx="278434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Q4   BEYOND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60604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606040"/>
            <a:ext cx="64008" cy="123444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7249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JAN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97180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E2A55"/>
                </a:solidFill>
                <a:latin typeface="Calibri"/>
              </a:rPr>
              <a:t>New cohort welcome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38328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41B2D"/>
                </a:solidFill>
                <a:latin typeface="Calibri"/>
              </a:rPr>
              <a:t>30 day onboarding ritual.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4408" y="260604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4408" y="2606040"/>
            <a:ext cx="64008" cy="123444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65576" y="27249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FEB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65576" y="297180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E2A55"/>
                </a:solidFill>
                <a:latin typeface="Calibri"/>
              </a:rPr>
              <a:t>Sunday Sit Down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338328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41B2D"/>
                </a:solidFill>
                <a:latin typeface="Calibri"/>
              </a:rPr>
              <a:t>Weekly live AMA on beSocial.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71616" y="260604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71616" y="2606040"/>
            <a:ext cx="64008" cy="123444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2784" y="27249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MAR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2784" y="297180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E2A55"/>
                </a:solidFill>
                <a:latin typeface="Calibri"/>
              </a:rPr>
              <a:t>City Meetup #1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4" y="338328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41B2D"/>
                </a:solidFill>
                <a:latin typeface="Calibri"/>
              </a:rPr>
              <a:t>First Saturday brunch in 3 cities.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78824" y="260604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878824" y="2606040"/>
            <a:ext cx="64008" cy="123444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79992" y="27249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8E9C"/>
                </a:solidFill>
                <a:latin typeface="Calibri"/>
              </a:rPr>
              <a:t>APR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79992" y="297180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E2A55"/>
                </a:solidFill>
                <a:latin typeface="Calibri"/>
              </a:rPr>
              <a:t>Industry Sprint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79992" y="338328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41B2D"/>
                </a:solidFill>
                <a:latin typeface="Calibri"/>
              </a:rPr>
              <a:t>10 day brief from a hiring partner.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3192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3931920"/>
            <a:ext cx="64008" cy="123444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40507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8E9C"/>
                </a:solidFill>
                <a:latin typeface="Calibri"/>
              </a:rPr>
              <a:t>MAY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429768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E2A55"/>
                </a:solidFill>
                <a:latin typeface="Calibri"/>
              </a:rPr>
              <a:t>City Meetup #2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470916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41B2D"/>
                </a:solidFill>
                <a:latin typeface="Calibri"/>
              </a:rPr>
              <a:t>Mumbai, Bangalore, Hyderabad.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64408" y="393192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264408" y="3931920"/>
            <a:ext cx="64008" cy="123444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65576" y="40507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8E9C"/>
                </a:solidFill>
                <a:latin typeface="Calibri"/>
              </a:rPr>
              <a:t>JUN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65576" y="429768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E2A55"/>
                </a:solidFill>
                <a:latin typeface="Calibri"/>
              </a:rPr>
              <a:t>Capstone Showcase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65576" y="470916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41B2D"/>
                </a:solidFill>
                <a:latin typeface="Calibri"/>
              </a:rPr>
              <a:t>Top learner work goes on LinkedIn.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71616" y="393192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71616" y="3931920"/>
            <a:ext cx="64008" cy="123444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2784" y="40507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C04A4A"/>
                </a:solidFill>
                <a:latin typeface="Calibri"/>
              </a:rPr>
              <a:t>JUL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72784" y="429768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E2A55"/>
                </a:solidFill>
                <a:latin typeface="Calibri"/>
              </a:rPr>
              <a:t>Mid year reunion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72784" y="470916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41B2D"/>
                </a:solidFill>
                <a:latin typeface="Calibri"/>
              </a:rPr>
              <a:t>Online reunion. Faculty live.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878824" y="393192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78824" y="3931920"/>
            <a:ext cx="64008" cy="123444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79992" y="40507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C04A4A"/>
                </a:solidFill>
                <a:latin typeface="Calibri"/>
              </a:rPr>
              <a:t>AUG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79992" y="429768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E2A55"/>
                </a:solidFill>
                <a:latin typeface="Calibri"/>
              </a:rPr>
              <a:t>Immersion Cohort 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79992" y="470916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41B2D"/>
                </a:solidFill>
                <a:latin typeface="Calibri"/>
              </a:rPr>
              <a:t>100 learners on Noida campus.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525780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57200" y="5257800"/>
            <a:ext cx="64008" cy="123444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8368" y="53766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C04A4A"/>
                </a:solidFill>
                <a:latin typeface="Calibri"/>
              </a:rPr>
              <a:t>SEP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8368" y="562356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E2A55"/>
                </a:solidFill>
                <a:latin typeface="Calibri"/>
              </a:rPr>
              <a:t>Outcome Stories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8368" y="603504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41B2D"/>
                </a:solidFill>
                <a:latin typeface="Calibri"/>
              </a:rPr>
              <a:t>Weekly learner reels begin.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264408" y="525780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264408" y="5257800"/>
            <a:ext cx="64008" cy="123444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65576" y="53766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OCT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65576" y="562356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E2A55"/>
                </a:solidFill>
                <a:latin typeface="Calibri"/>
              </a:rPr>
              <a:t>Referral 1.0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65576" y="603504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41B2D"/>
                </a:solidFill>
                <a:latin typeface="Calibri"/>
              </a:rPr>
              <a:t>Two sided launch, all learners.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071616" y="525780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071616" y="5257800"/>
            <a:ext cx="64008" cy="123444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72784" y="53766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NOV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72784" y="562356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E2A55"/>
                </a:solidFill>
                <a:latin typeface="Calibri"/>
              </a:rPr>
              <a:t>Top 100 Voices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72784" y="603504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41B2D"/>
                </a:solidFill>
                <a:latin typeface="Calibri"/>
              </a:rPr>
              <a:t>Trained advocate program.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878824" y="525780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878824" y="5257800"/>
            <a:ext cx="64008" cy="123444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079992" y="53766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DEC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79992" y="562356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E2A55"/>
                </a:solidFill>
                <a:latin typeface="Calibri"/>
              </a:rPr>
              <a:t>Annual Outcome Report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79992" y="603504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41B2D"/>
                </a:solidFill>
                <a:latin typeface="Calibri"/>
              </a:rPr>
              <a:t>Public report. Convocation.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6629400"/>
            <a:ext cx="11274552" cy="50292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720840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WHAT WE TRACK MONTHLY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114800" y="6748272"/>
            <a:ext cx="7772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0E2A55"/>
                </a:solidFill>
                <a:latin typeface="Calibri"/>
              </a:rPr>
              <a:t>Active Learner Score   |   Course completion   |   NPS (Net Promoter Score)   |   Referral mix   |   Cost per engaged learner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TASK 2   |   DELIVERABLES 2 AND 3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New initiatives and community building ideas.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11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555C6B"/>
                </a:solidFill>
                <a:latin typeface="Calibri"/>
              </a:rPr>
              <a:t>Five initiatives. Five community building ideas. Each one is lightweight, owned, and runs inside our existing budget.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5852160" cy="45720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65959"/>
            <a:ext cx="5852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0E2A55"/>
                </a:solidFill>
                <a:latin typeface="Calibri"/>
              </a:rPr>
              <a:t>FIVE NEW INITIATIVES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874519"/>
            <a:ext cx="5852160" cy="45720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65959"/>
            <a:ext cx="5852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0E2A55"/>
                </a:solidFill>
                <a:latin typeface="Calibri"/>
              </a:rPr>
              <a:t>FIVE COMMUNITY BUILDING IDEAS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68880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468880"/>
            <a:ext cx="64008" cy="77724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0604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B61A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560320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City Meetups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852928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Six cities. Saturday brunch. Hosted by an alum.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715768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~Rs 18 lakh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319272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319272"/>
            <a:ext cx="64008" cy="77724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456432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B61A"/>
                </a:solidFill>
                <a:latin typeface="Calibr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10712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Sunday Sit Down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703320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Weekly 45 min live AMA on beSocial.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356616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~Rs 6 lakh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169664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169664"/>
            <a:ext cx="64008" cy="77724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306824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B61A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261104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Industry Sprints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553712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10 day briefs from hiring partners. Top work showcased.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4416552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~Rs 22 lakh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020056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020056"/>
            <a:ext cx="64008" cy="77724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5157216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B61A"/>
                </a:solidFill>
                <a:latin typeface="Calibr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5111496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Alumni Mentor Network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5404104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1 mentor per learner who opts in. 12 month program.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5266944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~Rs 14 lakh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870448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870448"/>
            <a:ext cx="64008" cy="77724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007608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B61A"/>
                </a:solidFill>
                <a:latin typeface="Calibri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34440" y="5961888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Outcome Stories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6254496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30 second reels. 1 learner per week. Real, uncoached.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6117336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~Rs 10 lakh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55080" y="2468880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80" y="2468880"/>
            <a:ext cx="64008" cy="77724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6248" y="260604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8E9C"/>
                </a:solidFill>
                <a:latin typeface="Calibri"/>
              </a:rPr>
              <a:t>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0" y="2560320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beSocial faculty threads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32320" y="2852928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Weekly faculty hosted threads on every programme.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0" y="2715768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1E8E9C"/>
                </a:solidFill>
                <a:latin typeface="Calibri"/>
              </a:rPr>
              <a:t>Cost neutral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55080" y="3319272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55080" y="3319272"/>
            <a:ext cx="64008" cy="77724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56248" y="3456432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8E9C"/>
                </a:solidFill>
                <a:latin typeface="Calibri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0" y="3410712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City chapters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32320" y="3703320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Elected learner leads. Monthly informal meetups.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356616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1E8E9C"/>
                </a:solidFill>
                <a:latin typeface="Calibri"/>
              </a:rPr>
              <a:t>~Rs 8 lakh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55080" y="4169664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55080" y="4169664"/>
            <a:ext cx="64008" cy="77724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56248" y="4306824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8E9C"/>
                </a:solidFill>
                <a:latin typeface="Calibri"/>
              </a:rPr>
              <a:t>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32320" y="4261104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Buddy program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32320" y="4553712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Each new joiner paired with a Sem 2 learner.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4416552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1E8E9C"/>
                </a:solidFill>
                <a:latin typeface="Calibri"/>
              </a:rPr>
              <a:t>Cost neutral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355080" y="5020056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55080" y="5020056"/>
            <a:ext cx="64008" cy="77724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56248" y="5157216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8E9C"/>
                </a:solidFill>
                <a:latin typeface="Calibri"/>
              </a:rPr>
              <a:t>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32320" y="5111496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Faculty office hours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32320" y="5404104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Bookable 15 min slots with faculty, monthly.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5266944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1E8E9C"/>
                </a:solidFill>
                <a:latin typeface="Calibri"/>
              </a:rPr>
              <a:t>Cost neutral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355080" y="5870448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355080" y="5870448"/>
            <a:ext cx="64008" cy="77724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56248" y="6007608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8E9C"/>
                </a:solidFill>
                <a:latin typeface="Calibri"/>
              </a:rPr>
              <a:t>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32320" y="5961888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Annual reunion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0" y="6254496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On campus alumni meet stitched into Convocation.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0" y="6117336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1E8E9C"/>
                </a:solidFill>
                <a:latin typeface="Calibri"/>
              </a:rPr>
              <a:t>~Rs 12 lakh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TASK 2   |   DELIVERABLES 4 AND 5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Student advocacy programs and referral opportunities.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12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555C6B"/>
                </a:solidFill>
                <a:latin typeface="Calibri"/>
              </a:rPr>
              <a:t>Once learners feel seen, they tell their network. Advocacy is what we earn. Referrals are how we measure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5852160" cy="45720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65959"/>
            <a:ext cx="5852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FIVE STUDENT ADVOCACY PROGRAMS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874519"/>
            <a:ext cx="5852160" cy="45720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65959"/>
            <a:ext cx="5852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FIVE REFERRAL OPPORTUNITIES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68880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468880"/>
            <a:ext cx="64008" cy="77724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0604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04A4A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560320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Outcome Stories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852928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1 learner story per week. Reel + LinkedIn carousel.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19272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19272"/>
            <a:ext cx="64008" cy="77724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456432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04A4A"/>
                </a:solidFill>
                <a:latin typeface="Calibr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410712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Verified Alumni badge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703320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LinkedIn badge for completed alumni. Earned credibility.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169664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169664"/>
            <a:ext cx="64008" cy="77724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306824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04A4A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261104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Top 100 Voices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553712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Train and equip 100 learner storytellers. Annual cohort.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020056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020056"/>
            <a:ext cx="64008" cy="77724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5157216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04A4A"/>
                </a:solidFill>
                <a:latin typeface="Calibr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111496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User generated content prompts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04104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Monthly beSocial prompts. Best posts amplified by brand.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870448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870448"/>
            <a:ext cx="64008" cy="77724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6007608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04A4A"/>
                </a:solidFill>
                <a:latin typeface="Calibr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34440" y="5961888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Annual Outcome Report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6254496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Public report card. Pass rates, placements, learner stories.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55080" y="2468880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55080" y="2468880"/>
            <a:ext cx="64008" cy="77724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56248" y="260604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2A55"/>
                </a:solidFill>
                <a:latin typeface="Calibri"/>
              </a:rPr>
              <a:t>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0" y="2560320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Two sided cash reward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2852928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Rs 5,000 voucher each, on enrolment + first fee.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55080" y="3319272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80" y="3319272"/>
            <a:ext cx="64008" cy="77724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6248" y="3456432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2A55"/>
                </a:solidFill>
                <a:latin typeface="Calibri"/>
              </a:rP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0" y="3410712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Tiered status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32320" y="3703320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Bronze, Silver, Gold based on referral count + outcomes.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355080" y="4169664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355080" y="4169664"/>
            <a:ext cx="64008" cy="77724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56248" y="4306824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2A55"/>
                </a:solidFill>
                <a:latin typeface="Calibri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32320" y="4261104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CRM tagged tracking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0" y="4553712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Each referral mapped to a learner. Clean attribution.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355080" y="5020056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355080" y="5020056"/>
            <a:ext cx="64008" cy="77724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56248" y="5157216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2A55"/>
                </a:solidFill>
                <a:latin typeface="Calibri"/>
              </a:rPr>
              <a:t>04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32320" y="5111496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Anti gaming rules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32320" y="5404104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Public eligibility. Audit monthly. Transparent leaderboard.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55080" y="5870448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55080" y="5870448"/>
            <a:ext cx="64008" cy="77724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56248" y="6007608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2A55"/>
                </a:solidFill>
                <a:latin typeface="Calibri"/>
              </a:rPr>
              <a:t>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32320" y="5961888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Hiring partner referrals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32320" y="6254496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Partners refer their employees. We share placements with them.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eadershi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433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2B61A"/>
                </a:solidFill>
                <a:latin typeface="Calibri"/>
              </a:rPr>
              <a:t>TASK 3   |   LEADERSHIP DECK   |   1 OF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How Student Engagement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Drives Retention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and Brand Advocacy.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749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1">
                <a:solidFill>
                  <a:srgbClr val="F8D36F"/>
                </a:solidFill>
                <a:latin typeface="Calibri"/>
              </a:rPr>
              <a:t>Strategic Framework for Amity Online University.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897880"/>
            <a:ext cx="54864" cy="54864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897880"/>
            <a:ext cx="5486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1264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Paras Jain    |    June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495" y="598932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1">
                <a:solidFill>
                  <a:srgbClr val="F8D36F"/>
                </a:solidFill>
                <a:latin typeface="Calibri"/>
              </a:rPr>
              <a:t>Audience. Chairman, Provost, Chief Marketing Officer, Chief Financial Officer.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340961" y="228600"/>
            <a:ext cx="1548982" cy="58521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F8D36F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F8D36F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LEADERSHIP   |   2 OF 5   |   THE CRITICAL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The retention challenge in online higher education.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14 /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11274552" cy="41148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3840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KEY 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60020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VERIFIED STATISTIC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00200"/>
            <a:ext cx="505663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SOURCE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20240"/>
            <a:ext cx="11274552" cy="77724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084832"/>
            <a:ext cx="356616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41B2D"/>
                </a:solidFill>
                <a:latin typeface="Calibri"/>
              </a:rPr>
              <a:t>US national second fall retention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084832"/>
            <a:ext cx="21031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55"/>
                </a:solidFill>
                <a:latin typeface="Calibri"/>
              </a:rPr>
              <a:t>69.5%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084832"/>
            <a:ext cx="4782312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NSC Research Center, Persistence and Retention Report 2025 (Fall 2023 cohort).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697480"/>
            <a:ext cx="11274552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862072"/>
            <a:ext cx="356616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41B2D"/>
                </a:solidFill>
                <a:latin typeface="Calibri"/>
              </a:rPr>
              <a:t>First year students leaving higher education before second term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862072"/>
            <a:ext cx="21031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55"/>
                </a:solidFill>
                <a:latin typeface="Calibri"/>
              </a:rPr>
              <a:t>~14%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862072"/>
            <a:ext cx="4782312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NSC Research Center, via Inside Higher Ed, June 2025.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74720"/>
            <a:ext cx="11274552" cy="77724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639312"/>
            <a:ext cx="356616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41B2D"/>
                </a:solidFill>
                <a:latin typeface="Calibri"/>
              </a:rPr>
              <a:t>Amity Online MBA cohort 2023 to 24. Did not pass on schedule.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3639312"/>
            <a:ext cx="21031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55"/>
                </a:solidFill>
                <a:latin typeface="Calibri"/>
              </a:rPr>
              <a:t>23%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639312"/>
            <a:ext cx="4782312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Careers360 dataset (AISHE tracked). 22,831 enrolled, 77% pass, 1,051 placed.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251960"/>
            <a:ext cx="11274552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416552"/>
            <a:ext cx="356616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41B2D"/>
                </a:solidFill>
                <a:latin typeface="Calibri"/>
              </a:rPr>
              <a:t>India online higher education enrolment growth, year on year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416552"/>
            <a:ext cx="21031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55"/>
                </a:solidFill>
                <a:latin typeface="Calibri"/>
              </a:rPr>
              <a:t>+18.4%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416552"/>
            <a:ext cx="4782312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AISHE 2024 (6.47 million online learners, ~18% of all enrolment).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212080"/>
            <a:ext cx="11274552" cy="777240"/>
          </a:xfrm>
          <a:prstGeom prst="roundRect">
            <a:avLst>
              <a:gd name="adj" fmla="val 3000"/>
            </a:avLst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376672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330952"/>
            <a:ext cx="10360152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EARLY DISENGAGEMENT IS COSTLY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577840"/>
            <a:ext cx="10360152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FFFFFF"/>
                </a:solidFill>
                <a:latin typeface="Calibri"/>
              </a:rPr>
              <a:t>Roughly 14% of first year entrants leave higher education before the second term. Most of that loss happens in the first 30 days.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172200"/>
            <a:ext cx="1127455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KEY TAKEAWAY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10908792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 i="1">
                <a:solidFill>
                  <a:srgbClr val="0E2A55"/>
                </a:solidFill>
                <a:latin typeface="Calibri"/>
              </a:rPr>
              <a:t>The market opportunity is growing, but retention remains fragile. Engagement is a strategic lever, not a support function.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LEADERSHIP   |   3 OF 5   |   THE DATA PROOF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Direct correlation. Engagement levels drive retention.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15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555C6B"/>
                </a:solidFill>
                <a:latin typeface="Calibri"/>
              </a:rPr>
              <a:t>Retention outcomes by level of student engagement. Pilot data, not modelled.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74519"/>
            <a:ext cx="6858000" cy="425196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39111"/>
            <a:ext cx="6858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RETENTION RATE BY NUMBER OF ENGAGEMENT TOUCHPOINTS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85999"/>
            <a:ext cx="6858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All undergraduate students. Fall 2023 to Fall 2024. n = 19,524.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07791"/>
            <a:ext cx="16916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0 engagements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31719" y="2788919"/>
            <a:ext cx="4206240" cy="502920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31719" y="2788919"/>
            <a:ext cx="3280867" cy="502920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399" y="2907791"/>
            <a:ext cx="6400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78%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703319"/>
            <a:ext cx="16916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1 engagement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31719" y="3584447"/>
            <a:ext cx="4206240" cy="502920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31719" y="3584447"/>
            <a:ext cx="3575304" cy="502920"/>
          </a:xfrm>
          <a:prstGeom prst="rect">
            <a:avLst/>
          </a:prstGeom>
          <a:solidFill>
            <a:srgbClr val="F8D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399" y="3703319"/>
            <a:ext cx="6400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85%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98847"/>
            <a:ext cx="16916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2 to 3 engagements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31719" y="4379975"/>
            <a:ext cx="4206240" cy="502920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31719" y="4379975"/>
            <a:ext cx="3701491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399" y="4498847"/>
            <a:ext cx="6400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88%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294375"/>
            <a:ext cx="16916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4 or more engagements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19" y="5175503"/>
            <a:ext cx="4206240" cy="502920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31719" y="5175503"/>
            <a:ext cx="3869740" cy="50292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399" y="5294375"/>
            <a:ext cx="6400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92%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623559"/>
            <a:ext cx="6492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Source: University of Houston, Division of Student Affairs Pilot. Academic Year 2024 dataset.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806439"/>
            <a:ext cx="6492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1">
                <a:solidFill>
                  <a:srgbClr val="555C6B"/>
                </a:solidFill>
                <a:latin typeface="Calibri"/>
              </a:rPr>
              <a:t>Reference: uh.edu/dsa/news/2025 (Dr. Scott Radimer).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0" y="1874519"/>
            <a:ext cx="4160520" cy="4251960"/>
          </a:xfrm>
          <a:prstGeom prst="roundRect">
            <a:avLst>
              <a:gd name="adj" fmla="val 3000"/>
            </a:avLst>
          </a:prstGeom>
          <a:solidFill>
            <a:srgbClr val="051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0" y="2103119"/>
            <a:ext cx="4160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WHAT THE DATA SHOWS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514599"/>
            <a:ext cx="37947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2B61A"/>
                </a:solidFill>
                <a:latin typeface="Calibri"/>
              </a:rPr>
              <a:t>+14 pts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2971799"/>
            <a:ext cx="379476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FFFFFF"/>
                </a:solidFill>
                <a:latin typeface="Calibri"/>
              </a:rPr>
              <a:t>Retention gap between zero and 4+ engagement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FFFFFF"/>
                </a:solidFill>
                <a:latin typeface="Calibri"/>
              </a:rPr>
              <a:t>touchpoints. The single largest moveable lever.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3657599"/>
            <a:ext cx="37947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2B61A"/>
                </a:solidFill>
                <a:latin typeface="Calibri"/>
              </a:rPr>
              <a:t>+7 pts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4114799"/>
            <a:ext cx="379476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FFFFFF"/>
                </a:solidFill>
                <a:latin typeface="Calibri"/>
              </a:rPr>
              <a:t>Lift from a single engagement event.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FFFFFF"/>
                </a:solidFill>
                <a:latin typeface="Calibri"/>
              </a:rPr>
              <a:t>Even one touchpoint is non trivial.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4800599"/>
            <a:ext cx="37947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2B61A"/>
                </a:solidFill>
                <a:latin typeface="Calibri"/>
              </a:rPr>
              <a:t>+13 pts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5257799"/>
            <a:ext cx="379476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FFFFFF"/>
                </a:solidFill>
                <a:latin typeface="Calibri"/>
              </a:rPr>
              <a:t>Pell eligible students. Effect is even stronger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FFFFFF"/>
                </a:solidFill>
                <a:latin typeface="Calibri"/>
              </a:rPr>
              <a:t>for the at risk segments we lose first.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5760719"/>
            <a:ext cx="3794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1">
                <a:solidFill>
                  <a:srgbClr val="F8D36F"/>
                </a:solidFill>
                <a:latin typeface="Calibri"/>
              </a:rPr>
              <a:t>Source: UH Division of Student Affairs, 2025.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6263639"/>
            <a:ext cx="11274552" cy="45720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6318503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F2B61A"/>
                </a:solidFill>
                <a:latin typeface="Calibri"/>
              </a:rPr>
              <a:t>BUSINESS IMPLICATION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0" y="6309359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41B2D"/>
                </a:solidFill>
                <a:latin typeface="Calibri"/>
              </a:rPr>
              <a:t>Illustrative financial upside can be modelled once a verified per learner fee benchmark from Amity Online is confirmed.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LEADERSHIP   |   4 OF 5   |   THE ADVOCACY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How engaged students become brand advocates.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16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555C6B"/>
                </a:solidFill>
                <a:latin typeface="Calibri"/>
              </a:rPr>
              <a:t>The engagement to advocacy flywheel. Research backed mechanism, not hype. Each stage is a decision point we can intervene 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74519"/>
            <a:ext cx="2651760" cy="2468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2103119"/>
            <a:ext cx="548640" cy="548640"/>
          </a:xfrm>
          <a:prstGeom prst="ellipse">
            <a:avLst/>
          </a:prstGeom>
          <a:solidFill>
            <a:srgbClr val="F2B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19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743199"/>
            <a:ext cx="26517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E2A55"/>
                </a:solidFill>
                <a:latin typeface="Calibri"/>
              </a:rPr>
              <a:t>ENGAGED STUDENTS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37559"/>
            <a:ext cx="22860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41B2D"/>
                </a:solidFill>
                <a:latin typeface="Calibri"/>
              </a:rPr>
              <a:t>Forums, live sessions,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41B2D"/>
                </a:solidFill>
                <a:latin typeface="Calibri"/>
              </a:rPr>
              <a:t>faculty feedback, peer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41B2D"/>
                </a:solidFill>
                <a:latin typeface="Calibri"/>
              </a:rPr>
              <a:t>interaction, optional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41B2D"/>
                </a:solidFill>
                <a:latin typeface="Calibri"/>
              </a:rPr>
              <a:t>campus touchpoints.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45536" y="2971799"/>
            <a:ext cx="118872" cy="274320"/>
          </a:xfrm>
          <a:prstGeom prst="rightArrow">
            <a:avLst/>
          </a:prstGeom>
          <a:solidFill>
            <a:srgbClr val="F2B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73552" y="1874519"/>
            <a:ext cx="2651760" cy="2468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02152" y="2103119"/>
            <a:ext cx="548640" cy="548640"/>
          </a:xfrm>
          <a:prstGeom prst="ellipse">
            <a:avLst/>
          </a:prstGeom>
          <a:solidFill>
            <a:srgbClr val="1E8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2152" y="2103119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2152" y="2743199"/>
            <a:ext cx="26517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E2A55"/>
                </a:solidFill>
                <a:latin typeface="Calibri"/>
              </a:rPr>
              <a:t>POSITIVE BRAND</a:t>
            </a:r>
          </a:p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E2A55"/>
                </a:solidFill>
                <a:latin typeface="Calibri"/>
              </a:rPr>
              <a:t>EXPERIENCE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2152" y="3337559"/>
            <a:ext cx="22860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41B2D"/>
                </a:solidFill>
                <a:latin typeface="Calibri"/>
              </a:rPr>
              <a:t>Sense of belonging.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41B2D"/>
                </a:solidFill>
                <a:latin typeface="Calibri"/>
              </a:rPr>
              <a:t>Perceived support.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41B2D"/>
                </a:solidFill>
                <a:latin typeface="Calibri"/>
              </a:rPr>
              <a:t>Academic confidence.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41B2D"/>
                </a:solidFill>
                <a:latin typeface="Calibri"/>
              </a:rPr>
              <a:t>Stronger experience.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61888" y="2971799"/>
            <a:ext cx="118872" cy="274320"/>
          </a:xfrm>
          <a:prstGeom prst="rightArrow">
            <a:avLst/>
          </a:prstGeom>
          <a:solidFill>
            <a:srgbClr val="F2B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89904" y="1874519"/>
            <a:ext cx="2651760" cy="2468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18504" y="2103119"/>
            <a:ext cx="548640" cy="548640"/>
          </a:xfrm>
          <a:prstGeom prst="ellipse">
            <a:avLst/>
          </a:prstGeom>
          <a:solidFill>
            <a:srgbClr val="C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18504" y="2103119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2743199"/>
            <a:ext cx="26517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E2A55"/>
                </a:solidFill>
                <a:latin typeface="Calibri"/>
              </a:rPr>
              <a:t>BRAND ADVOCACY</a:t>
            </a:r>
          </a:p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E2A55"/>
                </a:solidFill>
                <a:latin typeface="Calibri"/>
              </a:rPr>
              <a:t>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3337559"/>
            <a:ext cx="22860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41B2D"/>
                </a:solidFill>
                <a:latin typeface="Calibri"/>
              </a:rPr>
              <a:t>Word of mouth.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41B2D"/>
                </a:solidFill>
                <a:latin typeface="Calibri"/>
              </a:rPr>
              <a:t>Referral intent.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41B2D"/>
                </a:solidFill>
                <a:latin typeface="Calibri"/>
              </a:rPr>
              <a:t>Testimonials.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41B2D"/>
                </a:solidFill>
                <a:latin typeface="Calibri"/>
              </a:rPr>
              <a:t>Peer recommendations.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778240" y="2971799"/>
            <a:ext cx="118872" cy="274320"/>
          </a:xfrm>
          <a:prstGeom prst="rightArrow">
            <a:avLst/>
          </a:prstGeom>
          <a:solidFill>
            <a:srgbClr val="F2B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906256" y="1874519"/>
            <a:ext cx="2651760" cy="2468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34856" y="2103119"/>
            <a:ext cx="548640" cy="548640"/>
          </a:xfrm>
          <a:prstGeom prst="ellipse">
            <a:avLst/>
          </a:prstGeom>
          <a:solidFill>
            <a:srgbClr val="0E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34856" y="2103119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4856" y="2743199"/>
            <a:ext cx="26517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E2A55"/>
                </a:solidFill>
                <a:latin typeface="Calibri"/>
              </a:rPr>
              <a:t>NEW ACQUISITION</a:t>
            </a:r>
          </a:p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E2A55"/>
                </a:solidFill>
                <a:latin typeface="Calibri"/>
              </a:rPr>
              <a:t>LOWER CAC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34856" y="3337559"/>
            <a:ext cx="22860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41B2D"/>
                </a:solidFill>
                <a:latin typeface="Calibri"/>
              </a:rPr>
              <a:t>Stronger trust signals.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41B2D"/>
                </a:solidFill>
                <a:latin typeface="Calibri"/>
              </a:rPr>
              <a:t>Referral led demand.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41B2D"/>
                </a:solidFill>
                <a:latin typeface="Calibri"/>
              </a:rPr>
              <a:t>Improved acquisition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41B2D"/>
                </a:solidFill>
                <a:latin typeface="Calibri"/>
              </a:rPr>
              <a:t>efficiency.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389119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Mechanism backed by Reichheld 2003 (HBR), Tyton Partners 2024, and University of Houston DSA pilot 2025.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663440"/>
            <a:ext cx="1127455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AMITY SPECIFIC ADVOCACY OPPORTUNITIES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983480"/>
            <a:ext cx="11274552" cy="36576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056632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OPPORTUNITY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0" y="505663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CURRENT VISIBLE SIGNAL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0" y="5056632"/>
            <a:ext cx="441655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STRATEGIC UPSIDE (HYPOTHESIS)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349240"/>
            <a:ext cx="11274552" cy="384048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5440680"/>
            <a:ext cx="29260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Learner testimonials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40480" y="5440680"/>
            <a:ext cx="33832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55C6B"/>
                </a:solidFill>
                <a:latin typeface="Calibri"/>
              </a:rPr>
              <a:t>Sparse, ad hoc.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80" y="5440680"/>
            <a:ext cx="4142232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41B2D"/>
                </a:solidFill>
                <a:latin typeface="Calibri"/>
              </a:rPr>
              <a:t>Outcome Stories series. One reel per week.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733288"/>
            <a:ext cx="11274552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824728"/>
            <a:ext cx="29260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Alumni storytelling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40480" y="5824728"/>
            <a:ext cx="33832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55C6B"/>
                </a:solidFill>
                <a:latin typeface="Calibri"/>
              </a:rPr>
              <a:t>Convocation only.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0" y="5824728"/>
            <a:ext cx="4142232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41B2D"/>
                </a:solidFill>
                <a:latin typeface="Calibri"/>
              </a:rPr>
              <a:t>Top 100 Voices program. Trained, equipped advocates.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6117336"/>
            <a:ext cx="11274552" cy="384048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208776"/>
            <a:ext cx="29260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Campus touchpoint amplification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40480" y="6208776"/>
            <a:ext cx="33832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55C6B"/>
                </a:solidFill>
                <a:latin typeface="Calibri"/>
              </a:rPr>
              <a:t>Limited to exam visits.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80" y="6208776"/>
            <a:ext cx="4142232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41B2D"/>
                </a:solidFill>
                <a:latin typeface="Calibri"/>
              </a:rPr>
              <a:t>Annual Immersion. One day on campus per learner.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6501384"/>
            <a:ext cx="11274552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6592824"/>
            <a:ext cx="29260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Peer referral and community loops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0480" y="6592824"/>
            <a:ext cx="33832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55C6B"/>
                </a:solidFill>
                <a:latin typeface="Calibri"/>
              </a:rPr>
              <a:t>Word of mouth, untracked.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98080" y="6592824"/>
            <a:ext cx="4142232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41B2D"/>
                </a:solidFill>
                <a:latin typeface="Calibri"/>
              </a:rPr>
              <a:t>Two sided referral 1.0. CRM tagged. Public leaderboard.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LEADERSHIP   |   5 OF 5   |   EXECUTIVE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What leadership should do next.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17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555C6B"/>
                </a:solidFill>
                <a:latin typeface="Calibri"/>
              </a:rPr>
              <a:t>Three strategic moves. Each one operationalisable inside the existing budget. Each one tied back to Task 1 or Task 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74519"/>
            <a:ext cx="356616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3566160" cy="64008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75687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2B61A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039111"/>
            <a:ext cx="2560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INCREASE STRUCTURED</a:t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ENGAGEMENT MOMENTS.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26079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F2B61A"/>
                </a:solidFill>
                <a:latin typeface="Calibri"/>
              </a:rPr>
              <a:t>WHAT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154679"/>
            <a:ext cx="32004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Embed cohort rituals, weekly community moments, and an annual on campus immersion (Task 1).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776471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F2B61A"/>
                </a:solidFill>
                <a:latin typeface="Calibri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005071"/>
            <a:ext cx="32004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14 point retention lift between zero and 4+ engagement touchpoints (UH Pilot, AY24).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626863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F2B61A"/>
                </a:solidFill>
                <a:latin typeface="Calibri"/>
              </a:rPr>
              <a:t>BUSINESS IMPLICATION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855463"/>
            <a:ext cx="32004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Higher pass rate. More completers per cohort. Lower wasted CAC.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1874519"/>
            <a:ext cx="356616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1874519"/>
            <a:ext cx="3566160" cy="64008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0" y="2075687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E8E9C"/>
                </a:solidFill>
                <a:latin typeface="Calibr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2039111"/>
            <a:ext cx="2560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OPERATIONALISE EARLY</a:t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DRIFT INTERVENTIONS.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26079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1E8E9C"/>
                </a:solidFill>
                <a:latin typeface="Calibri"/>
              </a:rPr>
              <a:t>WHAT TO 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154679"/>
            <a:ext cx="32004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Active Learner Score updated weekly. Faculty call learners below threshold (Task 2).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3776471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1E8E9C"/>
                </a:solidFill>
                <a:latin typeface="Calibri"/>
              </a:rPr>
              <a:t>WHY IT MATTERS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4005071"/>
            <a:ext cx="32004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First 30 days drive most attrition. ~14% of first year entrants leave higher education entirely before second term (NSC 2025).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4626863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1E8E9C"/>
                </a:solidFill>
                <a:latin typeface="Calibri"/>
              </a:rPr>
              <a:t>BUSINESS IMPLICATION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4855463"/>
            <a:ext cx="32004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Saved at risk learners protect already spent acquisition cost.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95360" y="1874519"/>
            <a:ext cx="356616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95360" y="1874519"/>
            <a:ext cx="3566160" cy="64008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23960" y="2075687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C04A4A"/>
                </a:solidFill>
                <a:latin typeface="Calibr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4040" y="2039111"/>
            <a:ext cx="2560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TURN SATISFIED LEARNERS</a:t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INTO VISIBLE ADVOCATES.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60" y="2926079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04A4A"/>
                </a:solidFill>
                <a:latin typeface="Calibri"/>
              </a:rPr>
              <a:t>WHAT TO 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3154679"/>
            <a:ext cx="32004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Outcome Stories series, Verified Alumni badge, two sided referral 1.0 (Task 2).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60" y="3776471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04A4A"/>
                </a:solidFill>
                <a:latin typeface="Calibri"/>
              </a:rPr>
              <a:t>WHY IT MATTERS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4005071"/>
            <a:ext cx="32004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Net Promoter Score is the leading growth indicator (Reichheld, HBR 2003). Earned beats paid.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4626863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04A4A"/>
                </a:solidFill>
                <a:latin typeface="Calibri"/>
              </a:rPr>
              <a:t>BUSINESS IMPLICATION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4855463"/>
            <a:ext cx="32004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Lower CAC. Stronger trust signals. Compounding alumni equity.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669280"/>
            <a:ext cx="11274552" cy="868680"/>
          </a:xfrm>
          <a:prstGeom prst="roundRect">
            <a:avLst>
              <a:gd name="adj" fmla="val 3000"/>
            </a:avLst>
          </a:prstGeom>
          <a:solidFill>
            <a:srgbClr val="051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788152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LEADERSHIP TAKEAWAY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03504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1">
                <a:solidFill>
                  <a:srgbClr val="FFFFFF"/>
                </a:solidFill>
                <a:latin typeface="Calibri"/>
              </a:rPr>
              <a:t>Engagement is not a student life add on. In online higher education, it is a measurable growth lever that improves retention and amplifies advocacy.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SOURCES   |   EVERY CLAIM IS AUDITABLE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Research and references.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18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555C6B"/>
                </a:solidFill>
                <a:latin typeface="Calibri"/>
              </a:rPr>
              <a:t>Every fact in this deck is either verifiable on a renowned source or labelled an indicative model. Nothing is invented.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20240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73152" cy="109728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3911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AMITY ONLINE OFFICIAL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E2A55"/>
                </a:solidFill>
                <a:latin typeface="Calibri"/>
              </a:rPr>
              <a:t>amityonline.com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14600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41B2D"/>
                </a:solidFill>
                <a:latin typeface="Calibri"/>
              </a:rPr>
              <a:t>2,50,000+ learners. 450+ hiring partners. Accreditations.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920240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920240"/>
            <a:ext cx="73152" cy="109728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203911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NAAC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E2A55"/>
                </a:solidFill>
                <a:latin typeface="Calibri"/>
              </a:rPr>
              <a:t>naac.gov.in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514600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41B2D"/>
                </a:solidFill>
                <a:latin typeface="Calibri"/>
              </a:rPr>
              <a:t>Amity University Online graded A+.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920240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920240"/>
            <a:ext cx="73152" cy="109728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84464" y="203911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NIRF MANAGEMENT 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E2A55"/>
                </a:solidFill>
                <a:latin typeface="Calibri"/>
              </a:rPr>
              <a:t>nirfindia.org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2514600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41B2D"/>
                </a:solidFill>
                <a:latin typeface="Calibri"/>
              </a:rPr>
              <a:t>Amity Online MBA in management top 50.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136392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136392"/>
            <a:ext cx="73152" cy="109728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255264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E8E9C"/>
                </a:solidFill>
                <a:latin typeface="Calibri"/>
              </a:rPr>
              <a:t>QS WORLD RANKINGS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50215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E2A55"/>
                </a:solidFill>
                <a:latin typeface="Calibri"/>
              </a:rPr>
              <a:t>topuniversities.com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3730752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41B2D"/>
                </a:solidFill>
                <a:latin typeface="Calibri"/>
              </a:rPr>
              <a:t>Asia Pacific Top 10 Online MBA. Only Indian online MBA QS ranked.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9392" y="3136392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9392" y="3136392"/>
            <a:ext cx="73152" cy="109728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62272" y="3255264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E8E9C"/>
                </a:solidFill>
                <a:latin typeface="Calibri"/>
              </a:rPr>
              <a:t>WASC, QAA, WES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2272" y="350215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E2A55"/>
                </a:solidFill>
                <a:latin typeface="Calibri"/>
              </a:rPr>
              <a:t>wscuc.org   qaa.ac.uk   wes.org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2272" y="3730752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41B2D"/>
                </a:solidFill>
                <a:latin typeface="Calibri"/>
              </a:rPr>
              <a:t>Global accreditations referenced on Amity Online MBA page.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01584" y="3136392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01584" y="3136392"/>
            <a:ext cx="73152" cy="109728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84464" y="3255264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E8E9C"/>
                </a:solidFill>
                <a:latin typeface="Calibri"/>
              </a:rPr>
              <a:t>CAREERS360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84464" y="350215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E2A55"/>
                </a:solidFill>
                <a:latin typeface="Calibri"/>
              </a:rPr>
              <a:t>careers360.com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84464" y="3730752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41B2D"/>
                </a:solidFill>
                <a:latin typeface="Calibri"/>
              </a:rPr>
              <a:t>Amity Online MBA 2023-24. 22,831 enrolled. 77% pass. 1,051 placed.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352544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352544"/>
            <a:ext cx="73152" cy="109728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471416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4A4A"/>
                </a:solidFill>
                <a:latin typeface="Calibri"/>
              </a:rPr>
              <a:t>MBA INSIGHTS / NCES IPEDS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718304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E2A55"/>
                </a:solidFill>
                <a:latin typeface="Calibri"/>
              </a:rPr>
              <a:t>mba-insights.com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946904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41B2D"/>
                </a:solidFill>
                <a:latin typeface="Calibri"/>
              </a:rPr>
              <a:t>Online MBA completion. 47 AACSB programmes. Dropout drivers.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79392" y="4352544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79392" y="4352544"/>
            <a:ext cx="73152" cy="109728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62272" y="4471416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4A4A"/>
                </a:solidFill>
                <a:latin typeface="Calibri"/>
              </a:rPr>
              <a:t>TYTON PARTNERS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62272" y="4718304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E2A55"/>
                </a:solidFill>
                <a:latin typeface="Calibri"/>
              </a:rPr>
              <a:t>Time for Class 2024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62272" y="4946904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41B2D"/>
                </a:solidFill>
                <a:latin typeface="Calibri"/>
              </a:rPr>
              <a:t>Digital learning and student success. 3,000+ admin survey.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01584" y="4352544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01584" y="4352544"/>
            <a:ext cx="73152" cy="109728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84464" y="4471416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4A4A"/>
                </a:solidFill>
                <a:latin typeface="Calibri"/>
              </a:rPr>
              <a:t>HBR / REICHHELD 2003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4464" y="4718304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E2A55"/>
                </a:solidFill>
                <a:latin typeface="Calibri"/>
              </a:rPr>
              <a:t>The One Number You Need to Grow.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84464" y="4946904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41B2D"/>
                </a:solidFill>
                <a:latin typeface="Calibri"/>
              </a:rPr>
              <a:t>Net Promoter Score as a leading growth metric.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7200" y="5568696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57200" y="5568696"/>
            <a:ext cx="73152" cy="109728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5687568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0E2A55"/>
                </a:solidFill>
                <a:latin typeface="Calibri"/>
              </a:rPr>
              <a:t>CHRISTENSEN 2016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5934456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E2A55"/>
                </a:solidFill>
                <a:latin typeface="Calibri"/>
              </a:rPr>
              <a:t>Competing Against Luck. HBR.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6163056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41B2D"/>
                </a:solidFill>
                <a:latin typeface="Calibri"/>
              </a:rPr>
              <a:t>Jobs to be Done framework. Used on the approach slide.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279392" y="5568696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279392" y="5568696"/>
            <a:ext cx="73152" cy="109728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462272" y="5687568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0E2A55"/>
                </a:solidFill>
                <a:latin typeface="Calibri"/>
              </a:rPr>
              <a:t>MCCLURE 2007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62272" y="5934456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E2A55"/>
                </a:solidFill>
                <a:latin typeface="Calibri"/>
              </a:rPr>
              <a:t>Startup Metrics for Pirates.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62272" y="6163056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41B2D"/>
                </a:solidFill>
                <a:latin typeface="Calibri"/>
              </a:rPr>
              <a:t>AARRR funnel framework. Used on the engagement roadmap.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101584" y="5568696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01584" y="5568696"/>
            <a:ext cx="73152" cy="109728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84464" y="5687568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0E2A55"/>
                </a:solidFill>
                <a:latin typeface="Calibri"/>
              </a:rPr>
              <a:t>SEAN ELLIS / AMPLITUDE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84464" y="5934456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E2A55"/>
                </a:solidFill>
                <a:latin typeface="Calibri"/>
              </a:rPr>
              <a:t>North Star Playbook.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84464" y="6163056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41B2D"/>
                </a:solidFill>
                <a:latin typeface="Calibri"/>
              </a:rPr>
              <a:t>North Star Metric framework. Used on the leadership ask.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6784848"/>
            <a:ext cx="11274552" cy="457200"/>
          </a:xfrm>
          <a:prstGeom prst="roundRect">
            <a:avLst>
              <a:gd name="adj" fmla="val 3000"/>
            </a:avLst>
          </a:prstGeom>
          <a:solidFill>
            <a:srgbClr val="051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6894576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F2B61A"/>
                </a:solidFill>
                <a:latin typeface="Calibri"/>
              </a:rPr>
              <a:t>INDICATIVE MODELS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0080" y="7031736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F8D36F"/>
                </a:solidFill>
                <a:latin typeface="Calibri"/>
              </a:rPr>
              <a:t>Active Learner Score thresholds and Cohort 0 budget split are modelled forecasts. To be validated in the 90 day pilot.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ndsh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433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30352" y="484632"/>
            <a:ext cx="1681935" cy="6309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1462479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82880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B61A"/>
                </a:solidFill>
                <a:latin typeface="Calibri"/>
              </a:rPr>
              <a:t>ONE LEARNER. ONE STORY. ONE PROMISE.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972800" cy="2194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Rohit doesn't need</a:t>
            </a:r>
          </a:p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another webinar.</a:t>
            </a:r>
          </a:p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He needs a moment</a:t>
            </a:r>
          </a:p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he can show his family.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1">
                <a:solidFill>
                  <a:srgbClr val="F8D36F"/>
                </a:solidFill>
                <a:latin typeface="Calibri"/>
              </a:rPr>
              <a:t>If we get that right, retention takes care of itself. Advocacy follows. So does enrolment.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852160"/>
            <a:ext cx="54864" cy="54864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852160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WITH GRATITUDE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08076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Paras Jain   |   Marketing Manager Assignment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F8D36F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F8D36F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