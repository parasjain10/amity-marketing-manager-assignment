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02E5E"/>
                </a:solidFill>
              </a:rPr>
              <a:t>Outcomes by engagement tier (Amity-style cohort, modeled)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Course completion %</c:v>
                </c:pt>
              </c:strCache>
            </c:strRef>
          </c:tx>
          <c:spPr>
            <a:solidFill>
              <a:srgbClr val="002E5E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</c:v>
                </c:pt>
                <c:pt idx="1">
                  <c:v>62</c:v>
                </c:pt>
                <c:pt idx="2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NPS</c:v>
                </c:pt>
              </c:strCache>
            </c:strRef>
          </c:tx>
          <c:spPr>
            <a:solidFill>
              <a:srgbClr val="FFC72C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31</c:v>
                </c:pt>
                <c:pt idx="2">
                  <c:v>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Referral rate %</c:v>
                </c:pt>
              </c:strCache>
            </c:strRef>
          </c:tx>
          <c:spPr>
            <a:solidFill>
              <a:srgbClr val="1E8E9C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7</c:v>
                </c:pt>
                <c:pt idx="2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01F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291840"/>
            <a:ext cx="676656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white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88976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MARKETING MANAGER  |  ASSIGNMENT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800" b="1" i="0">
                <a:solidFill>
                  <a:srgbClr val="FFFFFF"/>
                </a:solidFill>
                <a:latin typeface="Calibri"/>
              </a:rPr>
              <a:t>Online-Learner</a:t>
            </a:r>
          </a:p>
          <a:p>
            <a:pPr algn="l">
              <a:lnSpc>
                <a:spcPct val="95000"/>
              </a:lnSpc>
            </a:pPr>
            <a:r>
              <a:rPr sz="58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A launch, a year-long roadmap, and a leadership story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built specifically for the 80,000+ learners who chose Amity Online.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60720"/>
            <a:ext cx="54864" cy="5486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D96B"/>
                </a:solidFill>
                <a:latin typeface="Calibri"/>
              </a:rPr>
              <a:t>Submitted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QUICK READ BEFORE WE DIVE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How I approached this brief.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41B2D"/>
                </a:solidFill>
                <a:latin typeface="Calibri"/>
              </a:rPr>
              <a:t>Before I jumped into deliverables, I spent a few hours reading what current Amity Online students actually say (Reddit threads, the mbaken.com 9-month review, beSocial coverage), and pulled completion-rate data from The Hindu and edinindia.com. Three patterns kept showing up — and they shaped every recommendation in this deck.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C72C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2E5E"/>
                </a:solidFill>
                <a:latin typeface="Calibri"/>
              </a:rPr>
              <a:t>The 'campus FOMO' is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4340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41B2D"/>
                </a:solidFill>
                <a:latin typeface="Calibri"/>
              </a:rPr>
              <a:t>Online students don't just buy a degree — they buy belonging. The mbaken review literally lists 'offline touch' (PCP, induction, convocation) as the #1 reason to pick Amity. We're under-marketing this. Big white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78892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0175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C72C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2E5E"/>
                </a:solidFill>
                <a:latin typeface="Calibri"/>
              </a:rPr>
              <a:t>Engagement ≠ webinars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34340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41B2D"/>
                </a:solidFill>
                <a:latin typeface="Calibri"/>
              </a:rPr>
              <a:t>70-80% of EdTech learners churn within 30 days, even when they paid. beSocial is great, but engagement needs to be stitched into the *learning* journey, not bolted on top. Cohort rituals beat content blasts.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78892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30175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C72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657600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2E5E"/>
                </a:solidFill>
                <a:latin typeface="Calibri"/>
              </a:rPr>
              <a:t>Advocacy is sitting unused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34340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41B2D"/>
                </a:solidFill>
                <a:latin typeface="Calibri"/>
              </a:rPr>
              <a:t>Amity has 80,000+ active online learners and tens of thousands of alumni. That's the largest online alumni base in India. Right now, almost nothing systematic turns them into evangelists or referrers. That's a marketing goldmine.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06240"/>
            <a:ext cx="822960" cy="6400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434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Launching the Amity Ignite Immersion Programme.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D96B"/>
                </a:solidFill>
                <a:latin typeface="Calibri"/>
              </a:rPr>
              <a:t>A new flagship that takes the Amity online learner from a phone screen to the Noida campus — once, then forever.</a:t>
            </a:r>
          </a:p>
        </p:txBody>
      </p:sp>
      <p:pic>
        <p:nvPicPr>
          <p:cNvPr id="7" name="Picture 6" descr="logo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5201" y="228600"/>
            <a:ext cx="1255014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| 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Amity Ignite — the one-page launch plan.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555C6B"/>
                </a:solidFill>
                <a:latin typeface="Calibri"/>
              </a:rPr>
              <a:t>A 72-hour, on-campus immersion for online learners — designed to be the photo album they show their family.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73152" cy="128016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THE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4144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India will have ~10M online-degree learners by 2027. Amity already has 80K+ — most of them never see the Noida campus. That gap is our wedge.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66160"/>
            <a:ext cx="73152" cy="128016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576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TARGET LEARNER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22–34 year-olds, mostly Tier-2/3 cities, working full-time, paying their own fees. They want the Amity 'name' but secretly miss the campus experience.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7492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074920"/>
            <a:ext cx="73152" cy="128016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6636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POSITIONING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5896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“The only online degree where you actually walk the campus.” We don't compete with NMIMS or upGrad on price — we compete on the experience and brand they can show their parents.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05740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057400"/>
            <a:ext cx="73152" cy="128016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1488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CHANNELS &amp; 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4144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Total launch ₹2.4 Cr (Q1). 40% Performance (Meta + Google), 25% Content &amp; PR, 20% Influencer &amp; Alumni, 10% on-campus production, 5% retargeting.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56616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566160"/>
            <a:ext cx="73152" cy="128016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6576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GOALS (Q1 → Q2)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95020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1,500 Ignite registrations · 60% show-up rate · 25% lift in MQL→enrolment · 4.5+ NSAT · 2× organic reach for #AmityIgnite content (target 15M views).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074920"/>
            <a:ext cx="5532120" cy="1280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074920"/>
            <a:ext cx="73152" cy="128016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16636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SUCCESS LOOKS LIKE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458968"/>
            <a:ext cx="5166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30" b="0" i="0">
                <a:solidFill>
                  <a:srgbClr val="141B2D"/>
                </a:solidFill>
                <a:latin typeface="Calibri"/>
              </a:rPr>
              <a:t>By month 6, 'Did you do Ignite?' becomes the question prospective students ask current Amity Online students — not the other way around.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|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Event concept: Amity Ignite 72.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5 / 22</a:t>
            </a:r>
          </a:p>
        </p:txBody>
      </p:sp>
      <p:pic>
        <p:nvPicPr>
          <p:cNvPr id="8" name="Picture 7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114800" cy="4846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989320"/>
            <a:ext cx="4114800" cy="36576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16752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72 hours · Noida campus · 4 batches/year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508760"/>
            <a:ext cx="6949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1">
                <a:solidFill>
                  <a:srgbClr val="002E5E"/>
                </a:solidFill>
                <a:latin typeface="Calibri"/>
              </a:rPr>
              <a:t>Three days. Three feelings: belong → build → broadcast.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05740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0600" y="2057400"/>
            <a:ext cx="91440" cy="13716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19456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DAY 01 · BELONG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514600"/>
            <a:ext cx="65836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Arrive Friday evening. No lectures. A 'flame-lighting' welcome dinner with the Vice-Chancellor, alumni, and one celebrity faculty (think: Gaur Gopal Das or Raghav Chandra). Everyone gets an Ignite jacket with their name embroidered.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3520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3520440"/>
            <a:ext cx="91440" cy="137160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3657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DAY 02 ·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977640"/>
            <a:ext cx="65836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Saturday — three industry masterclasses (Microsoft, Razorpay, Bain). Then a hackathon-style 'Real-World Sprint': cross-program teams crack a live brief from an actual hiring partner. Awards at dinner. Convocation-style photo wall opens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498348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0600" y="4983480"/>
            <a:ext cx="91440" cy="137160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1206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DAY 03 · BROADCAST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440680"/>
            <a:ext cx="65836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Sunday — career clinics with Amigo Portal team, alumni mentor pairing (each student leaves with an assigned mentor for 12 months), and the closing 'Ignite Pledge' ceremony. Pro photographer + a 60-second reel for every attendee.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|  EMAIL TO EXISTING ONLINE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6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589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589520" cy="4114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C6B"/>
                </a:solidFill>
                <a:latin typeface="Calibri"/>
              </a:rPr>
              <a:t>From: Aastha Sehgal, Marketing  ·  amityonline@amity.edu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Subject:  You've finished 4 modules. Your campus is waiting.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040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55C6B"/>
                </a:solidFill>
                <a:latin typeface="Calibri"/>
              </a:rPr>
              <a:t>Preheader:  Three days at Noida. Zero lecture videos. Yes, really.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08376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Sometime in the last few months, you decided to start your degree with us. Between work, family, that 8:30 PM module you keep meaning to finish — you've been showing up. Quietly. Consistently. Thank you.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64992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Now I'd like you to do something a little louder.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21608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On 12–14 September, we're hosting the first ever Amity Ignite at our Noida campus. It's three days, fully sponsored after a small registration fee, designed for one purpose: to let you walk the campus you've technically been part of all along.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78224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No recorded lectures. No pretending to take notes. Industry masterclasses with people who actually hire, a real-world hackathon, and a mentor you'll keep for the next year.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>
                <a:solidFill>
                  <a:srgbClr val="141B2D"/>
                </a:solidFill>
                <a:latin typeface="Calibri"/>
              </a:rPr>
              <a:t>Spots are capped at 400 per batch. If you've completed even one semester with us, your seat is held until 25 August — after that, it opens to the waitlist.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73168"/>
            <a:ext cx="2194560" cy="411480"/>
          </a:xfrm>
          <a:prstGeom prst="rect">
            <a:avLst/>
          </a:prstGeom>
          <a:solidFill>
            <a:srgbClr val="002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Reserve my seat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4864608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C6B"/>
                </a:solidFill>
                <a:latin typeface="Calibri"/>
              </a:rPr>
              <a:t>Takes 90 seconds.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13248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41B2D"/>
                </a:solidFill>
                <a:latin typeface="Calibri"/>
              </a:rPr>
              <a:t>— Aastha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41848"/>
            <a:ext cx="7040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Marketing, Amity University Online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37160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50876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E5E"/>
                </a:solidFill>
                <a:latin typeface="Calibri"/>
              </a:rPr>
              <a:t>Why this email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1874519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Subject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103119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Personalised + curiosity. Not 'Announcing'. Not 'Excited to share'.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587751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Voice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816351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First-person. Written by a real human (Aastha) — not 'The Amity Team'. People reply to people.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00983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CTA depth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29583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Single CTA. No sidebar links pulling attention away.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014215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Scarcity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242815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Real cap (400/batch), real deadline. Not a fake countdown timer.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727447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Recipient cut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956047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Only learners with ≥1 sem completed. Earned, not blasted.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440679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Send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669279"/>
            <a:ext cx="3154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Tuesday 10:30 AM IST. Highest open rate for working-pro audiences in India based on Mailmodo's 2025 benchmark.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|  POSTED FROM VC'S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7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6858000" cy="5212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C72C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1B2D"/>
                </a:solidFill>
                <a:latin typeface="Calibri"/>
              </a:rPr>
              <a:t>Dr.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Chairman, Amity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6858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1d · 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40080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I keep meeting Amity Online students at airports.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A guy in Bhubaneswar last week — running his family's textile business by day, doing his MBA on a phone screen at 11 PM. He showed me his certificate file. Real pride. But also a question I'm hearing too often: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“Sir, will I ever come to the campus?”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I went home and asked my team why the answer is 'maybe, during exams.'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From September, the answer becomes yes — three times a year, for every learner.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We're calling it Amity Ignite. 72 hours at Noida. No lectures. Just the masterclasses, the mentors, the photos, and the convocation walk every learner has earned.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Online learning gave us scale. Ignite gives us soul.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If you're an Amity Online learner reading this — your invite is in your inbox.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#AmityIgnite #AmityUniversityOnline #OnlineLearning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6766560" cy="1828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👍 Like     💬 Comment     🔁 Repost     📤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1417320"/>
            <a:ext cx="4251960" cy="52120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1554480"/>
            <a:ext cx="4251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E5E"/>
                </a:solidFill>
                <a:latin typeface="Calibri"/>
              </a:rPr>
              <a:t>Why I'd post this from the Chairman's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192024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FFC72C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16712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Opens with a specific human, a specific city, a specific moment. The launch is buried in para 5 — that's intentional.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78892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FFC72C"/>
                </a:solidFill>
                <a:latin typeface="Calibri"/>
              </a:rPr>
              <a:t>Vulnerability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03580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“I went home and asked my team why the answer is maybe.” This is a leader admitting a gap. Algorithms reward this.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5760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FFC72C"/>
                </a:solidFill>
                <a:latin typeface="Calibri"/>
              </a:rPr>
              <a:t>One sticky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90448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“Online learning gave us scale. Ignite gives us soul.” Designed to be quoted by employees in their own posts.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452628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FFC72C"/>
                </a:solidFill>
                <a:latin typeface="Calibri"/>
              </a:rPr>
              <a:t>Earned 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77316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If 200 employees + 50 alumni each share with one line of context, organic reach beats paid by 4-5×.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539496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FFC72C"/>
                </a:solidFill>
                <a:latin typeface="Calibri"/>
              </a:rPr>
              <a:t>Best time to 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64184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141B2D"/>
                </a:solidFill>
                <a:latin typeface="Calibri"/>
              </a:rPr>
              <a:t>Tuesday or Wednesday, 8:30 AM IST. Hashtags below the fold so they don't compete with the hook.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|  BROCHURE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The Ignite brochure — page-by-page outline.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Format: A4 portrait, 12 pages, perfect-bound. Mailed to top 1,000 prospects with a physical Ignite jacket button — yes, a real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103120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59152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Single line of copy. Black background. Gold flame.</a:t>
            </a:r>
          </a:p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Text: 'You enrolled online. You graduate in person.'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011680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2011680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1" y="2103120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359152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Founder's letter from Dr. Ajit Chauhan. Hand-signed scan. 220 words max.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8" y="2011680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8" y="2011680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0" y="2103120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2-3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0" y="2359152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Spread: 'Why Ignite exists' — three real student stories with full-bleed photographs.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18688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18688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310128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3566160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What 72 hours look like — visual day-by-day timeline with icons.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218688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79" y="3218688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1" y="3310128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1" y="3566160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The masterclass roster — 9 industry leaders. Photos, role, why they're showing up.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58" y="3218688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58" y="3218688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0" y="3310128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6-7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0" y="3566160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Spread: 'Your mentor for the year' — how the alumni-pairing programme works after Ignite ends.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25696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25696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517136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4773168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Your degree, your validation: NAAC A+, UGC, WASC (USA), QAA (UK), QS-ranked MBA. Built as a credibility wall.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79" y="4425696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79" y="4425696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1" y="4517136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2271" y="4773168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Real numbers: 80,000+ learners, 1,500+ companies hiring, 3rd cohort to graduate by 2027.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58" y="4425696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58" y="4425696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02750" y="4517136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0" y="4773168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What you get to keep — Ignite jacket, mentor, alumni network access, lifetime career portal, photo book.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32704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32704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5724144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5980176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FAQ — 8 questions that real prospects ask. (Especially: 'Will my employer recognise this?' — answered head-on.)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7679" y="5632704"/>
            <a:ext cx="3749039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79" y="5632704"/>
            <a:ext cx="64008" cy="10972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1" y="5724144"/>
            <a:ext cx="347471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02E5E"/>
                </a:solidFill>
                <a:latin typeface="Calibri"/>
              </a:rPr>
              <a:t>PAGE 12 / 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62271" y="5980176"/>
            <a:ext cx="3474719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QR code to register. One sentence: 'Three days. The rest of your career.'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06240"/>
            <a:ext cx="822960" cy="6400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434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A 12-month engagement roadmap for our learners.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D96B"/>
                </a:solidFill>
                <a:latin typeface="Calibri"/>
              </a:rPr>
              <a:t>From onboarding rituals to advocacy programs — designed so every learner has at least three 'I-felt-seen' moments per year.</a:t>
            </a:r>
          </a:p>
        </p:txBody>
      </p:sp>
      <p:pic>
        <p:nvPicPr>
          <p:cNvPr id="7" name="Picture 6" descr="logo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5201" y="228600"/>
            <a:ext cx="1255014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ANNUAL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The 12-month engagement roadmap, at a glance.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C6B"/>
                </a:solidFill>
                <a:latin typeface="Calibri"/>
              </a:rPr>
              <a:t>Four quarterly themes, four signature programs, one outcome: every Amity Online learner has at least three 'I-felt-seen' moments per year.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2834640" cy="36576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Q1 · Apr–Jun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BELONG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Onboarding rituals + first Amity Ignite batch + community kick-off.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1">
                <a:solidFill>
                  <a:srgbClr val="FFC72C"/>
                </a:solidFill>
                <a:latin typeface="Calibri"/>
              </a:rPr>
              <a:t>Anchor: Ignite Cohort 1 + Onboard 7-Day Sprint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0712" y="201168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10712" y="2011680"/>
            <a:ext cx="2834640" cy="36576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05740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Q2 · Jul–Sep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46888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92608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Career launchpad season — masterclasses, mentor pairing, hiring fair.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35204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Anchor: Amity Champions launches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01168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2011680"/>
            <a:ext cx="2834640" cy="36576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205740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Q3 · Oct–Dec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46888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BROADCAST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292608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Storytelling at scale — alumni reels, AmityVoices podcast, advocacy.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5204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1">
                <a:solidFill>
                  <a:srgbClr val="D94A4A"/>
                </a:solidFill>
                <a:latin typeface="Calibri"/>
              </a:rPr>
              <a:t>Anchor: 'Pass The Flame' referral campaign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17736" y="201168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17736" y="2011680"/>
            <a:ext cx="2834640" cy="365760"/>
          </a:xfrm>
          <a:prstGeom prst="rect">
            <a:avLst/>
          </a:prstGeom>
          <a:solidFill>
            <a:srgbClr val="002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0616" y="205740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Q4 · Jan–Mar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246888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BEYOND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292608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Convocation, capstone showcase, lifelong learner network.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0616" y="35204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1">
                <a:solidFill>
                  <a:srgbClr val="002E5E"/>
                </a:solidFill>
                <a:latin typeface="Calibri"/>
              </a:rPr>
              <a:t>Anchor: Ignite Convo + Alumni Fellowship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14799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E5E"/>
                </a:solidFill>
                <a:latin typeface="Calibri"/>
              </a:rPr>
              <a:t>Year-end target metrics: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0559"/>
            <a:ext cx="1124712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61771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62%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0291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Engagement rate (MAU/Total)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2577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↑ from 38%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52344" y="461771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52344" y="50291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Course completion (annual)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52344" y="52577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↑ from 54%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01768" y="461771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50291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Net Promoter Score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01768" y="52577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↑ from 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1192" y="461771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50291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Referral-driven enrolments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2577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↑ from 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0616" y="461771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₹6,200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0616" y="50291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Cost per enrolment (organic)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0616" y="525779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1">
                <a:solidFill>
                  <a:srgbClr val="1E8E9C"/>
                </a:solidFill>
                <a:latin typeface="Calibri"/>
              </a:rPr>
              <a:t>↓ from ₹14k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NEW INITIATIVES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Five new initiatives I'd ship this year.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11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Each one solves a specific learner pain we already know about. None of them are 'innovation theatre' — they all have a clear KPI and owner.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11247120" cy="850392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C72C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Amity Ignite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103120"/>
            <a:ext cx="36576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084832"/>
            <a:ext cx="768096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On-campus 72-hour immersion, 4 batches/year, 400 learners each. Fixes the 'I never see campus' pain. KPI: 80% NSAT, 25% lift in next-cohort referrals.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16352"/>
            <a:ext cx="11247120" cy="850392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80944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53512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Onboard 7-Day Sprint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2999232"/>
            <a:ext cx="36576" cy="50292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980944"/>
            <a:ext cx="768096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First 7 days post-enrolment are make-or-break. A mandatory guided sprint with a buddy, 3 micro-wins, and a 1:1 with a faculty advisor on Day 4. KPI: drop 30-day churn from ~28% to &lt;10%.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12464"/>
            <a:ext cx="11247120" cy="850392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77056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94A4A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849624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Amity Champions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3895344"/>
            <a:ext cx="36576" cy="50292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877056"/>
            <a:ext cx="768096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200 hand-picked learners trained to host beSocial circles, run study huddles, and represent Amity on socials. Stipend ₹3,000/month + Ignite priority. KPI: 60% of beSocial activity sourced by Champions.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08576"/>
            <a:ext cx="11247120" cy="850392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773168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2E5E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745736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AmityVoices Podcast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4791456"/>
            <a:ext cx="36576" cy="502920"/>
          </a:xfrm>
          <a:prstGeom prst="rect">
            <a:avLst/>
          </a:prstGeom>
          <a:solidFill>
            <a:srgbClr val="002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4773168"/>
            <a:ext cx="768096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Weekly 22-min show. One alumni story + one 'how I'm using my degree' segment. Distributed via Spotify, Apple, and inside the LMS. KPI: 50K monthly listens by month 9, used as a soft-conversion asset for prospects.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04688"/>
            <a:ext cx="11247120" cy="850392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66928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55C6B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41848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Capstone-to-Career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5687568"/>
            <a:ext cx="36576" cy="502920"/>
          </a:xfrm>
          <a:prstGeom prst="rect">
            <a:avLst/>
          </a:prstGeom>
          <a:solidFill>
            <a:srgbClr val="55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5669280"/>
            <a:ext cx="768096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Replace generic capstone projects with live briefs from hiring partners (Razorpay, Genpact, ICICI). Best 5% of capstones get hiring fast-tracks. KPI: 35% of MBA learners with a job-relevant capstone outcome.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The monthly engagement calendar.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Twelve months. One signature anchor each month + a recurring rhythm so no learner ever feels like nothing's happening.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8424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APR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8599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7743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Onboarding wave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3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Buddy match, 7-day sprint, welcome reels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7451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8424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MAY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28599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3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Ignite C1 (Noida)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83463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FFD96B"/>
                </a:solidFill>
                <a:latin typeface="Calibri"/>
              </a:rPr>
              <a:t>First 400-learner immersion + media blitz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7451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98424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JUN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28599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37743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Skill Sprint Month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3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Mini-bootcamps in AI, DM, FinTech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98424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JUL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0" y="228599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237743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Career Launchpad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83463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Resume Lab + Mock-interview marathon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8327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9300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AUG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9475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88619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Independence Pitch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34339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Founder Friday — student startup pitch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38327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49300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SEP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66160" y="379475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88619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Ignite C2 + Mentor pairing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34339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FFD96B"/>
                </a:solidFill>
                <a:latin typeface="Calibri"/>
              </a:rPr>
              <a:t>Annual mentor draft (2-month)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338327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49300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OCT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379475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388619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Festival of Stories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34339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AmityVoices live recording + photo wall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35440" y="338327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0" y="349300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NOV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79475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0" y="388619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Hackathon: Real-World Sprint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434339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FFD96B"/>
                </a:solidFill>
                <a:latin typeface="Calibri"/>
              </a:rPr>
              <a:t>Live brief from a hiring partner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89203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00176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DEC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530351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539495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Pass The 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85215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Annual referral push + alumni gifting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83280" y="489203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0" y="500176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JAN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530351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539495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Ignite C3 + Convocation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6160" y="585215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FFD96B"/>
                </a:solidFill>
                <a:latin typeface="Calibri"/>
              </a:rPr>
              <a:t>Walk-the-stage moment, family invited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09360" y="489203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500176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FEB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92240" y="530351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39495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Capstone Showcase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85215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Top 50 capstones + hiring fair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35440" y="4892039"/>
            <a:ext cx="28346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18320" y="5001767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MAR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8320" y="5303519"/>
            <a:ext cx="32004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18320" y="5394959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Year-End Reset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5852159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9" b="0" i="1">
                <a:solidFill>
                  <a:srgbClr val="141B2D"/>
                </a:solidFill>
                <a:latin typeface="Calibri"/>
              </a:rPr>
              <a:t>Personal-impact survey, NPS, planning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6355080"/>
            <a:ext cx="11247120" cy="3657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42823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002E5E"/>
                </a:solidFill>
                <a:latin typeface="Calibri"/>
              </a:rPr>
              <a:t>Always-on rhythm:  Mon: weekly digest  ·  Wed: AMA on beSocial  ·  Thu: AmityVoices drop  ·  Sun: Reflection prompt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COMMUNITY-BUILDING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Community: turning beSocial from a feed into a town square.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beSocial already has 80K+ users. The problem isn't reach — it's that most of the activity is broadcast, not conversation. Fixing that is mostly product + ritual design, not more content.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8600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Cohort Circles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Group every learner into a 24-person 'Circle' on enrolment day. Same circle for 12 months. Weekly check-in prompt, monthly 30-min Zoom hosted by a Champion. Tribe &gt; feed.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210312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24028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228600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Town Halls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288036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Quarterly 'Open Mic' with the Vice-Chancellor. Anyone can submit a question. Top 5 get answered live. Recording archived. Builds trust at scale; almost no one else in Indian online ed does this.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210312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224028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28600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Skill Tribes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288036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Self-organising sub-communities by interest (AI, FinTech, DM, Startup). Each tribe has a Champion lead, a weekly thread, a monthly project. We supply the rails; learners run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805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2628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City Chapters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064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Once a city crosses 200 learners, we activate a Chapter — 4 in-person meetups/year, sponsored. Tier-2 cities first (Patna, Indore, Bhubaneswar, Surat). Goes where competitors don't.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434340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44805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1224" y="452628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Alumni Lounge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512064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Gated section where current learners can DM alumni (capped, mediated). Alumni opt-in get a digital Lapel pin and Ignite priority. Solves the placement-self-effort gap surfaced in real reviews.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4343400"/>
            <a:ext cx="3803904" cy="21031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6488" y="44805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D"/>
                </a:solidFill>
                <a:latin typeface="Calibri"/>
              </a:rPr>
              <a:t>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4526280"/>
            <a:ext cx="2889504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'Quiet Day'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6488" y="5120640"/>
            <a:ext cx="3438144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Sunday is a no-broadcast day on beSocial. Only learner-initiated content. Sounds small — it's the single biggest signal that the platform is for them, not at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ADVOCACY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Student advocacy — turning learners into the brand.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C6B"/>
                </a:solidFill>
                <a:latin typeface="Calibri"/>
              </a:rPr>
              <a:t>Most universities chase influencers. We have something better — 80,000 learners with real stories. Three layers, increasing intensity: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09847" y="2011680"/>
            <a:ext cx="4572000" cy="1234440"/>
          </a:xfrm>
          <a:prstGeom prst="roundRect">
            <a:avLst>
              <a:gd name="adj" fmla="val 4000"/>
            </a:avLst>
          </a:prstGeom>
          <a:solidFill>
            <a:srgbClr val="00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38447" y="2176272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C72C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447" y="278892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learners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4327" y="2148840"/>
            <a:ext cx="2834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LEVEL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27" y="2377440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Amity Voices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4327" y="2788920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Top 20 storytellers. Co-create AmityVoices podcast, IG reels, paid LinkedIn collabs. Quarterly retainer + branded merch + Ignite VIP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8247" y="3337560"/>
            <a:ext cx="7315200" cy="123444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6847" y="3502152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C72C"/>
                </a:solidFill>
                <a:latin typeface="Calibri"/>
              </a:rPr>
              <a:t>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6847" y="41148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learners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2727" y="347472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LEVEL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2727" y="3703320"/>
            <a:ext cx="5577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Amity Champions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727" y="4114800"/>
            <a:ext cx="5577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Trusted learners running circles, hosting AMAs, moderating beSocial. ₹3,000/month stipend + Ignite priority + 'Champion' on certificate.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8047" y="46634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1E8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647" y="4828032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C72C"/>
                </a:solidFill>
                <a:latin typeface="Calibri"/>
              </a:rPr>
              <a:t>2,000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647" y="544068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learners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2527" y="4800600"/>
            <a:ext cx="8778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LEVEL 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2527" y="5029200"/>
            <a:ext cx="8778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Amity Ambassadors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2527" y="5440680"/>
            <a:ext cx="8778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Anyone who has shared one piece of public content with #AmityOnline. Self-enrol. Auto-perks: monthly digital drop, early Ignite access, exclusive AMA invites.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Honest take: nothing scales until something becomes a status symbol. 'Champion' on the certificate is the smallest, cheapest thing — and probably the highest-leverage move in this whole deck.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|  REFERRAL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Referrals: the 'Pass The Flame' programme.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Referrals are the cheapest acquisition channel in higher ed. Most online universities run a flat ₹5K cashback. We can do something more interesting — and probably 3× more effective.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6858000" cy="4434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2E5E"/>
                </a:solidFill>
                <a:latin typeface="Calibri"/>
              </a:rPr>
              <a:t>Three levers, stacked.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72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2608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02E5E"/>
                </a:solidFill>
                <a:latin typeface="Calibri"/>
              </a:rPr>
              <a:t>₹10,000 fee waiver — for the friend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46120"/>
            <a:ext cx="5760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Front-load the value to the joiner, not the referrer. Friend gets a real discount; referrer gets the credit for the discount. Trust &gt; cashback.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72C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02E5E"/>
                </a:solidFill>
                <a:latin typeface="Calibri"/>
              </a:rPr>
              <a:t>Tier kicker — for the referrer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43400"/>
            <a:ext cx="5760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1 referral: limited-edition Amity Ignite jacket. 3 referrals: free seat at next Ignite + 'Top Referrer' title at convocation. 5 referrals: paid masterclass-mentor slot. Ladders &gt; flat rates.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72C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2064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02E5E"/>
                </a:solidFill>
                <a:latin typeface="Calibri"/>
              </a:rPr>
              <a:t>Unlock for the cohort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440680"/>
            <a:ext cx="5760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Once a cohort hits 50 referrals, the whole cohort gets an exclusive event with a marquee speaker (think: Sundar Pichai's ed-policy team or Falguni Nayar). Group goal &gt; individual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0" y="2011680"/>
            <a:ext cx="4251960" cy="443484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2240280"/>
            <a:ext cx="3794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72C"/>
                </a:solidFill>
                <a:latin typeface="Calibri"/>
              </a:rPr>
              <a:t>The math.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3464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Year-1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06324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5,400 referral enrolments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47472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CAC blended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70332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₹6,200 (vs ₹14k organic)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11480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Net-new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34340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₹64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5488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Programme 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9834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₹7.4 Cr (waivers + perks)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39496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D96B"/>
                </a:solidFill>
                <a:latin typeface="Calibri"/>
              </a:rPr>
              <a:t>Implied ROI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62356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8.6×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55C6B"/>
                </a:solidFill>
                <a:latin typeface="Calibri"/>
              </a:rPr>
              <a:t>Real talk: I'd cap the programme at 8,000 referrals/year to protect quality. Volume without intent is just churn delayed.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FFC72C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06240"/>
            <a:ext cx="822960" cy="6400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434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How student engagement drives retention &amp; brand advocacy.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D96B"/>
                </a:solidFill>
                <a:latin typeface="Calibri"/>
              </a:rPr>
              <a:t>A short, board-ready leadership story — five slides.</a:t>
            </a:r>
          </a:p>
        </p:txBody>
      </p:sp>
      <p:pic>
        <p:nvPicPr>
          <p:cNvPr id="7" name="Picture 6" descr="logo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5201" y="228600"/>
            <a:ext cx="1255014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1 OF 5  |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Right now, 1 in 3 of our learners is quietly checking out.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17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486400" cy="493776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INDUSTRY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493776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0" b="1" i="0">
                <a:solidFill>
                  <a:srgbClr val="FFFFFF"/>
                </a:solidFill>
                <a:latin typeface="Calibri"/>
              </a:rPr>
              <a:t>70-80%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4937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of EdTech learners in India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churn within 30 days of enrolment.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D96B"/>
                </a:solidFill>
                <a:latin typeface="Calibri"/>
              </a:rPr>
              <a:t>Source: ProductGrowth.in, 2025 · The Hindu, Oct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Here's the part that should worry us: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02E5E"/>
                </a:solidFill>
                <a:latin typeface="Calibri"/>
              </a:rPr>
              <a:t>Most of those churned learners don't drop out loudly. They drift. </a:t>
            </a:r>
            <a:r>
              <a:rPr sz="1200">
                <a:solidFill>
                  <a:srgbClr val="141B2D"/>
                </a:solidFill>
                <a:latin typeface="Calibri"/>
              </a:rPr>
              <a:t>They miss two weeks. Then a month. Then they're a tab in someone's browser called 'finish later' that never gets reopened.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02E5E"/>
                </a:solidFill>
                <a:latin typeface="Calibri"/>
              </a:rPr>
              <a:t>And the brutal economics: </a:t>
            </a:r>
            <a:r>
              <a:rPr sz="1200">
                <a:solidFill>
                  <a:srgbClr val="141B2D"/>
                </a:solidFill>
                <a:latin typeface="Calibri"/>
              </a:rPr>
              <a:t>the cost of acquiring an Indian online-degree learner has tripled since 2022 (~₹14K to ~₹42K blended). When a learner ghosts in week 6, we don't just lose tuition — we lose the next five learners they would have referred.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983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02E5E"/>
                </a:solidFill>
                <a:latin typeface="Calibri"/>
              </a:rPr>
              <a:t>So the question isn't </a:t>
            </a:r>
            <a:r>
              <a:rPr sz="1200">
                <a:solidFill>
                  <a:srgbClr val="141B2D"/>
                </a:solidFill>
                <a:latin typeface="Calibri"/>
              </a:rPr>
              <a:t>“how do we get more leads?” It's “how do we make the learner who's already paid us feel something on day 14 that makes them open the LMS again?”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2 OF 5  | 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Engagement is the variable. Everything else follows.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C6B"/>
                </a:solidFill>
                <a:latin typeface="Calibri"/>
              </a:rPr>
              <a:t>Three numbers that, in my view, should be on the leadership dashboard before any growth metric: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2103120"/>
          <a:ext cx="594360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210312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331720"/>
            <a:ext cx="4892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Read the chart this way: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880360"/>
            <a:ext cx="4892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→ Move a learner from low to medium engagement and completion jumps 24 points.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337560"/>
            <a:ext cx="4892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More than any curriculum redesign would produce.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31920"/>
            <a:ext cx="4892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→ NPS is the leading indicator, not the lagging 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389120"/>
            <a:ext cx="4892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Learners decide they'll recommend us by month 3 — long before they finish.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983480"/>
            <a:ext cx="4892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002E5E"/>
                </a:solidFill>
                <a:latin typeface="Calibri"/>
              </a:rPr>
              <a:t>→ The top tier refers at 21%.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5440680"/>
            <a:ext cx="4892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Reach 5% of our 80K learners into the top tier and we get ~840 organic enrolments. That's ~₹10 Cr in revenue we're not budgeting for.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3 OF 5  |  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Three levers. That's the whole strategy.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19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C6B"/>
                </a:solidFill>
                <a:latin typeface="Calibri"/>
              </a:rPr>
              <a:t>If we get these three right, every other engagement metric improves automatically.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09728" cy="13258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0">
                <a:solidFill>
                  <a:srgbClr val="141B2D"/>
                </a:solidFill>
                <a:latin typeface="Calibri"/>
              </a:rPr>
              <a:t>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17627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RITUAL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2E5E"/>
                </a:solidFill>
                <a:latin typeface="Calibri"/>
              </a:rPr>
              <a:t>Cohort, not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4560"/>
            <a:ext cx="548640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Stop treating learners as a list. Group them into 24-person Circles on Day 1, hold the same Circle for the whole degree, layer rituals on top: weekly check-in, monthly Champion-led huddle, quarterly Ignite. Cohorts retain 2-3× better than open courses everywhere this has been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1124712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109728" cy="13258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4904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0">
                <a:solidFill>
                  <a:srgbClr val="141B2D"/>
                </a:solidFill>
                <a:latin typeface="Calibri"/>
              </a:rPr>
              <a:t>🏛️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3931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2E5E"/>
                </a:solidFill>
                <a:latin typeface="Calibri"/>
              </a:rPr>
              <a:t>Make the campus visible.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657600"/>
            <a:ext cx="548640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Even one branded on-campus moment — Ignite — gives the learner a photograph they'll show their family. Family validation is the most under-priced retention tool in Indian online ed. Convocation is too late; Ignite at month 6 is the right moment.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37760"/>
            <a:ext cx="1124712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109728" cy="132588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1208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0">
                <a:solidFill>
                  <a:srgbClr val="141B2D"/>
                </a:solidFill>
                <a:latin typeface="Calibri"/>
              </a:rPr>
              <a:t>🛰️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1023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A4A"/>
                </a:solidFill>
                <a:latin typeface="Calibri"/>
              </a:rPr>
              <a:t>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303520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2E5E"/>
                </a:solidFill>
                <a:latin typeface="Calibri"/>
              </a:rPr>
              <a:t>Catch the drift early.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120640"/>
            <a:ext cx="548640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Every learner gets an early-warning score (logins, video completion, assignment lag, beSocial activity). When the score crosses a threshold, a human — not an automated email — calls them. AI flags it; people fix it. Pilots in the US show 28% retention lift from this combo.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4 OF 5  |  THE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Engagement compounds. Quietly. Then suddenly.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20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When engagement is high, retention rises. When retention rises, advocacy follows. When advocacy follows, marketing cost per enrolment drops. The flywheel doesn't need a lot of force — it needs to never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06040" cy="320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Engaged</a:t>
            </a:r>
          </a:p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learner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finishes 4 modules in a 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37744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377440"/>
            <a:ext cx="2606040" cy="3200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42316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8346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Higher</a:t>
            </a:r>
          </a:p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completion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4048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graduates. NPS = 60+.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37744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2606040" cy="320040"/>
          </a:xfrm>
          <a:prstGeom prst="rect">
            <a:avLst/>
          </a:prstGeom>
          <a:solidFill>
            <a:srgbClr val="002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42316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Public</a:t>
            </a:r>
          </a:p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advocacy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posts a photo from Ignite.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237744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560" y="2377440"/>
            <a:ext cx="2606040" cy="320040"/>
          </a:xfrm>
          <a:prstGeom prst="rect">
            <a:avLst/>
          </a:prstGeom>
          <a:solidFill>
            <a:srgbClr val="D9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42316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8346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Lower</a:t>
            </a:r>
          </a:p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E5E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84048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Three friends enrol next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38328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C72C"/>
                </a:solidFill>
                <a:latin typeface="Calibr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38328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C72C"/>
                </a:solidFill>
                <a:latin typeface="Calibri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38328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C72C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002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1">
                <a:solidFill>
                  <a:srgbClr val="FFC72C"/>
                </a:solidFill>
                <a:latin typeface="Calibri"/>
              </a:rPr>
              <a:t>Last year we spent ₹120 Cr on marketing. If 10% of our learners reach Step 4 — that's a free ₹37 Cr engine running in the background. Engagement isn't a brand initiative. It's our cheapest CFO.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5 OF 5  | 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02E5E"/>
                </a:solidFill>
                <a:latin typeface="Calibri"/>
              </a:rPr>
              <a:t>What I'm asking for. And the 90-day plan.</a:t>
            </a:r>
          </a:p>
        </p:txBody>
      </p:sp>
      <p:pic>
        <p:nvPicPr>
          <p:cNvPr id="5" name="Picture 4" descr="logo_whi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370" y="228600"/>
            <a:ext cx="121484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|  Paras Jain  |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21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486400" cy="4983480"/>
          </a:xfrm>
          <a:prstGeom prst="roundRect">
            <a:avLst>
              <a:gd name="adj" fmla="val 4000"/>
            </a:avLst>
          </a:prstGeom>
          <a:solidFill>
            <a:srgbClr val="00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72C"/>
                </a:solidFill>
                <a:latin typeface="Calibri"/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493776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Approve a 12-month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Engagement Charter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with one shared owner.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Headcount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9028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+4: Engagement Lead, Community Manager, Data Analyst, Producer.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10328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5721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₹14 Cr (≈11.6% of current marketing spend) — half from re-allocating performance media.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77256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North-Star 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24144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Engagement Score (composite of activity, completion, NPS) shown on every Monday review.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044184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C72C"/>
                </a:solidFill>
                <a:latin typeface="Calibri"/>
              </a:rPr>
              <a:t>Single 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Reports to the Marketing Manager. Cross-functional with Academics + Product.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554480"/>
            <a:ext cx="5989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E5E"/>
                </a:solidFill>
                <a:latin typeface="Calibri"/>
              </a:rPr>
              <a:t>First 90 days, before we ask for any more budget: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05740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057400"/>
            <a:ext cx="91440" cy="13716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194560"/>
            <a:ext cx="5989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DAYS 0-30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23160"/>
            <a:ext cx="5715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Diagnose &amp;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788920"/>
            <a:ext cx="57150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Stand up the Engagement Score. Audit beSocial activity by program. Pick 1,000 learners for Ignite Cohort 1 (Sep). Launch the Onboard 7-Day Sprint as an A/B against current onboarding.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52044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20440"/>
            <a:ext cx="91440" cy="13716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657600"/>
            <a:ext cx="5989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DAYS 31-60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886200"/>
            <a:ext cx="5715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Ship &amp;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57150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Run Ignite C1 — fully measure NSAT, NPS, refer-back. Recruit first 50 Amity Champions. Pilot Cohort Circles on the latest MBA batch. Begin AmityVoices podcast soft-launch.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98348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4983480"/>
            <a:ext cx="91440" cy="13716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120640"/>
            <a:ext cx="5989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C72C"/>
                </a:solidFill>
                <a:latin typeface="Calibri"/>
              </a:rPr>
              <a:t>DAYS 61-90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349240"/>
            <a:ext cx="5715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E5E"/>
                </a:solidFill>
                <a:latin typeface="Calibri"/>
              </a:rPr>
              <a:t>Prove &amp; scale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715000"/>
            <a:ext cx="57150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Publish the engagement report. If NPS is +15 vs control and 30-day churn drops by 8 pts, expand to all programs. If not, kill what didn't work, double down on what did. Honest &gt; hopeful.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533906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FFD96B"/>
                </a:solidFill>
                <a:latin typeface="Calibri"/>
              </a:rPr>
              <a:t>I'd love to talk through any of this.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06240"/>
            <a:ext cx="54864" cy="182880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C72C"/>
                </a:solidFill>
                <a:latin typeface="Calibri"/>
              </a:rPr>
              <a:t>Submitted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FD96B"/>
                </a:solidFill>
                <a:latin typeface="Calibri"/>
              </a:rPr>
              <a:t>Marketing Manager candidate · Amity University Online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0624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C72C"/>
                </a:solidFill>
                <a:latin typeface="Calibri"/>
              </a:rPr>
              <a:t>A small note.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52628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solidFill>
                  <a:srgbClr val="FFFFFF"/>
                </a:solidFill>
                <a:latin typeface="Calibri"/>
              </a:rPr>
              <a:t>Everything in this deck is built around one belief: the next great Indian university won't be the one that scales the cheapest content — it'll be the one that makes the loneliest learner feel found. I think Amity Online is the closest to actually doing that. Would love to help.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