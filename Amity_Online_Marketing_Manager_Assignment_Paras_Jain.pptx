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0E2A55"/>
                </a:solidFill>
              </a:rPr>
              <a:t>Outcomes by engagement tier. Illustrative model.</a:t>
            </a:r>
          </a:p>
        </c:rich>
      </c:tx>
      <c:layout/>
      <c:overlay val="0"/>
    </c:title>
    <c:autoTitleDeleted val="0"/>
    <c:plotArea>
      <c:barChart>
        <c:barDir val="col"/>
        <c:grouping val="clustered"/>
        <c:ser>
          <c:idx val="0"/>
          <c:order val="0"/>
          <c:tx>
            <c:strRef>
              <c:f>Sheet1!$B$1</c:f>
              <c:strCache>
                <c:ptCount val="1"/>
                <c:pt idx="0">
                  <c:v>Course completion (%)</c:v>
                </c:pt>
              </c:strCache>
            </c:strRef>
          </c:tx>
          <c:spPr>
            <a:solidFill>
              <a:srgbClr val="0E2A55"/>
            </a:solidFill>
          </c:spPr>
          <c:cat>
            <c:strRef>
              <c:f>Sheet1!$A$2:$A$4</c:f>
              <c:strCache>
                <c:ptCount val="3"/>
                <c:pt idx="0">
                  <c:v>Low engagement</c:v>
                </c:pt>
                <c:pt idx="1">
                  <c:v>Medium</c:v>
                </c:pt>
                <c:pt idx="2">
                  <c:v>High engagement</c:v>
                </c:pt>
              </c:strCache>
            </c:strRef>
          </c:cat>
          <c:val>
            <c:numRef>
              <c:f>Sheet1!$B$2:$B$4</c:f>
              <c:numCache>
                <c:formatCode>General</c:formatCode>
                <c:ptCount val="3"/>
                <c:pt idx="0">
                  <c:v>35</c:v>
                </c:pt>
                <c:pt idx="1">
                  <c:v>60</c:v>
                </c:pt>
                <c:pt idx="2">
                  <c:v>85</c:v>
                </c:pt>
              </c:numCache>
            </c:numRef>
          </c:val>
        </c:ser>
        <c:ser>
          <c:idx val="1"/>
          <c:order val="1"/>
          <c:tx>
            <c:strRef>
              <c:f>Sheet1!$C$1</c:f>
              <c:strCache>
                <c:ptCount val="1"/>
                <c:pt idx="0">
                  <c:v>Net Promoter Score</c:v>
                </c:pt>
              </c:strCache>
            </c:strRef>
          </c:tx>
          <c:spPr>
            <a:solidFill>
              <a:srgbClr val="F2B61A"/>
            </a:solidFill>
          </c:spPr>
          <c:cat>
            <c:strRef>
              <c:f>Sheet1!$A$2:$A$4</c:f>
              <c:strCache>
                <c:ptCount val="3"/>
                <c:pt idx="0">
                  <c:v>Low engagement</c:v>
                </c:pt>
                <c:pt idx="1">
                  <c:v>Medium</c:v>
                </c:pt>
                <c:pt idx="2">
                  <c:v>High engagement</c:v>
                </c:pt>
              </c:strCache>
            </c:strRef>
          </c:cat>
          <c:val>
            <c:numRef>
              <c:f>Sheet1!$C$2:$C$4</c:f>
              <c:numCache>
                <c:formatCode>General</c:formatCode>
                <c:ptCount val="3"/>
                <c:pt idx="0">
                  <c:v>10</c:v>
                </c:pt>
                <c:pt idx="1">
                  <c:v>30</c:v>
                </c:pt>
                <c:pt idx="2">
                  <c:v>55</c:v>
                </c:pt>
              </c:numCache>
            </c:numRef>
          </c:val>
        </c:ser>
        <c:ser>
          <c:idx val="2"/>
          <c:order val="2"/>
          <c:tx>
            <c:strRef>
              <c:f>Sheet1!$D$1</c:f>
              <c:strCache>
                <c:ptCount val="1"/>
                <c:pt idx="0">
                  <c:v>Referral rate (%)</c:v>
                </c:pt>
              </c:strCache>
            </c:strRef>
          </c:tx>
          <c:spPr>
            <a:solidFill>
              <a:srgbClr val="555C6B"/>
            </a:solidFill>
          </c:spPr>
          <c:cat>
            <c:strRef>
              <c:f>Sheet1!$A$2:$A$4</c:f>
              <c:strCache>
                <c:ptCount val="3"/>
                <c:pt idx="0">
                  <c:v>Low engagement</c:v>
                </c:pt>
                <c:pt idx="1">
                  <c:v>Medium</c:v>
                </c:pt>
                <c:pt idx="2">
                  <c:v>High engagement</c:v>
                </c:pt>
              </c:strCache>
            </c:strRef>
          </c:cat>
          <c:val>
            <c:numRef>
              <c:f>Sheet1!$D$2:$D$4</c:f>
              <c:numCache>
                <c:formatCode>General</c:formatCode>
                <c:ptCount val="3"/>
                <c:pt idx="0">
                  <c:v>2</c:v>
                </c:pt>
                <c:pt idx="1">
                  <c:v>7</c:v>
                </c:pt>
                <c:pt idx="2">
                  <c:v>18</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txPr>
        <a:bodyPr/>
        <a:lstStyle/>
        <a:p>
          <a:pPr>
            <a:defRPr sz="10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814887"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595431" cy="548640"/>
          </a:xfrm>
          <a:prstGeom prst="rect">
            <a:avLst/>
          </a:prstGeom>
        </p:spPr>
      </p:pic>
      <p:sp>
        <p:nvSpPr>
          <p:cNvPr id="5" name="TextBox 4"/>
          <p:cNvSpPr txBox="1"/>
          <p:nvPr/>
        </p:nvSpPr>
        <p:spPr>
          <a:xfrm>
            <a:off x="640080" y="2011680"/>
            <a:ext cx="6400800" cy="365760"/>
          </a:xfrm>
          <a:prstGeom prst="rect">
            <a:avLst/>
          </a:prstGeom>
          <a:noFill/>
        </p:spPr>
        <p:txBody>
          <a:bodyPr wrap="square" lIns="45720" rIns="45720" tIns="18288" bIns="18288" anchor="t">
            <a:spAutoFit/>
          </a:bodyPr>
          <a:lstStyle/>
          <a:p>
            <a:pPr algn="l">
              <a:lnSpc>
                <a:spcPct val="100000"/>
              </a:lnSpc>
            </a:pPr>
            <a:r>
              <a:rPr sz="1050" b="1" i="0">
                <a:solidFill>
                  <a:srgbClr val="F2B61A"/>
                </a:solidFill>
                <a:latin typeface="Calibri"/>
              </a:rPr>
              <a:t>MARKETING MANAGER   ASSIGNMENT SUBMISSION</a:t>
            </a:r>
          </a:p>
        </p:txBody>
      </p:sp>
      <p:sp>
        <p:nvSpPr>
          <p:cNvPr id="6" name="TextBox 5"/>
          <p:cNvSpPr txBox="1"/>
          <p:nvPr/>
        </p:nvSpPr>
        <p:spPr>
          <a:xfrm>
            <a:off x="640080" y="2423160"/>
            <a:ext cx="10058400" cy="2194560"/>
          </a:xfrm>
          <a:prstGeom prst="rect">
            <a:avLst/>
          </a:prstGeom>
          <a:noFill/>
        </p:spPr>
        <p:txBody>
          <a:bodyPr wrap="square" lIns="45720" rIns="45720" tIns="18288" bIns="18288" anchor="t">
            <a:spAutoFit/>
          </a:bodyPr>
          <a:lstStyle/>
          <a:p>
            <a:pPr algn="l">
              <a:lnSpc>
                <a:spcPct val="95000"/>
              </a:lnSpc>
            </a:pPr>
            <a:r>
              <a:rPr sz="5800" b="1" i="0">
                <a:solidFill>
                  <a:srgbClr val="FFFFFF"/>
                </a:solidFill>
                <a:latin typeface="Calibri"/>
              </a:rPr>
              <a:t>Reimagining the</a:t>
            </a:r>
          </a:p>
          <a:p>
            <a:pPr algn="l">
              <a:lnSpc>
                <a:spcPct val="95000"/>
              </a:lnSpc>
            </a:pPr>
            <a:r>
              <a:rPr sz="5800" b="1" i="0">
                <a:solidFill>
                  <a:srgbClr val="FFFFFF"/>
                </a:solidFill>
                <a:latin typeface="Calibri"/>
              </a:rPr>
              <a:t>Online Learner</a:t>
            </a:r>
          </a:p>
          <a:p>
            <a:pPr algn="l">
              <a:lnSpc>
                <a:spcPct val="95000"/>
              </a:lnSpc>
            </a:pPr>
            <a:r>
              <a:rPr sz="5800" b="1" i="0">
                <a:solidFill>
                  <a:srgbClr val="FFFFFF"/>
                </a:solidFill>
                <a:latin typeface="Calibri"/>
              </a:rPr>
              <a:t>Experience.</a:t>
            </a:r>
          </a:p>
        </p:txBody>
      </p:sp>
      <p:sp>
        <p:nvSpPr>
          <p:cNvPr id="7" name="TextBox 6"/>
          <p:cNvSpPr txBox="1"/>
          <p:nvPr/>
        </p:nvSpPr>
        <p:spPr>
          <a:xfrm>
            <a:off x="640080" y="4846320"/>
            <a:ext cx="10058400" cy="411480"/>
          </a:xfrm>
          <a:prstGeom prst="rect">
            <a:avLst/>
          </a:prstGeom>
          <a:noFill/>
        </p:spPr>
        <p:txBody>
          <a:bodyPr wrap="square" lIns="45720" rIns="45720" tIns="18288" bIns="18288" anchor="t">
            <a:spAutoFit/>
          </a:bodyPr>
          <a:lstStyle/>
          <a:p>
            <a:pPr algn="l">
              <a:lnSpc>
                <a:spcPct val="125000"/>
              </a:lnSpc>
            </a:pPr>
            <a:r>
              <a:rPr sz="1400" b="0" i="1">
                <a:solidFill>
                  <a:srgbClr val="FFFFFF"/>
                </a:solidFill>
                <a:latin typeface="Calibri"/>
              </a:rPr>
              <a:t>A launch, a yearlong roadmap, and a leadership story.</a:t>
            </a:r>
          </a:p>
        </p:txBody>
      </p:sp>
      <p:sp>
        <p:nvSpPr>
          <p:cNvPr id="8" name="TextBox 7"/>
          <p:cNvSpPr txBox="1"/>
          <p:nvPr/>
        </p:nvSpPr>
        <p:spPr>
          <a:xfrm>
            <a:off x="640080" y="5120640"/>
            <a:ext cx="10058400" cy="411480"/>
          </a:xfrm>
          <a:prstGeom prst="rect">
            <a:avLst/>
          </a:prstGeom>
          <a:noFill/>
        </p:spPr>
        <p:txBody>
          <a:bodyPr wrap="square" lIns="45720" rIns="45720" tIns="18288" bIns="18288" anchor="t">
            <a:spAutoFit/>
          </a:bodyPr>
          <a:lstStyle/>
          <a:p>
            <a:pPr algn="l">
              <a:lnSpc>
                <a:spcPct val="125000"/>
              </a:lnSpc>
            </a:pPr>
            <a:r>
              <a:rPr sz="1400" b="0" i="1">
                <a:solidFill>
                  <a:srgbClr val="F8D36F"/>
                </a:solidFill>
                <a:latin typeface="Calibri"/>
              </a:rPr>
              <a:t>Built for Amity University Online's 2,50,000+ learners.</a:t>
            </a:r>
          </a:p>
        </p:txBody>
      </p:sp>
      <p:sp>
        <p:nvSpPr>
          <p:cNvPr id="9" name="TextBox 8"/>
          <p:cNvSpPr txBox="1"/>
          <p:nvPr/>
        </p:nvSpPr>
        <p:spPr>
          <a:xfrm>
            <a:off x="640080" y="5943600"/>
            <a:ext cx="4572000" cy="292608"/>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SUBMITTED BY</a:t>
            </a:r>
          </a:p>
        </p:txBody>
      </p:sp>
      <p:sp>
        <p:nvSpPr>
          <p:cNvPr id="10" name="TextBox 9"/>
          <p:cNvSpPr txBox="1"/>
          <p:nvPr/>
        </p:nvSpPr>
        <p:spPr>
          <a:xfrm>
            <a:off x="640080" y="6199632"/>
            <a:ext cx="4572000" cy="365760"/>
          </a:xfrm>
          <a:prstGeom prst="rect">
            <a:avLst/>
          </a:prstGeom>
          <a:noFill/>
        </p:spPr>
        <p:txBody>
          <a:bodyPr wrap="square" lIns="45720" rIns="45720" tIns="18288" bIns="18288" anchor="t">
            <a:spAutoFit/>
          </a:bodyPr>
          <a:lstStyle/>
          <a:p>
            <a:pPr algn="l">
              <a:lnSpc>
                <a:spcPct val="125000"/>
              </a:lnSpc>
            </a:pPr>
            <a:r>
              <a:rPr sz="1800" b="1" i="0">
                <a:solidFill>
                  <a:srgbClr val="FFFFFF"/>
                </a:solidFill>
                <a:latin typeface="Calibri"/>
              </a:rPr>
              <a:t>Paras Jain</a:t>
            </a:r>
          </a:p>
        </p:txBody>
      </p:sp>
      <p:sp>
        <p:nvSpPr>
          <p:cNvPr id="11" name="TextBox 10"/>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2" name="TextBox 11"/>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A QUICK READ BEFORE WE DIVE IN</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How I approached this brief.</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2 / 19</a:t>
            </a:r>
          </a:p>
        </p:txBody>
      </p:sp>
      <p:sp>
        <p:nvSpPr>
          <p:cNvPr id="7" name="TextBox 6"/>
          <p:cNvSpPr txBox="1"/>
          <p:nvPr/>
        </p:nvSpPr>
        <p:spPr>
          <a:xfrm>
            <a:off x="457200" y="1417320"/>
            <a:ext cx="11247120" cy="914400"/>
          </a:xfrm>
          <a:prstGeom prst="rect">
            <a:avLst/>
          </a:prstGeom>
          <a:noFill/>
        </p:spPr>
        <p:txBody>
          <a:bodyPr wrap="square" lIns="45720" rIns="45720" tIns="18288" bIns="18288" anchor="t">
            <a:spAutoFit/>
          </a:bodyPr>
          <a:lstStyle/>
          <a:p>
            <a:pPr algn="l">
              <a:lnSpc>
                <a:spcPct val="145000"/>
              </a:lnSpc>
            </a:pPr>
            <a:r>
              <a:rPr sz="1250" b="0" i="0">
                <a:solidFill>
                  <a:srgbClr val="141B2D"/>
                </a:solidFill>
                <a:latin typeface="Calibri"/>
              </a:rPr>
              <a:t>Before I drafted a single deliverable, I read what Amity University Online publishes about itself. The official site amityonline.com, the Chairman's interview on Careers360, and the beSocial launch blog. Three patterns kept showing up. The whole deck is built around them.</a:t>
            </a:r>
          </a:p>
        </p:txBody>
      </p:sp>
      <p:sp>
        <p:nvSpPr>
          <p:cNvPr id="8" name="Rounded Rectangle 7"/>
          <p:cNvSpPr/>
          <p:nvPr/>
        </p:nvSpPr>
        <p:spPr>
          <a:xfrm>
            <a:off x="457200" y="2468880"/>
            <a:ext cx="365760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F2B61A"/>
                </a:solidFill>
                <a:latin typeface="Calibri"/>
              </a:rPr>
              <a:t>01</a:t>
            </a:r>
          </a:p>
        </p:txBody>
      </p:sp>
      <p:sp>
        <p:nvSpPr>
          <p:cNvPr id="10" name="TextBox 9"/>
          <p:cNvSpPr txBox="1"/>
          <p:nvPr/>
        </p:nvSpPr>
        <p:spPr>
          <a:xfrm>
            <a:off x="73152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Belonging is the missing product.</a:t>
            </a:r>
          </a:p>
        </p:txBody>
      </p:sp>
      <p:sp>
        <p:nvSpPr>
          <p:cNvPr id="11" name="TextBox 10"/>
          <p:cNvSpPr txBox="1"/>
          <p:nvPr/>
        </p:nvSpPr>
        <p:spPr>
          <a:xfrm>
            <a:off x="73152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41B2D"/>
                </a:solidFill>
                <a:latin typeface="Calibri"/>
              </a:rPr>
              <a:t>Amity Online has 2,50,000+ learners but most never visit the Noida campus. The university launched beSocial in June 2024 to build a virtual campus. That is the right instinct. We can finish the job with one in person moment a year.</a:t>
            </a:r>
          </a:p>
        </p:txBody>
      </p:sp>
      <p:sp>
        <p:nvSpPr>
          <p:cNvPr id="12" name="Rounded Rectangle 11"/>
          <p:cNvSpPr/>
          <p:nvPr/>
        </p:nvSpPr>
        <p:spPr>
          <a:xfrm>
            <a:off x="4297680" y="2468880"/>
            <a:ext cx="365760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F2B61A"/>
                </a:solidFill>
                <a:latin typeface="Calibri"/>
              </a:rPr>
              <a:t>02</a:t>
            </a:r>
          </a:p>
        </p:txBody>
      </p:sp>
      <p:sp>
        <p:nvSpPr>
          <p:cNvPr id="14" name="TextBox 13"/>
          <p:cNvSpPr txBox="1"/>
          <p:nvPr/>
        </p:nvSpPr>
        <p:spPr>
          <a:xfrm>
            <a:off x="457200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Engagement is the leading number.</a:t>
            </a:r>
          </a:p>
        </p:txBody>
      </p:sp>
      <p:sp>
        <p:nvSpPr>
          <p:cNvPr id="15" name="TextBox 14"/>
          <p:cNvSpPr txBox="1"/>
          <p:nvPr/>
        </p:nvSpPr>
        <p:spPr>
          <a:xfrm>
            <a:off x="457200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41B2D"/>
                </a:solidFill>
                <a:latin typeface="Calibri"/>
              </a:rPr>
              <a:t>An online learner who finishes four modules on time is much more likely to graduate, refer a friend, and re enrol. Most universities chase enrolment metrics. The lever that actually moves enrolment lives one step earlier, in engagement.</a:t>
            </a:r>
          </a:p>
        </p:txBody>
      </p:sp>
      <p:sp>
        <p:nvSpPr>
          <p:cNvPr id="16" name="Rounded Rectangle 15"/>
          <p:cNvSpPr/>
          <p:nvPr/>
        </p:nvSpPr>
        <p:spPr>
          <a:xfrm>
            <a:off x="8138160" y="2468880"/>
            <a:ext cx="365760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697480"/>
            <a:ext cx="914400" cy="457200"/>
          </a:xfrm>
          <a:prstGeom prst="rect">
            <a:avLst/>
          </a:prstGeom>
          <a:noFill/>
        </p:spPr>
        <p:txBody>
          <a:bodyPr wrap="square" lIns="45720" rIns="45720" tIns="18288" bIns="18288" anchor="t">
            <a:spAutoFit/>
          </a:bodyPr>
          <a:lstStyle/>
          <a:p>
            <a:pPr algn="l">
              <a:lnSpc>
                <a:spcPct val="125000"/>
              </a:lnSpc>
            </a:pPr>
            <a:r>
              <a:rPr sz="2400" b="1" i="0">
                <a:solidFill>
                  <a:srgbClr val="F2B61A"/>
                </a:solidFill>
                <a:latin typeface="Calibri"/>
              </a:rPr>
              <a:t>03</a:t>
            </a:r>
          </a:p>
        </p:txBody>
      </p:sp>
      <p:sp>
        <p:nvSpPr>
          <p:cNvPr id="18" name="TextBox 17"/>
          <p:cNvSpPr txBox="1"/>
          <p:nvPr/>
        </p:nvSpPr>
        <p:spPr>
          <a:xfrm>
            <a:off x="8412480" y="3246120"/>
            <a:ext cx="3108960" cy="59436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Our biggest growth channel is already inside the platform.</a:t>
            </a:r>
          </a:p>
        </p:txBody>
      </p:sp>
      <p:sp>
        <p:nvSpPr>
          <p:cNvPr id="19" name="TextBox 18"/>
          <p:cNvSpPr txBox="1"/>
          <p:nvPr/>
        </p:nvSpPr>
        <p:spPr>
          <a:xfrm>
            <a:off x="8412480" y="3749040"/>
            <a:ext cx="3108960" cy="822960"/>
          </a:xfrm>
          <a:prstGeom prst="rect">
            <a:avLst/>
          </a:prstGeom>
          <a:noFill/>
        </p:spPr>
        <p:txBody>
          <a:bodyPr wrap="square" lIns="45720" rIns="45720" tIns="18288" bIns="18288" anchor="t">
            <a:spAutoFit/>
          </a:bodyPr>
          <a:lstStyle/>
          <a:p>
            <a:pPr algn="l">
              <a:lnSpc>
                <a:spcPct val="140000"/>
              </a:lnSpc>
            </a:pPr>
            <a:r>
              <a:rPr sz="1050" b="0" i="0">
                <a:solidFill>
                  <a:srgbClr val="141B2D"/>
                </a:solidFill>
                <a:latin typeface="Calibri"/>
              </a:rPr>
              <a:t>We have 2,50,000+ learners and an alumni base that grows every semester. It is the cheapest acquisition channel in higher education. Today, almost nothing systematic turns a happy learner into a referrer. Fixable miss.</a:t>
            </a:r>
          </a:p>
        </p:txBody>
      </p:sp>
      <p:sp>
        <p:nvSpPr>
          <p:cNvPr id="20" name="Rounded Rectangle 19"/>
          <p:cNvSpPr/>
          <p:nvPr/>
        </p:nvSpPr>
        <p:spPr>
          <a:xfrm>
            <a:off x="457200" y="4937760"/>
            <a:ext cx="11247120" cy="141732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120640"/>
            <a:ext cx="10972800" cy="32004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FRAMEWORKS I AM USING (NAMED, SO WE CAN AUDIT THEM)</a:t>
            </a:r>
          </a:p>
        </p:txBody>
      </p:sp>
      <p:sp>
        <p:nvSpPr>
          <p:cNvPr id="22" name="TextBox 21"/>
          <p:cNvSpPr txBox="1"/>
          <p:nvPr/>
        </p:nvSpPr>
        <p:spPr>
          <a:xfrm>
            <a:off x="59436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F8D36F"/>
                </a:solidFill>
                <a:latin typeface="Calibri"/>
              </a:rPr>
              <a:t>Jobs to be Done</a:t>
            </a:r>
          </a:p>
        </p:txBody>
      </p:sp>
      <p:sp>
        <p:nvSpPr>
          <p:cNvPr id="23" name="TextBox 22"/>
          <p:cNvSpPr txBox="1"/>
          <p:nvPr/>
        </p:nvSpPr>
        <p:spPr>
          <a:xfrm>
            <a:off x="59436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Ask what the learner is really hiring the degree to do.</a:t>
            </a:r>
          </a:p>
        </p:txBody>
      </p:sp>
      <p:sp>
        <p:nvSpPr>
          <p:cNvPr id="24" name="TextBox 23"/>
          <p:cNvSpPr txBox="1"/>
          <p:nvPr/>
        </p:nvSpPr>
        <p:spPr>
          <a:xfrm>
            <a:off x="340614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F8D36F"/>
                </a:solidFill>
                <a:latin typeface="Calibri"/>
              </a:rPr>
              <a:t>AARRR funnel</a:t>
            </a:r>
          </a:p>
        </p:txBody>
      </p:sp>
      <p:sp>
        <p:nvSpPr>
          <p:cNvPr id="25" name="TextBox 24"/>
          <p:cNvSpPr txBox="1"/>
          <p:nvPr/>
        </p:nvSpPr>
        <p:spPr>
          <a:xfrm>
            <a:off x="340614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Acquisition, Activation, Retention, Referral, Revenue.</a:t>
            </a:r>
          </a:p>
        </p:txBody>
      </p:sp>
      <p:sp>
        <p:nvSpPr>
          <p:cNvPr id="26" name="TextBox 25"/>
          <p:cNvSpPr txBox="1"/>
          <p:nvPr/>
        </p:nvSpPr>
        <p:spPr>
          <a:xfrm>
            <a:off x="621792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F8D36F"/>
                </a:solidFill>
                <a:latin typeface="Calibri"/>
              </a:rPr>
              <a:t>70 / 20 / 10 budget rule</a:t>
            </a:r>
          </a:p>
        </p:txBody>
      </p:sp>
      <p:sp>
        <p:nvSpPr>
          <p:cNvPr id="27" name="TextBox 26"/>
          <p:cNvSpPr txBox="1"/>
          <p:nvPr/>
        </p:nvSpPr>
        <p:spPr>
          <a:xfrm>
            <a:off x="621792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70% on what works, 20% on what looks promising, 10% on small bets.</a:t>
            </a:r>
          </a:p>
        </p:txBody>
      </p:sp>
      <p:sp>
        <p:nvSpPr>
          <p:cNvPr id="28" name="TextBox 27"/>
          <p:cNvSpPr txBox="1"/>
          <p:nvPr/>
        </p:nvSpPr>
        <p:spPr>
          <a:xfrm>
            <a:off x="9029700" y="5486400"/>
            <a:ext cx="2537460" cy="320040"/>
          </a:xfrm>
          <a:prstGeom prst="rect">
            <a:avLst/>
          </a:prstGeom>
          <a:noFill/>
        </p:spPr>
        <p:txBody>
          <a:bodyPr wrap="square" lIns="45720" rIns="45720" tIns="18288" bIns="18288" anchor="t">
            <a:spAutoFit/>
          </a:bodyPr>
          <a:lstStyle/>
          <a:p>
            <a:pPr algn="l">
              <a:lnSpc>
                <a:spcPct val="125000"/>
              </a:lnSpc>
            </a:pPr>
            <a:r>
              <a:rPr sz="1150" b="1" i="0">
                <a:solidFill>
                  <a:srgbClr val="F8D36F"/>
                </a:solidFill>
                <a:latin typeface="Calibri"/>
              </a:rPr>
              <a:t>North Star Metric</a:t>
            </a:r>
          </a:p>
        </p:txBody>
      </p:sp>
      <p:sp>
        <p:nvSpPr>
          <p:cNvPr id="29" name="TextBox 28"/>
          <p:cNvSpPr txBox="1"/>
          <p:nvPr/>
        </p:nvSpPr>
        <p:spPr>
          <a:xfrm>
            <a:off x="9029700" y="5806440"/>
            <a:ext cx="2537460" cy="502920"/>
          </a:xfrm>
          <a:prstGeom prst="rect">
            <a:avLst/>
          </a:prstGeom>
          <a:noFill/>
        </p:spPr>
        <p:txBody>
          <a:bodyPr wrap="square" lIns="45720" rIns="45720" tIns="18288" bIns="18288" anchor="t">
            <a:spAutoFit/>
          </a:bodyPr>
          <a:lstStyle/>
          <a:p>
            <a:pPr algn="l">
              <a:lnSpc>
                <a:spcPct val="130000"/>
              </a:lnSpc>
            </a:pPr>
            <a:r>
              <a:rPr sz="950" b="0" i="1">
                <a:solidFill>
                  <a:srgbClr val="FFFFFF"/>
                </a:solidFill>
                <a:latin typeface="Calibri"/>
              </a:rPr>
              <a:t>One number leadership reviews every Monday.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01</a:t>
            </a:r>
          </a:p>
        </p:txBody>
      </p:sp>
      <p:sp>
        <p:nvSpPr>
          <p:cNvPr id="4" name="TextBox 3"/>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Launching Amity Ignite. A campus moment for our online learners.</a:t>
            </a:r>
          </a:p>
        </p:txBody>
      </p:sp>
      <p:sp>
        <p:nvSpPr>
          <p:cNvPr id="5" name="TextBox 4"/>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A small, on campus pilot that gives every Amity Online learner one in person memory they can show their family.</a:t>
            </a:r>
          </a:p>
        </p:txBody>
      </p:sp>
      <p:sp>
        <p:nvSpPr>
          <p:cNvPr id="6" name="Rounded Rectangle 5"/>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LAUNCH STRATEGY</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Amity Ignite. The launch plan on one page.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4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50" b="0" i="1">
                <a:solidFill>
                  <a:srgbClr val="555C6B"/>
                </a:solidFill>
                <a:latin typeface="Calibri"/>
              </a:rPr>
              <a:t>A short, on campus immersion for online learners. Designed as the photo every learner will show their family. We pilot small, prove the impact, then scale.</a:t>
            </a:r>
          </a:p>
        </p:txBody>
      </p:sp>
      <p:sp>
        <p:nvSpPr>
          <p:cNvPr id="8" name="Rounded Rectangle 7"/>
          <p:cNvSpPr/>
          <p:nvPr/>
        </p:nvSpPr>
        <p:spPr>
          <a:xfrm>
            <a:off x="457200" y="205740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9456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THE OPPORTUNITY</a:t>
            </a:r>
          </a:p>
        </p:txBody>
      </p:sp>
      <p:sp>
        <p:nvSpPr>
          <p:cNvPr id="10" name="TextBox 9"/>
          <p:cNvSpPr txBox="1"/>
          <p:nvPr/>
        </p:nvSpPr>
        <p:spPr>
          <a:xfrm>
            <a:off x="685800" y="251460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Amity Online has 2,50,000+ learners and 450+ hiring partners. The largest online learner base in India. Yet most learners never visit the Noida campus. That gap is our wedge.</a:t>
            </a:r>
          </a:p>
        </p:txBody>
      </p:sp>
      <p:sp>
        <p:nvSpPr>
          <p:cNvPr id="11" name="Rounded Rectangle 10"/>
          <p:cNvSpPr/>
          <p:nvPr/>
        </p:nvSpPr>
        <p:spPr>
          <a:xfrm>
            <a:off x="457200" y="361188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74904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TARGET LEARNER. JOB TO BE DONE.</a:t>
            </a:r>
          </a:p>
        </p:txBody>
      </p:sp>
      <p:sp>
        <p:nvSpPr>
          <p:cNvPr id="13" name="TextBox 12"/>
          <p:cNvSpPr txBox="1"/>
          <p:nvPr/>
        </p:nvSpPr>
        <p:spPr>
          <a:xfrm>
            <a:off x="685800" y="406908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A 25 to 35 year old working professional from a Tier 2 or Tier 3 city. She is paying her own fees. She wants the Amity name and a credential her family can be proud of.</a:t>
            </a:r>
          </a:p>
        </p:txBody>
      </p:sp>
      <p:sp>
        <p:nvSpPr>
          <p:cNvPr id="14" name="Rounded Rectangle 13"/>
          <p:cNvSpPr/>
          <p:nvPr/>
        </p:nvSpPr>
        <p:spPr>
          <a:xfrm>
            <a:off x="457200" y="516636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530352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POSITIONING</a:t>
            </a:r>
          </a:p>
        </p:txBody>
      </p:sp>
      <p:sp>
        <p:nvSpPr>
          <p:cNvPr id="16" name="TextBox 15"/>
          <p:cNvSpPr txBox="1"/>
          <p:nvPr/>
        </p:nvSpPr>
        <p:spPr>
          <a:xfrm>
            <a:off x="685800" y="562356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The only online university in India where you actually walk the campus. We do not compete on price. We compete on the experience, the brand, and the photograph.</a:t>
            </a:r>
          </a:p>
        </p:txBody>
      </p:sp>
      <p:sp>
        <p:nvSpPr>
          <p:cNvPr id="17" name="Rounded Rectangle 16"/>
          <p:cNvSpPr/>
          <p:nvPr/>
        </p:nvSpPr>
        <p:spPr>
          <a:xfrm>
            <a:off x="6217920" y="205740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19456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CHANNELS AND SPEND. PHASE 1 PILOT.</a:t>
            </a:r>
          </a:p>
        </p:txBody>
      </p:sp>
      <p:sp>
        <p:nvSpPr>
          <p:cNvPr id="19" name="TextBox 18"/>
          <p:cNvSpPr txBox="1"/>
          <p:nvPr/>
        </p:nvSpPr>
        <p:spPr>
          <a:xfrm>
            <a:off x="6446520" y="251460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Pilot budget around Rs 60 to 70 lakh, cohort of 100 learners. 50% organic content, email, in app. 25% reallocated from existing performance media. 15% on campus production. 10% earned public relations.</a:t>
            </a:r>
          </a:p>
        </p:txBody>
      </p:sp>
      <p:sp>
        <p:nvSpPr>
          <p:cNvPr id="20" name="Rounded Rectangle 19"/>
          <p:cNvSpPr/>
          <p:nvPr/>
        </p:nvSpPr>
        <p:spPr>
          <a:xfrm>
            <a:off x="6217920" y="361188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74904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GOALS. FIRST 90 DAYS.</a:t>
            </a:r>
          </a:p>
        </p:txBody>
      </p:sp>
      <p:sp>
        <p:nvSpPr>
          <p:cNvPr id="22" name="TextBox 21"/>
          <p:cNvSpPr txBox="1"/>
          <p:nvPr/>
        </p:nvSpPr>
        <p:spPr>
          <a:xfrm>
            <a:off x="6446520" y="406908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Cohort 0: 100 learners on Noida campus. Net Satisfaction Score (NSAT) above 4.5. More than 50% of attendees share content publicly within 7 days. Baseline lift in next cohort referral signal. Modelled, validated in pilot.</a:t>
            </a:r>
          </a:p>
        </p:txBody>
      </p:sp>
      <p:sp>
        <p:nvSpPr>
          <p:cNvPr id="23" name="Rounded Rectangle 22"/>
          <p:cNvSpPr/>
          <p:nvPr/>
        </p:nvSpPr>
        <p:spPr>
          <a:xfrm>
            <a:off x="6217920" y="5166360"/>
            <a:ext cx="553212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5303520"/>
            <a:ext cx="45720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SUCCESS LOOKS LIKE</a:t>
            </a:r>
          </a:p>
        </p:txBody>
      </p:sp>
      <p:sp>
        <p:nvSpPr>
          <p:cNvPr id="25" name="TextBox 24"/>
          <p:cNvSpPr txBox="1"/>
          <p:nvPr/>
        </p:nvSpPr>
        <p:spPr>
          <a:xfrm>
            <a:off x="6446520" y="5623560"/>
            <a:ext cx="5166360" cy="822960"/>
          </a:xfrm>
          <a:prstGeom prst="rect">
            <a:avLst/>
          </a:prstGeom>
          <a:noFill/>
        </p:spPr>
        <p:txBody>
          <a:bodyPr wrap="square" lIns="45720" rIns="45720" tIns="18288" bIns="18288" anchor="t">
            <a:spAutoFit/>
          </a:bodyPr>
          <a:lstStyle/>
          <a:p>
            <a:pPr algn="l">
              <a:lnSpc>
                <a:spcPct val="135000"/>
              </a:lnSpc>
            </a:pPr>
            <a:r>
              <a:rPr sz="1050" b="0" i="0">
                <a:solidFill>
                  <a:srgbClr val="141B2D"/>
                </a:solidFill>
                <a:latin typeface="Calibri"/>
              </a:rPr>
              <a:t>By month 6, 'Did you do Ignite?' is the question prospective students ask current Amity Online learners. And current learners answer with a photograph, not a brochure.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EVENT CONCEPT</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Event concept. Amity Ignite, Cohort 0.</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5 / 19</a:t>
            </a:r>
          </a:p>
        </p:txBody>
      </p:sp>
      <p:pic>
        <p:nvPicPr>
          <p:cNvPr id="7" name="Picture 6" descr="students_group.jpg"/>
          <p:cNvPicPr>
            <a:picLocks noChangeAspect="1"/>
          </p:cNvPicPr>
          <p:nvPr/>
        </p:nvPicPr>
        <p:blipFill>
          <a:blip r:embed="rId3"/>
          <a:stretch>
            <a:fillRect/>
          </a:stretch>
        </p:blipFill>
        <p:spPr>
          <a:xfrm>
            <a:off x="457200" y="1417320"/>
            <a:ext cx="4023360" cy="4937760"/>
          </a:xfrm>
          <a:prstGeom prst="rect">
            <a:avLst/>
          </a:prstGeom>
        </p:spPr>
      </p:pic>
      <p:sp>
        <p:nvSpPr>
          <p:cNvPr id="8" name="Rectangle 7"/>
          <p:cNvSpPr/>
          <p:nvPr/>
        </p:nvSpPr>
        <p:spPr>
          <a:xfrm>
            <a:off x="457200" y="6035040"/>
            <a:ext cx="4023360" cy="36576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053328"/>
            <a:ext cx="4023360" cy="36576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1 day   Noida campus   100 learners   Pilot</a:t>
            </a:r>
          </a:p>
        </p:txBody>
      </p:sp>
      <p:sp>
        <p:nvSpPr>
          <p:cNvPr id="10" name="TextBox 9"/>
          <p:cNvSpPr txBox="1"/>
          <p:nvPr/>
        </p:nvSpPr>
        <p:spPr>
          <a:xfrm>
            <a:off x="4709160" y="1417320"/>
            <a:ext cx="7040880" cy="411480"/>
          </a:xfrm>
          <a:prstGeom prst="rect">
            <a:avLst/>
          </a:prstGeom>
          <a:noFill/>
        </p:spPr>
        <p:txBody>
          <a:bodyPr wrap="square" lIns="45720" rIns="45720" tIns="18288" bIns="18288" anchor="t">
            <a:spAutoFit/>
          </a:bodyPr>
          <a:lstStyle/>
          <a:p>
            <a:pPr algn="l">
              <a:lnSpc>
                <a:spcPct val="110000"/>
              </a:lnSpc>
            </a:pPr>
            <a:r>
              <a:rPr sz="1400" b="1" i="1">
                <a:solidFill>
                  <a:srgbClr val="0E2A55"/>
                </a:solidFill>
                <a:latin typeface="Calibri"/>
              </a:rPr>
              <a:t>Three feelings, in order. Belong, Build, Broadcast.</a:t>
            </a:r>
          </a:p>
        </p:txBody>
      </p:sp>
      <p:sp>
        <p:nvSpPr>
          <p:cNvPr id="11" name="TextBox 10"/>
          <p:cNvSpPr txBox="1"/>
          <p:nvPr/>
        </p:nvSpPr>
        <p:spPr>
          <a:xfrm>
            <a:off x="4709160" y="1828800"/>
            <a:ext cx="7040880" cy="365760"/>
          </a:xfrm>
          <a:prstGeom prst="rect">
            <a:avLst/>
          </a:prstGeom>
          <a:noFill/>
        </p:spPr>
        <p:txBody>
          <a:bodyPr wrap="square" lIns="45720" rIns="45720" tIns="18288" bIns="18288" anchor="t">
            <a:spAutoFit/>
          </a:bodyPr>
          <a:lstStyle/>
          <a:p>
            <a:pPr algn="l">
              <a:lnSpc>
                <a:spcPct val="135000"/>
              </a:lnSpc>
            </a:pPr>
            <a:r>
              <a:rPr sz="1050" b="0" i="1">
                <a:solidFill>
                  <a:srgbClr val="555C6B"/>
                </a:solidFill>
                <a:latin typeface="Calibri"/>
              </a:rPr>
              <a:t>We start small on purpose. One day, 100 learners, on the existing Noida campus. If it works, it earns the right to scale.</a:t>
            </a:r>
          </a:p>
        </p:txBody>
      </p:sp>
      <p:sp>
        <p:nvSpPr>
          <p:cNvPr id="12" name="Rounded Rectangle 11"/>
          <p:cNvSpPr/>
          <p:nvPr/>
        </p:nvSpPr>
        <p:spPr>
          <a:xfrm>
            <a:off x="4709160" y="2331720"/>
            <a:ext cx="704088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37760" y="2468880"/>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MORNING.   BELONG.</a:t>
            </a:r>
          </a:p>
        </p:txBody>
      </p:sp>
      <p:sp>
        <p:nvSpPr>
          <p:cNvPr id="14" name="TextBox 13"/>
          <p:cNvSpPr txBox="1"/>
          <p:nvPr/>
        </p:nvSpPr>
        <p:spPr>
          <a:xfrm>
            <a:off x="4937760" y="2788920"/>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Welcome by the Amity Online team. Campus walk through. Lunch with Amity faculty and a few volunteer alumni. A group photograph that learners can share home that night.</a:t>
            </a:r>
          </a:p>
        </p:txBody>
      </p:sp>
      <p:sp>
        <p:nvSpPr>
          <p:cNvPr id="15" name="Rounded Rectangle 14"/>
          <p:cNvSpPr/>
          <p:nvPr/>
        </p:nvSpPr>
        <p:spPr>
          <a:xfrm>
            <a:off x="4709160" y="3767328"/>
            <a:ext cx="704088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3904488"/>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AFTERNOON.   BUILD.</a:t>
            </a:r>
          </a:p>
        </p:txBody>
      </p:sp>
      <p:sp>
        <p:nvSpPr>
          <p:cNvPr id="17" name="TextBox 16"/>
          <p:cNvSpPr txBox="1"/>
          <p:nvPr/>
        </p:nvSpPr>
        <p:spPr>
          <a:xfrm>
            <a:off x="4937760" y="4224528"/>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Two short masterclasses from in house faculty. One on career skills, one on industry trends. Then a 90 minute group challenge that solves a real Amity Online problem. For example, how would you onboard a new learner from your own city. Awards at high tea.</a:t>
            </a:r>
          </a:p>
        </p:txBody>
      </p:sp>
      <p:sp>
        <p:nvSpPr>
          <p:cNvPr id="18" name="Rounded Rectangle 17"/>
          <p:cNvSpPr/>
          <p:nvPr/>
        </p:nvSpPr>
        <p:spPr>
          <a:xfrm>
            <a:off x="4709160" y="5202936"/>
            <a:ext cx="7040880" cy="13258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5340096"/>
            <a:ext cx="7040880" cy="32004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EVENING.   BROADCAST.</a:t>
            </a:r>
          </a:p>
        </p:txBody>
      </p:sp>
      <p:sp>
        <p:nvSpPr>
          <p:cNvPr id="20" name="TextBox 19"/>
          <p:cNvSpPr txBox="1"/>
          <p:nvPr/>
        </p:nvSpPr>
        <p:spPr>
          <a:xfrm>
            <a:off x="4937760" y="5660136"/>
            <a:ext cx="6675120" cy="82296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Mentor pairing. Every learner leaves with one alumni mentor for the next 12 months. Closing Ignite Pledge ceremony. A professional photographer covers the day and produces a 60 second video reel for every attendee. Bus drop to the nearest metro or hotel.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EMAIL TO EXISTING ONLINE LEARNERS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launch email.</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6 / 19</a:t>
            </a:r>
          </a:p>
        </p:txBody>
      </p:sp>
      <p:sp>
        <p:nvSpPr>
          <p:cNvPr id="7" name="Rounded Rectangle 6"/>
          <p:cNvSpPr/>
          <p:nvPr/>
        </p:nvSpPr>
        <p:spPr>
          <a:xfrm>
            <a:off x="457200" y="1371600"/>
            <a:ext cx="7589520" cy="516636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371600"/>
            <a:ext cx="7589520" cy="411480"/>
          </a:xfrm>
          <a:prstGeom prst="rect">
            <a:avLst/>
          </a:prstGeom>
          <a:solidFill>
            <a:srgbClr val="F7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444752"/>
            <a:ext cx="7589520" cy="274320"/>
          </a:xfrm>
          <a:prstGeom prst="rect">
            <a:avLst/>
          </a:prstGeom>
          <a:noFill/>
        </p:spPr>
        <p:txBody>
          <a:bodyPr wrap="square" lIns="45720" rIns="45720" tIns="18288" bIns="18288" anchor="t">
            <a:spAutoFit/>
          </a:bodyPr>
          <a:lstStyle/>
          <a:p>
            <a:pPr algn="l">
              <a:lnSpc>
                <a:spcPct val="125000"/>
              </a:lnSpc>
            </a:pPr>
            <a:r>
              <a:rPr sz="950" b="0" i="0">
                <a:solidFill>
                  <a:srgbClr val="555C6B"/>
                </a:solidFill>
                <a:latin typeface="Calibri"/>
              </a:rPr>
              <a:t>From: Amity Online Marketing   online@amity.edu</a:t>
            </a:r>
          </a:p>
        </p:txBody>
      </p:sp>
      <p:sp>
        <p:nvSpPr>
          <p:cNvPr id="10" name="TextBox 9"/>
          <p:cNvSpPr txBox="1"/>
          <p:nvPr/>
        </p:nvSpPr>
        <p:spPr>
          <a:xfrm>
            <a:off x="731520" y="1920240"/>
            <a:ext cx="7040880" cy="365760"/>
          </a:xfrm>
          <a:prstGeom prst="rect">
            <a:avLst/>
          </a:prstGeom>
          <a:noFill/>
        </p:spPr>
        <p:txBody>
          <a:bodyPr wrap="square" lIns="45720" rIns="45720" tIns="18288" bIns="18288" anchor="t">
            <a:spAutoFit/>
          </a:bodyPr>
          <a:lstStyle/>
          <a:p>
            <a:pPr algn="l">
              <a:lnSpc>
                <a:spcPct val="125000"/>
              </a:lnSpc>
            </a:pPr>
            <a:r>
              <a:rPr sz="1450" b="1" i="0">
                <a:solidFill>
                  <a:srgbClr val="0E2A55"/>
                </a:solidFill>
                <a:latin typeface="Calibri"/>
              </a:rPr>
              <a:t>Subject:  You enrolled online. We would like to host you in person.</a:t>
            </a:r>
          </a:p>
        </p:txBody>
      </p:sp>
      <p:sp>
        <p:nvSpPr>
          <p:cNvPr id="11" name="TextBox 10"/>
          <p:cNvSpPr txBox="1"/>
          <p:nvPr/>
        </p:nvSpPr>
        <p:spPr>
          <a:xfrm>
            <a:off x="731520" y="2286000"/>
            <a:ext cx="7040880" cy="274320"/>
          </a:xfrm>
          <a:prstGeom prst="rect">
            <a:avLst/>
          </a:prstGeom>
          <a:noFill/>
        </p:spPr>
        <p:txBody>
          <a:bodyPr wrap="square" lIns="45720" rIns="45720" tIns="18288" bIns="18288" anchor="t">
            <a:spAutoFit/>
          </a:bodyPr>
          <a:lstStyle/>
          <a:p>
            <a:pPr algn="l">
              <a:lnSpc>
                <a:spcPct val="125000"/>
              </a:lnSpc>
            </a:pPr>
            <a:r>
              <a:rPr sz="1050" b="0" i="1">
                <a:solidFill>
                  <a:srgbClr val="555C6B"/>
                </a:solidFill>
                <a:latin typeface="Calibri"/>
              </a:rPr>
              <a:t>Preheader:  One day at the Noida campus. No recorded lectures. Yes, really.</a:t>
            </a:r>
          </a:p>
        </p:txBody>
      </p:sp>
      <p:sp>
        <p:nvSpPr>
          <p:cNvPr id="12" name="TextBox 11"/>
          <p:cNvSpPr txBox="1"/>
          <p:nvPr/>
        </p:nvSpPr>
        <p:spPr>
          <a:xfrm>
            <a:off x="731520" y="2651760"/>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41B2D"/>
                </a:solidFill>
                <a:latin typeface="Calibri"/>
              </a:rPr>
              <a:t>Hi {{first_name}},</a:t>
            </a:r>
          </a:p>
        </p:txBody>
      </p:sp>
      <p:sp>
        <p:nvSpPr>
          <p:cNvPr id="13" name="TextBox 12"/>
          <p:cNvSpPr txBox="1"/>
          <p:nvPr/>
        </p:nvSpPr>
        <p:spPr>
          <a:xfrm>
            <a:off x="731520" y="3008376"/>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41B2D"/>
                </a:solidFill>
                <a:latin typeface="Calibri"/>
              </a:rPr>
              <a:t>You picked Amity University Online for one big reason. It had to fit around your work, your family, and your commute. It does. But there is one thing it cannot do over a phone screen. It cannot let you see the campus you have technically been part of all along.</a:t>
            </a:r>
          </a:p>
        </p:txBody>
      </p:sp>
      <p:sp>
        <p:nvSpPr>
          <p:cNvPr id="14" name="TextBox 13"/>
          <p:cNvSpPr txBox="1"/>
          <p:nvPr/>
        </p:nvSpPr>
        <p:spPr>
          <a:xfrm>
            <a:off x="731520" y="3364992"/>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41B2D"/>
                </a:solidFill>
                <a:latin typeface="Calibri"/>
              </a:rPr>
              <a:t>We would like to fix that.</a:t>
            </a:r>
          </a:p>
        </p:txBody>
      </p:sp>
      <p:sp>
        <p:nvSpPr>
          <p:cNvPr id="15" name="TextBox 14"/>
          <p:cNvSpPr txBox="1"/>
          <p:nvPr/>
        </p:nvSpPr>
        <p:spPr>
          <a:xfrm>
            <a:off x="731520" y="3721608"/>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41B2D"/>
                </a:solidFill>
                <a:latin typeface="Calibri"/>
              </a:rPr>
              <a:t>We are piloting Amity Ignite. A one day, on campus immersion at our Noida campus, free for our existing online learners. No recorded lectures. No pretending to take notes. Two short masterclasses, a real world group challenge, lunch with faculty, and one mentor you will keep for the next 12 months.</a:t>
            </a:r>
          </a:p>
        </p:txBody>
      </p:sp>
      <p:sp>
        <p:nvSpPr>
          <p:cNvPr id="16" name="TextBox 15"/>
          <p:cNvSpPr txBox="1"/>
          <p:nvPr/>
        </p:nvSpPr>
        <p:spPr>
          <a:xfrm>
            <a:off x="731520" y="4078224"/>
            <a:ext cx="7040880" cy="411480"/>
          </a:xfrm>
          <a:prstGeom prst="rect">
            <a:avLst/>
          </a:prstGeom>
          <a:noFill/>
        </p:spPr>
        <p:txBody>
          <a:bodyPr wrap="square" lIns="45720" rIns="45720" tIns="18288" bIns="18288" anchor="t">
            <a:spAutoFit/>
          </a:bodyPr>
          <a:lstStyle/>
          <a:p>
            <a:pPr algn="l">
              <a:lnSpc>
                <a:spcPct val="140000"/>
              </a:lnSpc>
            </a:pPr>
            <a:r>
              <a:rPr sz="1080" b="0" i="0">
                <a:solidFill>
                  <a:srgbClr val="141B2D"/>
                </a:solidFill>
                <a:latin typeface="Calibri"/>
              </a:rPr>
              <a:t>Cohort 0 is small on purpose. 100 learners. If you have completed at least one semester with us, you can apply for a seat by 25 August. We will select on the basis of programme spread and travel feasibility, not first come first served.</a:t>
            </a:r>
          </a:p>
        </p:txBody>
      </p:sp>
      <p:sp>
        <p:nvSpPr>
          <p:cNvPr id="17" name="Rectangle 16"/>
          <p:cNvSpPr/>
          <p:nvPr/>
        </p:nvSpPr>
        <p:spPr>
          <a:xfrm>
            <a:off x="731520" y="4416552"/>
            <a:ext cx="2194560" cy="41148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16552"/>
            <a:ext cx="2194560" cy="411480"/>
          </a:xfrm>
          <a:prstGeom prst="rect">
            <a:avLst/>
          </a:prstGeom>
          <a:noFill/>
        </p:spPr>
        <p:txBody>
          <a:bodyPr wrap="square" lIns="45720" rIns="45720" tIns="18288" bIns="18288" anchor="ctr">
            <a:spAutoFit/>
          </a:bodyPr>
          <a:lstStyle/>
          <a:p>
            <a:pPr algn="ctr">
              <a:lnSpc>
                <a:spcPct val="125000"/>
              </a:lnSpc>
            </a:pPr>
            <a:r>
              <a:rPr sz="1200" b="1" i="0">
                <a:solidFill>
                  <a:srgbClr val="FFFFFF"/>
                </a:solidFill>
                <a:latin typeface="Calibri"/>
              </a:rPr>
              <a:t>Apply for Cohort 0</a:t>
            </a:r>
          </a:p>
        </p:txBody>
      </p:sp>
      <p:sp>
        <p:nvSpPr>
          <p:cNvPr id="19" name="TextBox 18"/>
          <p:cNvSpPr txBox="1"/>
          <p:nvPr/>
        </p:nvSpPr>
        <p:spPr>
          <a:xfrm>
            <a:off x="3063240" y="4507992"/>
            <a:ext cx="4572000" cy="274320"/>
          </a:xfrm>
          <a:prstGeom prst="rect">
            <a:avLst/>
          </a:prstGeom>
          <a:noFill/>
        </p:spPr>
        <p:txBody>
          <a:bodyPr wrap="square" lIns="45720" rIns="45720" tIns="18288" bIns="18288" anchor="t">
            <a:spAutoFit/>
          </a:bodyPr>
          <a:lstStyle/>
          <a:p>
            <a:pPr algn="l">
              <a:lnSpc>
                <a:spcPct val="125000"/>
              </a:lnSpc>
            </a:pPr>
            <a:r>
              <a:rPr sz="1000" b="0" i="1">
                <a:solidFill>
                  <a:srgbClr val="555C6B"/>
                </a:solidFill>
                <a:latin typeface="Calibri"/>
              </a:rPr>
              <a:t>Takes 90 seconds.</a:t>
            </a:r>
          </a:p>
        </p:txBody>
      </p:sp>
      <p:sp>
        <p:nvSpPr>
          <p:cNvPr id="20" name="TextBox 19"/>
          <p:cNvSpPr txBox="1"/>
          <p:nvPr/>
        </p:nvSpPr>
        <p:spPr>
          <a:xfrm>
            <a:off x="731520" y="5056632"/>
            <a:ext cx="7040880" cy="320040"/>
          </a:xfrm>
          <a:prstGeom prst="rect">
            <a:avLst/>
          </a:prstGeom>
          <a:noFill/>
        </p:spPr>
        <p:txBody>
          <a:bodyPr wrap="square" lIns="45720" rIns="45720" tIns="18288" bIns="18288" anchor="t">
            <a:spAutoFit/>
          </a:bodyPr>
          <a:lstStyle/>
          <a:p>
            <a:pPr algn="l">
              <a:lnSpc>
                <a:spcPct val="125000"/>
              </a:lnSpc>
            </a:pPr>
            <a:r>
              <a:rPr sz="1100" b="0" i="1">
                <a:solidFill>
                  <a:srgbClr val="141B2D"/>
                </a:solidFill>
                <a:latin typeface="Calibri"/>
              </a:rPr>
              <a:t>Amity Online Marketing</a:t>
            </a:r>
          </a:p>
        </p:txBody>
      </p:sp>
      <p:sp>
        <p:nvSpPr>
          <p:cNvPr id="21" name="TextBox 20"/>
          <p:cNvSpPr txBox="1"/>
          <p:nvPr/>
        </p:nvSpPr>
        <p:spPr>
          <a:xfrm>
            <a:off x="731520" y="5285232"/>
            <a:ext cx="7040880" cy="274320"/>
          </a:xfrm>
          <a:prstGeom prst="rect">
            <a:avLst/>
          </a:prstGeom>
          <a:noFill/>
        </p:spPr>
        <p:txBody>
          <a:bodyPr wrap="square" lIns="45720" rIns="45720" tIns="18288" bIns="18288" anchor="t">
            <a:spAutoFit/>
          </a:bodyPr>
          <a:lstStyle/>
          <a:p>
            <a:pPr algn="l">
              <a:lnSpc>
                <a:spcPct val="125000"/>
              </a:lnSpc>
            </a:pPr>
            <a:r>
              <a:rPr sz="1000" b="0" i="0">
                <a:solidFill>
                  <a:srgbClr val="555C6B"/>
                </a:solidFill>
                <a:latin typeface="Calibri"/>
              </a:rPr>
              <a:t>Amity University Online   Noida</a:t>
            </a:r>
          </a:p>
        </p:txBody>
      </p:sp>
      <p:sp>
        <p:nvSpPr>
          <p:cNvPr id="22" name="Rounded Rectangle 21"/>
          <p:cNvSpPr/>
          <p:nvPr/>
        </p:nvSpPr>
        <p:spPr>
          <a:xfrm>
            <a:off x="8229600" y="1371600"/>
            <a:ext cx="3520440" cy="51663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58200" y="1508760"/>
            <a:ext cx="3520440" cy="365760"/>
          </a:xfrm>
          <a:prstGeom prst="rect">
            <a:avLst/>
          </a:prstGeom>
          <a:noFill/>
        </p:spPr>
        <p:txBody>
          <a:bodyPr wrap="square" lIns="45720" rIns="45720" tIns="18288" bIns="18288" anchor="t">
            <a:spAutoFit/>
          </a:bodyPr>
          <a:lstStyle/>
          <a:p>
            <a:pPr algn="l">
              <a:lnSpc>
                <a:spcPct val="125000"/>
              </a:lnSpc>
            </a:pPr>
            <a:r>
              <a:rPr sz="1200" b="1" i="0">
                <a:solidFill>
                  <a:srgbClr val="0E2A55"/>
                </a:solidFill>
                <a:latin typeface="Calibri"/>
              </a:rPr>
              <a:t>Why this email is built this way</a:t>
            </a:r>
          </a:p>
        </p:txBody>
      </p:sp>
      <p:sp>
        <p:nvSpPr>
          <p:cNvPr id="24" name="TextBox 23"/>
          <p:cNvSpPr txBox="1"/>
          <p:nvPr/>
        </p:nvSpPr>
        <p:spPr>
          <a:xfrm>
            <a:off x="8458200" y="1874519"/>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Subject line</a:t>
            </a:r>
          </a:p>
        </p:txBody>
      </p:sp>
      <p:sp>
        <p:nvSpPr>
          <p:cNvPr id="25" name="TextBox 24"/>
          <p:cNvSpPr txBox="1"/>
          <p:nvPr/>
        </p:nvSpPr>
        <p:spPr>
          <a:xfrm>
            <a:off x="8458200" y="2103119"/>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Personal and curious. Not Announcing. Not Excited to share. The reader feels invited, not pitched.</a:t>
            </a:r>
          </a:p>
        </p:txBody>
      </p:sp>
      <p:sp>
        <p:nvSpPr>
          <p:cNvPr id="26" name="TextBox 25"/>
          <p:cNvSpPr txBox="1"/>
          <p:nvPr/>
        </p:nvSpPr>
        <p:spPr>
          <a:xfrm>
            <a:off x="8458200" y="2587751"/>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Sender</a:t>
            </a:r>
          </a:p>
        </p:txBody>
      </p:sp>
      <p:sp>
        <p:nvSpPr>
          <p:cNvPr id="27" name="TextBox 26"/>
          <p:cNvSpPr txBox="1"/>
          <p:nvPr/>
        </p:nvSpPr>
        <p:spPr>
          <a:xfrm>
            <a:off x="8458200" y="2816351"/>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From the Amity Online Marketing team. We do not invent a fictional employee to make the email feel personal. The voice does that.</a:t>
            </a:r>
          </a:p>
        </p:txBody>
      </p:sp>
      <p:sp>
        <p:nvSpPr>
          <p:cNvPr id="28" name="TextBox 27"/>
          <p:cNvSpPr txBox="1"/>
          <p:nvPr/>
        </p:nvSpPr>
        <p:spPr>
          <a:xfrm>
            <a:off x="8458200" y="3300983"/>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Single CTA</a:t>
            </a:r>
          </a:p>
        </p:txBody>
      </p:sp>
      <p:sp>
        <p:nvSpPr>
          <p:cNvPr id="29" name="TextBox 28"/>
          <p:cNvSpPr txBox="1"/>
          <p:nvPr/>
        </p:nvSpPr>
        <p:spPr>
          <a:xfrm>
            <a:off x="8458200" y="3529583"/>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One blue button. No sidebar links. Every extra link costs us focus.</a:t>
            </a:r>
          </a:p>
        </p:txBody>
      </p:sp>
      <p:sp>
        <p:nvSpPr>
          <p:cNvPr id="30" name="TextBox 29"/>
          <p:cNvSpPr txBox="1"/>
          <p:nvPr/>
        </p:nvSpPr>
        <p:spPr>
          <a:xfrm>
            <a:off x="8458200" y="4014215"/>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Real scarcity</a:t>
            </a:r>
          </a:p>
        </p:txBody>
      </p:sp>
      <p:sp>
        <p:nvSpPr>
          <p:cNvPr id="31" name="TextBox 30"/>
          <p:cNvSpPr txBox="1"/>
          <p:nvPr/>
        </p:nvSpPr>
        <p:spPr>
          <a:xfrm>
            <a:off x="8458200" y="4242815"/>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100 seats, real cap, real selection criteria. No fake countdown timer.</a:t>
            </a:r>
          </a:p>
        </p:txBody>
      </p:sp>
      <p:sp>
        <p:nvSpPr>
          <p:cNvPr id="32" name="TextBox 31"/>
          <p:cNvSpPr txBox="1"/>
          <p:nvPr/>
        </p:nvSpPr>
        <p:spPr>
          <a:xfrm>
            <a:off x="8458200" y="4727447"/>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Audience cut</a:t>
            </a:r>
          </a:p>
        </p:txBody>
      </p:sp>
      <p:sp>
        <p:nvSpPr>
          <p:cNvPr id="33" name="TextBox 32"/>
          <p:cNvSpPr txBox="1"/>
          <p:nvPr/>
        </p:nvSpPr>
        <p:spPr>
          <a:xfrm>
            <a:off x="8458200" y="4956047"/>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Only learners with at least one semester completed. Earned, not blasted.</a:t>
            </a:r>
          </a:p>
        </p:txBody>
      </p:sp>
      <p:sp>
        <p:nvSpPr>
          <p:cNvPr id="34" name="TextBox 33"/>
          <p:cNvSpPr txBox="1"/>
          <p:nvPr/>
        </p:nvSpPr>
        <p:spPr>
          <a:xfrm>
            <a:off x="8458200" y="5440679"/>
            <a:ext cx="315468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Send window</a:t>
            </a:r>
          </a:p>
        </p:txBody>
      </p:sp>
      <p:sp>
        <p:nvSpPr>
          <p:cNvPr id="35" name="TextBox 34"/>
          <p:cNvSpPr txBox="1"/>
          <p:nvPr/>
        </p:nvSpPr>
        <p:spPr>
          <a:xfrm>
            <a:off x="8458200" y="5669279"/>
            <a:ext cx="3154680" cy="548640"/>
          </a:xfrm>
          <a:prstGeom prst="rect">
            <a:avLst/>
          </a:prstGeom>
          <a:noFill/>
        </p:spPr>
        <p:txBody>
          <a:bodyPr wrap="square" lIns="45720" rIns="45720" tIns="18288" bIns="18288" anchor="t">
            <a:spAutoFit/>
          </a:bodyPr>
          <a:lstStyle/>
          <a:p>
            <a:pPr algn="l">
              <a:lnSpc>
                <a:spcPct val="130000"/>
              </a:lnSpc>
            </a:pPr>
            <a:r>
              <a:rPr sz="950" b="0" i="0">
                <a:solidFill>
                  <a:srgbClr val="141B2D"/>
                </a:solidFill>
                <a:latin typeface="Calibri"/>
              </a:rPr>
              <a:t>Tuesday or Wednesday at 10:30 AM Indian Standard Time. We will run a small split test on send time for our own audience before trusting any external benchmark.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POSTED FROM THE CHAIRMAN'S PROFILE</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LinkedIn post.</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7 / 19</a:t>
            </a:r>
          </a:p>
        </p:txBody>
      </p:sp>
      <p:sp>
        <p:nvSpPr>
          <p:cNvPr id="7" name="Rounded Rectangle 6"/>
          <p:cNvSpPr/>
          <p:nvPr/>
        </p:nvSpPr>
        <p:spPr>
          <a:xfrm>
            <a:off x="457200" y="1417320"/>
            <a:ext cx="6858000" cy="5212080"/>
          </a:xfrm>
          <a:prstGeom prst="roundRect">
            <a:avLst>
              <a:gd name="adj" fmla="val 3000"/>
            </a:avLst>
          </a:prstGeom>
          <a:solidFill>
            <a:srgbClr val="FFFFFF"/>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31520" y="1691640"/>
            <a:ext cx="640080" cy="640080"/>
          </a:xfrm>
          <a:prstGeom prst="ellipse">
            <a:avLst/>
          </a:prstGeom>
          <a:solidFill>
            <a:srgbClr val="0E2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91640"/>
            <a:ext cx="640080" cy="640080"/>
          </a:xfrm>
          <a:prstGeom prst="rect">
            <a:avLst/>
          </a:prstGeom>
          <a:noFill/>
        </p:spPr>
        <p:txBody>
          <a:bodyPr wrap="square" lIns="45720" rIns="45720" tIns="18288" bIns="18288" anchor="ctr">
            <a:spAutoFit/>
          </a:bodyPr>
          <a:lstStyle/>
          <a:p>
            <a:pPr algn="ctr">
              <a:lnSpc>
                <a:spcPct val="125000"/>
              </a:lnSpc>
            </a:pPr>
            <a:r>
              <a:rPr sz="1800" b="1" i="0">
                <a:solidFill>
                  <a:srgbClr val="F2B61A"/>
                </a:solidFill>
                <a:latin typeface="Calibri"/>
              </a:rPr>
              <a:t>AC</a:t>
            </a:r>
          </a:p>
        </p:txBody>
      </p:sp>
      <p:sp>
        <p:nvSpPr>
          <p:cNvPr id="10" name="TextBox 9"/>
          <p:cNvSpPr txBox="1"/>
          <p:nvPr/>
        </p:nvSpPr>
        <p:spPr>
          <a:xfrm>
            <a:off x="1508760" y="1691640"/>
            <a:ext cx="6858000" cy="274320"/>
          </a:xfrm>
          <a:prstGeom prst="rect">
            <a:avLst/>
          </a:prstGeom>
          <a:noFill/>
        </p:spPr>
        <p:txBody>
          <a:bodyPr wrap="square" lIns="45720" rIns="45720" tIns="18288" bIns="18288" anchor="t">
            <a:spAutoFit/>
          </a:bodyPr>
          <a:lstStyle/>
          <a:p>
            <a:pPr algn="l">
              <a:lnSpc>
                <a:spcPct val="125000"/>
              </a:lnSpc>
            </a:pPr>
            <a:r>
              <a:rPr sz="1250" b="1" i="0">
                <a:solidFill>
                  <a:srgbClr val="141B2D"/>
                </a:solidFill>
                <a:latin typeface="Calibri"/>
              </a:rPr>
              <a:t>Mr. Ajit Chauhan</a:t>
            </a:r>
          </a:p>
        </p:txBody>
      </p:sp>
      <p:sp>
        <p:nvSpPr>
          <p:cNvPr id="11" name="TextBox 10"/>
          <p:cNvSpPr txBox="1"/>
          <p:nvPr/>
        </p:nvSpPr>
        <p:spPr>
          <a:xfrm>
            <a:off x="1508760" y="1920240"/>
            <a:ext cx="6858000" cy="274320"/>
          </a:xfrm>
          <a:prstGeom prst="rect">
            <a:avLst/>
          </a:prstGeom>
          <a:noFill/>
        </p:spPr>
        <p:txBody>
          <a:bodyPr wrap="square" lIns="45720" rIns="45720" tIns="18288" bIns="18288" anchor="t">
            <a:spAutoFit/>
          </a:bodyPr>
          <a:lstStyle/>
          <a:p>
            <a:pPr algn="l">
              <a:lnSpc>
                <a:spcPct val="125000"/>
              </a:lnSpc>
            </a:pPr>
            <a:r>
              <a:rPr sz="1000" b="0" i="0">
                <a:solidFill>
                  <a:srgbClr val="555C6B"/>
                </a:solidFill>
                <a:latin typeface="Calibri"/>
              </a:rPr>
              <a:t>Chairman, Amity University Online</a:t>
            </a:r>
          </a:p>
        </p:txBody>
      </p:sp>
      <p:sp>
        <p:nvSpPr>
          <p:cNvPr id="12" name="TextBox 11"/>
          <p:cNvSpPr txBox="1"/>
          <p:nvPr/>
        </p:nvSpPr>
        <p:spPr>
          <a:xfrm>
            <a:off x="1508760" y="2130552"/>
            <a:ext cx="6858000" cy="228600"/>
          </a:xfrm>
          <a:prstGeom prst="rect">
            <a:avLst/>
          </a:prstGeom>
          <a:noFill/>
        </p:spPr>
        <p:txBody>
          <a:bodyPr wrap="square" lIns="45720" rIns="45720" tIns="18288" bIns="18288" anchor="t">
            <a:spAutoFit/>
          </a:bodyPr>
          <a:lstStyle/>
          <a:p>
            <a:pPr algn="l">
              <a:lnSpc>
                <a:spcPct val="125000"/>
              </a:lnSpc>
            </a:pPr>
            <a:r>
              <a:rPr sz="900" b="0" i="0">
                <a:solidFill>
                  <a:srgbClr val="555C6B"/>
                </a:solidFill>
                <a:latin typeface="Calibri"/>
              </a:rPr>
              <a:t>1d   Public</a:t>
            </a:r>
          </a:p>
        </p:txBody>
      </p:sp>
      <p:sp>
        <p:nvSpPr>
          <p:cNvPr id="13" name="TextBox 12"/>
          <p:cNvSpPr txBox="1"/>
          <p:nvPr/>
        </p:nvSpPr>
        <p:spPr>
          <a:xfrm>
            <a:off x="731520" y="2560320"/>
            <a:ext cx="6400800" cy="3383280"/>
          </a:xfrm>
          <a:prstGeom prst="rect">
            <a:avLst/>
          </a:prstGeom>
          <a:noFill/>
        </p:spPr>
        <p:txBody>
          <a:bodyPr wrap="square" lIns="45720" rIns="45720" tIns="18288" bIns="18288" anchor="t">
            <a:spAutoFit/>
          </a:bodyPr>
          <a:lstStyle/>
          <a:p>
            <a:pPr algn="l">
              <a:lnSpc>
                <a:spcPct val="145000"/>
              </a:lnSpc>
            </a:pPr>
            <a:r>
              <a:rPr sz="1100" b="0" i="0">
                <a:solidFill>
                  <a:srgbClr val="141B2D"/>
                </a:solidFill>
                <a:latin typeface="Calibri"/>
              </a:rPr>
              <a:t>I keep meeting Amity Online learners at airports.</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Last week, one of them. A working professional from Bhubaneswar, doing his Master of Business Administration after his work day ends. He asked me a simple question.</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"Sir, will I ever come to the campus?"</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We launched Amity Online to make a high quality degree fit around real lives. It does. But I went home and asked my team why our answer to that question is still "only during exams."</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From this year, the answer becomes "yes" for every learner who wants it.</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We are calling it Amity Ignite. We start small. A one day pilot at our Noida campus. If it earns the right to scale, it scales.</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Online learning gave us reach. Ignite is how we add memory.</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If you are an Amity Online learner reading this, your invite is in your inbox.</a:t>
            </a:r>
          </a:p>
          <a:p>
            <a:pPr algn="l">
              <a:lnSpc>
                <a:spcPct val="145000"/>
              </a:lnSpc>
            </a:pPr>
            <a:r>
              <a:rPr sz="1100" b="0" i="0">
                <a:solidFill>
                  <a:srgbClr val="141B2D"/>
                </a:solidFill>
                <a:latin typeface="Calibri"/>
              </a:rPr>
              <a:t/>
            </a:r>
          </a:p>
          <a:p>
            <a:pPr algn="l">
              <a:lnSpc>
                <a:spcPct val="145000"/>
              </a:lnSpc>
            </a:pPr>
            <a:r>
              <a:rPr sz="1100" b="0" i="0">
                <a:solidFill>
                  <a:srgbClr val="141B2D"/>
                </a:solidFill>
                <a:latin typeface="Calibri"/>
              </a:rPr>
              <a:t>#AmityIgnite   #AmityUniversityOnline   #OnlineLearning</a:t>
            </a:r>
          </a:p>
        </p:txBody>
      </p:sp>
      <p:sp>
        <p:nvSpPr>
          <p:cNvPr id="14" name="Rectangle 13"/>
          <p:cNvSpPr/>
          <p:nvPr/>
        </p:nvSpPr>
        <p:spPr>
          <a:xfrm>
            <a:off x="502920" y="6172200"/>
            <a:ext cx="6766560" cy="18288"/>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6217920"/>
            <a:ext cx="6858000" cy="274320"/>
          </a:xfrm>
          <a:prstGeom prst="rect">
            <a:avLst/>
          </a:prstGeom>
          <a:noFill/>
        </p:spPr>
        <p:txBody>
          <a:bodyPr wrap="square" lIns="45720" rIns="45720" tIns="18288" bIns="18288" anchor="t">
            <a:spAutoFit/>
          </a:bodyPr>
          <a:lstStyle/>
          <a:p>
            <a:pPr algn="l">
              <a:lnSpc>
                <a:spcPct val="125000"/>
              </a:lnSpc>
            </a:pPr>
            <a:r>
              <a:rPr sz="1000" b="1" i="0">
                <a:solidFill>
                  <a:srgbClr val="555C6B"/>
                </a:solidFill>
                <a:latin typeface="Calibri"/>
              </a:rPr>
              <a:t>Like     Comment     Repost     Send</a:t>
            </a:r>
          </a:p>
        </p:txBody>
      </p:sp>
      <p:sp>
        <p:nvSpPr>
          <p:cNvPr id="16" name="Rounded Rectangle 15"/>
          <p:cNvSpPr/>
          <p:nvPr/>
        </p:nvSpPr>
        <p:spPr>
          <a:xfrm>
            <a:off x="7498079" y="1417320"/>
            <a:ext cx="4251960" cy="521208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26679" y="1554480"/>
            <a:ext cx="4251960" cy="365760"/>
          </a:xfrm>
          <a:prstGeom prst="rect">
            <a:avLst/>
          </a:prstGeom>
          <a:noFill/>
        </p:spPr>
        <p:txBody>
          <a:bodyPr wrap="square" lIns="45720" rIns="45720" tIns="18288" bIns="18288" anchor="t">
            <a:spAutoFit/>
          </a:bodyPr>
          <a:lstStyle/>
          <a:p>
            <a:pPr algn="l">
              <a:lnSpc>
                <a:spcPct val="125000"/>
              </a:lnSpc>
            </a:pPr>
            <a:r>
              <a:rPr sz="1200" b="1" i="0">
                <a:solidFill>
                  <a:srgbClr val="0E2A55"/>
                </a:solidFill>
                <a:latin typeface="Calibri"/>
              </a:rPr>
              <a:t>Why this is the Chairman's post, not a brand post</a:t>
            </a:r>
          </a:p>
        </p:txBody>
      </p:sp>
      <p:sp>
        <p:nvSpPr>
          <p:cNvPr id="18" name="TextBox 17"/>
          <p:cNvSpPr txBox="1"/>
          <p:nvPr/>
        </p:nvSpPr>
        <p:spPr>
          <a:xfrm>
            <a:off x="7726679" y="192024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F2B61A"/>
                </a:solidFill>
                <a:latin typeface="Calibri"/>
              </a:rPr>
              <a:t>Story, not announcement</a:t>
            </a:r>
          </a:p>
        </p:txBody>
      </p:sp>
      <p:sp>
        <p:nvSpPr>
          <p:cNvPr id="19" name="TextBox 18"/>
          <p:cNvSpPr txBox="1"/>
          <p:nvPr/>
        </p:nvSpPr>
        <p:spPr>
          <a:xfrm>
            <a:off x="7726679" y="216712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It opens with one specific learner from one specific city. The launch is in paragraph five on purpose.</a:t>
            </a:r>
          </a:p>
        </p:txBody>
      </p:sp>
      <p:sp>
        <p:nvSpPr>
          <p:cNvPr id="20" name="TextBox 19"/>
          <p:cNvSpPr txBox="1"/>
          <p:nvPr/>
        </p:nvSpPr>
        <p:spPr>
          <a:xfrm>
            <a:off x="7726679" y="278892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F2B61A"/>
                </a:solidFill>
                <a:latin typeface="Calibri"/>
              </a:rPr>
              <a:t>A leader admitting a gap</a:t>
            </a:r>
          </a:p>
        </p:txBody>
      </p:sp>
      <p:sp>
        <p:nvSpPr>
          <p:cNvPr id="21" name="TextBox 20"/>
          <p:cNvSpPr txBox="1"/>
          <p:nvPr/>
        </p:nvSpPr>
        <p:spPr>
          <a:xfrm>
            <a:off x="7726679" y="303580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I went home and asked my team why our answer is still maybe. People share honest leadership posts.</a:t>
            </a:r>
          </a:p>
        </p:txBody>
      </p:sp>
      <p:sp>
        <p:nvSpPr>
          <p:cNvPr id="22" name="TextBox 21"/>
          <p:cNvSpPr txBox="1"/>
          <p:nvPr/>
        </p:nvSpPr>
        <p:spPr>
          <a:xfrm>
            <a:off x="7726679" y="365760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F2B61A"/>
                </a:solidFill>
                <a:latin typeface="Calibri"/>
              </a:rPr>
              <a:t>One quotable line</a:t>
            </a:r>
          </a:p>
        </p:txBody>
      </p:sp>
      <p:sp>
        <p:nvSpPr>
          <p:cNvPr id="23" name="TextBox 22"/>
          <p:cNvSpPr txBox="1"/>
          <p:nvPr/>
        </p:nvSpPr>
        <p:spPr>
          <a:xfrm>
            <a:off x="7726679" y="390448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Online learning gave us reach. Ignite is how we add memory. Built so an Amity employee can quote it in their own post that same day.</a:t>
            </a:r>
          </a:p>
        </p:txBody>
      </p:sp>
      <p:sp>
        <p:nvSpPr>
          <p:cNvPr id="24" name="TextBox 23"/>
          <p:cNvSpPr txBox="1"/>
          <p:nvPr/>
        </p:nvSpPr>
        <p:spPr>
          <a:xfrm>
            <a:off x="7726679" y="452628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F2B61A"/>
                </a:solidFill>
                <a:latin typeface="Calibri"/>
              </a:rPr>
              <a:t>Earned beats paid</a:t>
            </a:r>
          </a:p>
        </p:txBody>
      </p:sp>
      <p:sp>
        <p:nvSpPr>
          <p:cNvPr id="25" name="TextBox 24"/>
          <p:cNvSpPr txBox="1"/>
          <p:nvPr/>
        </p:nvSpPr>
        <p:spPr>
          <a:xfrm>
            <a:off x="7726679" y="477316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If a few hundred Amity Online employees and alumni each share with one line of context, organic reach beats paid reach for this kind of message.</a:t>
            </a:r>
          </a:p>
        </p:txBody>
      </p:sp>
      <p:sp>
        <p:nvSpPr>
          <p:cNvPr id="26" name="TextBox 25"/>
          <p:cNvSpPr txBox="1"/>
          <p:nvPr/>
        </p:nvSpPr>
        <p:spPr>
          <a:xfrm>
            <a:off x="7726679" y="5394960"/>
            <a:ext cx="3886200" cy="274320"/>
          </a:xfrm>
          <a:prstGeom prst="rect">
            <a:avLst/>
          </a:prstGeom>
          <a:noFill/>
        </p:spPr>
        <p:txBody>
          <a:bodyPr wrap="square" lIns="45720" rIns="45720" tIns="18288" bIns="18288" anchor="t">
            <a:spAutoFit/>
          </a:bodyPr>
          <a:lstStyle/>
          <a:p>
            <a:pPr algn="l">
              <a:lnSpc>
                <a:spcPct val="125000"/>
              </a:lnSpc>
            </a:pPr>
            <a:r>
              <a:rPr sz="1080" b="1" i="0">
                <a:solidFill>
                  <a:srgbClr val="F2B61A"/>
                </a:solidFill>
                <a:latin typeface="Calibri"/>
              </a:rPr>
              <a:t>Posting craft</a:t>
            </a:r>
          </a:p>
        </p:txBody>
      </p:sp>
      <p:sp>
        <p:nvSpPr>
          <p:cNvPr id="27" name="TextBox 26"/>
          <p:cNvSpPr txBox="1"/>
          <p:nvPr/>
        </p:nvSpPr>
        <p:spPr>
          <a:xfrm>
            <a:off x="7726679" y="5641848"/>
            <a:ext cx="3886200" cy="64008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Hashtags below the fold. Line breaks every one or two sentences. No link in the post itself. These are the basic LinkedIn rules. We follow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1   BROCHURE</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Ignite brochure. Page by page outline.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8 / 19</a:t>
            </a:r>
          </a:p>
        </p:txBody>
      </p:sp>
      <p:sp>
        <p:nvSpPr>
          <p:cNvPr id="7" name="TextBox 6"/>
          <p:cNvSpPr txBox="1"/>
          <p:nvPr/>
        </p:nvSpPr>
        <p:spPr>
          <a:xfrm>
            <a:off x="457200" y="1417320"/>
            <a:ext cx="10972800" cy="45720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Format. A5 portrait, 8 pages, saddle stitched. Low cost print, around Rs 35 per brochure at a 5,000 print run. Distributed digitally as a Portable Document Format (PDF) file. Physical copies only at on campus events.</a:t>
            </a:r>
          </a:p>
        </p:txBody>
      </p:sp>
      <p:sp>
        <p:nvSpPr>
          <p:cNvPr id="8" name="Rounded Rectangle 7"/>
          <p:cNvSpPr/>
          <p:nvPr/>
        </p:nvSpPr>
        <p:spPr>
          <a:xfrm>
            <a:off x="457200" y="1965960"/>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84832"/>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COVER</a:t>
            </a:r>
          </a:p>
        </p:txBody>
      </p:sp>
      <p:sp>
        <p:nvSpPr>
          <p:cNvPr id="10" name="TextBox 9"/>
          <p:cNvSpPr txBox="1"/>
          <p:nvPr/>
        </p:nvSpPr>
        <p:spPr>
          <a:xfrm>
            <a:off x="685800" y="2331720"/>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Single line of copy. Navy background. Gold flame.</a:t>
            </a:r>
          </a:p>
          <a:p>
            <a:pPr algn="l">
              <a:lnSpc>
                <a:spcPct val="135000"/>
              </a:lnSpc>
            </a:pPr>
            <a:r>
              <a:rPr sz="969" b="0" i="0">
                <a:solidFill>
                  <a:srgbClr val="141B2D"/>
                </a:solidFill>
                <a:latin typeface="Calibri"/>
              </a:rPr>
              <a:t>Text: You enrolled online. You graduate in person.</a:t>
            </a:r>
          </a:p>
        </p:txBody>
      </p:sp>
      <p:sp>
        <p:nvSpPr>
          <p:cNvPr id="11" name="Rounded Rectangle 10"/>
          <p:cNvSpPr/>
          <p:nvPr/>
        </p:nvSpPr>
        <p:spPr>
          <a:xfrm>
            <a:off x="6263640" y="1965960"/>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2084832"/>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1</a:t>
            </a:r>
          </a:p>
        </p:txBody>
      </p:sp>
      <p:sp>
        <p:nvSpPr>
          <p:cNvPr id="13" name="TextBox 12"/>
          <p:cNvSpPr txBox="1"/>
          <p:nvPr/>
        </p:nvSpPr>
        <p:spPr>
          <a:xfrm>
            <a:off x="6492240" y="2331720"/>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Founder's letter from Mr. Ajit Chauhan, Chairman of Amity Online. 200 words at most. Hand signed scan. No corporate cliches.</a:t>
            </a:r>
          </a:p>
        </p:txBody>
      </p:sp>
      <p:sp>
        <p:nvSpPr>
          <p:cNvPr id="14" name="Rounded Rectangle 13"/>
          <p:cNvSpPr/>
          <p:nvPr/>
        </p:nvSpPr>
        <p:spPr>
          <a:xfrm>
            <a:off x="457200" y="3127248"/>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246120"/>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PAGES 2 AND 3</a:t>
            </a:r>
          </a:p>
        </p:txBody>
      </p:sp>
      <p:sp>
        <p:nvSpPr>
          <p:cNvPr id="16" name="TextBox 15"/>
          <p:cNvSpPr txBox="1"/>
          <p:nvPr/>
        </p:nvSpPr>
        <p:spPr>
          <a:xfrm>
            <a:off x="685800" y="3493008"/>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Spread on why Ignite exists. Three real learner stories from Cohort 0. Full bleed photographs. Names with consent. No stock images.</a:t>
            </a:r>
          </a:p>
        </p:txBody>
      </p:sp>
      <p:sp>
        <p:nvSpPr>
          <p:cNvPr id="17" name="Rounded Rectangle 16"/>
          <p:cNvSpPr/>
          <p:nvPr/>
        </p:nvSpPr>
        <p:spPr>
          <a:xfrm>
            <a:off x="6263640" y="3127248"/>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46120"/>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4</a:t>
            </a:r>
          </a:p>
        </p:txBody>
      </p:sp>
      <p:sp>
        <p:nvSpPr>
          <p:cNvPr id="19" name="TextBox 18"/>
          <p:cNvSpPr txBox="1"/>
          <p:nvPr/>
        </p:nvSpPr>
        <p:spPr>
          <a:xfrm>
            <a:off x="6492240" y="3493008"/>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What one day looks like. A visual timeline with simple icons. Morning, afternoon, evening.</a:t>
            </a:r>
          </a:p>
        </p:txBody>
      </p:sp>
      <p:sp>
        <p:nvSpPr>
          <p:cNvPr id="20" name="Rounded Rectangle 19"/>
          <p:cNvSpPr/>
          <p:nvPr/>
        </p:nvSpPr>
        <p:spPr>
          <a:xfrm>
            <a:off x="457200" y="4288536"/>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407408"/>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5</a:t>
            </a:r>
          </a:p>
        </p:txBody>
      </p:sp>
      <p:sp>
        <p:nvSpPr>
          <p:cNvPr id="22" name="TextBox 21"/>
          <p:cNvSpPr txBox="1"/>
          <p:nvPr/>
        </p:nvSpPr>
        <p:spPr>
          <a:xfrm>
            <a:off x="685800" y="4654296"/>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Your degree, your validation. National Assessment and Accreditation Council A+ grade. University Grants Commission entitled. Western Association of Schools and Colleges accreditation, USA. Quality Assurance Agency accreditation, UK. QS Asia Pacific Top 10 online MBA. A clean credibility wall, no inflated claims.</a:t>
            </a:r>
          </a:p>
        </p:txBody>
      </p:sp>
      <p:sp>
        <p:nvSpPr>
          <p:cNvPr id="23" name="Rounded Rectangle 22"/>
          <p:cNvSpPr/>
          <p:nvPr/>
        </p:nvSpPr>
        <p:spPr>
          <a:xfrm>
            <a:off x="6263640" y="4288536"/>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4407408"/>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6</a:t>
            </a:r>
          </a:p>
        </p:txBody>
      </p:sp>
      <p:sp>
        <p:nvSpPr>
          <p:cNvPr id="25" name="TextBox 24"/>
          <p:cNvSpPr txBox="1"/>
          <p:nvPr/>
        </p:nvSpPr>
        <p:spPr>
          <a:xfrm>
            <a:off x="6492240" y="4654296"/>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Real numbers. 2,50,000+ learners, 450+ hiring partners, 40+ programmes. Source: amityonline.com, current. One sentence on what those numbers mean for the learner.</a:t>
            </a:r>
          </a:p>
        </p:txBody>
      </p:sp>
      <p:sp>
        <p:nvSpPr>
          <p:cNvPr id="26" name="Rounded Rectangle 25"/>
          <p:cNvSpPr/>
          <p:nvPr/>
        </p:nvSpPr>
        <p:spPr>
          <a:xfrm>
            <a:off x="457200" y="5449824"/>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5568696"/>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7</a:t>
            </a:r>
          </a:p>
        </p:txBody>
      </p:sp>
      <p:sp>
        <p:nvSpPr>
          <p:cNvPr id="28" name="TextBox 27"/>
          <p:cNvSpPr txBox="1"/>
          <p:nvPr/>
        </p:nvSpPr>
        <p:spPr>
          <a:xfrm>
            <a:off x="685800" y="5815584"/>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Frequently Asked Questions (FAQ). Six questions real prospects ask. Especially: Will my employer recognise this. Answered head on with the accreditations from page 5.</a:t>
            </a:r>
          </a:p>
        </p:txBody>
      </p:sp>
      <p:sp>
        <p:nvSpPr>
          <p:cNvPr id="29" name="Rounded Rectangle 28"/>
          <p:cNvSpPr/>
          <p:nvPr/>
        </p:nvSpPr>
        <p:spPr>
          <a:xfrm>
            <a:off x="6263640" y="5449824"/>
            <a:ext cx="5669280" cy="1051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0" y="5568696"/>
            <a:ext cx="539496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PAGE 8 / BACK</a:t>
            </a:r>
          </a:p>
        </p:txBody>
      </p:sp>
      <p:sp>
        <p:nvSpPr>
          <p:cNvPr id="31" name="TextBox 30"/>
          <p:cNvSpPr txBox="1"/>
          <p:nvPr/>
        </p:nvSpPr>
        <p:spPr>
          <a:xfrm>
            <a:off x="6492240" y="5815584"/>
            <a:ext cx="5394960" cy="640080"/>
          </a:xfrm>
          <a:prstGeom prst="rect">
            <a:avLst/>
          </a:prstGeom>
          <a:noFill/>
        </p:spPr>
        <p:txBody>
          <a:bodyPr wrap="square" lIns="45720" rIns="45720" tIns="18288" bIns="18288" anchor="t">
            <a:spAutoFit/>
          </a:bodyPr>
          <a:lstStyle/>
          <a:p>
            <a:pPr algn="l">
              <a:lnSpc>
                <a:spcPct val="135000"/>
              </a:lnSpc>
            </a:pPr>
            <a:r>
              <a:rPr sz="969" b="0" i="0">
                <a:solidFill>
                  <a:srgbClr val="141B2D"/>
                </a:solidFill>
                <a:latin typeface="Calibri"/>
              </a:rPr>
              <a:t>Quick Response (QR) code to register. One sentence: One day. The rest of your career. Amity Online lockup in the bottom right corner.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5486400" cy="3200400"/>
          </a:xfrm>
          <a:prstGeom prst="rect">
            <a:avLst/>
          </a:prstGeom>
          <a:noFill/>
        </p:spPr>
        <p:txBody>
          <a:bodyPr wrap="square" lIns="45720" rIns="45720" tIns="18288" bIns="18288" anchor="t">
            <a:spAutoFit/>
          </a:bodyPr>
          <a:lstStyle/>
          <a:p>
            <a:pPr algn="l">
              <a:lnSpc>
                <a:spcPct val="90000"/>
              </a:lnSpc>
            </a:pPr>
            <a:r>
              <a:rPr sz="11000" b="1" i="0">
                <a:solidFill>
                  <a:srgbClr val="F2B61A"/>
                </a:solidFill>
                <a:latin typeface="Calibri"/>
              </a:rPr>
              <a:t>Task</a:t>
            </a:r>
          </a:p>
          <a:p>
            <a:pPr algn="l">
              <a:lnSpc>
                <a:spcPct val="90000"/>
              </a:lnSpc>
            </a:pPr>
            <a:r>
              <a:rPr sz="11000" b="1" i="0">
                <a:solidFill>
                  <a:srgbClr val="F2B61A"/>
                </a:solidFill>
                <a:latin typeface="Calibri"/>
              </a:rPr>
              <a:t>02</a:t>
            </a:r>
          </a:p>
        </p:txBody>
      </p:sp>
      <p:sp>
        <p:nvSpPr>
          <p:cNvPr id="4" name="TextBox 3"/>
          <p:cNvSpPr txBox="1"/>
          <p:nvPr/>
        </p:nvSpPr>
        <p:spPr>
          <a:xfrm>
            <a:off x="685800" y="4434840"/>
            <a:ext cx="10058400" cy="914400"/>
          </a:xfrm>
          <a:prstGeom prst="rect">
            <a:avLst/>
          </a:prstGeom>
          <a:noFill/>
        </p:spPr>
        <p:txBody>
          <a:bodyPr wrap="square" lIns="45720" rIns="45720" tIns="18288" bIns="18288" anchor="t">
            <a:spAutoFit/>
          </a:bodyPr>
          <a:lstStyle/>
          <a:p>
            <a:pPr algn="l">
              <a:lnSpc>
                <a:spcPct val="105000"/>
              </a:lnSpc>
            </a:pPr>
            <a:r>
              <a:rPr sz="3000" b="1" i="0">
                <a:solidFill>
                  <a:srgbClr val="FFFFFF"/>
                </a:solidFill>
                <a:latin typeface="Calibri"/>
              </a:rPr>
              <a:t>A 12 month engagement roadmap.</a:t>
            </a:r>
          </a:p>
        </p:txBody>
      </p:sp>
      <p:sp>
        <p:nvSpPr>
          <p:cNvPr id="5" name="TextBox 4"/>
          <p:cNvSpPr txBox="1"/>
          <p:nvPr/>
        </p:nvSpPr>
        <p:spPr>
          <a:xfrm>
            <a:off x="685800" y="5532120"/>
            <a:ext cx="10058400" cy="731520"/>
          </a:xfrm>
          <a:prstGeom prst="rect">
            <a:avLst/>
          </a:prstGeom>
          <a:noFill/>
        </p:spPr>
        <p:txBody>
          <a:bodyPr wrap="square" lIns="45720" rIns="45720" tIns="18288" bIns="18288" anchor="t">
            <a:spAutoFit/>
          </a:bodyPr>
          <a:lstStyle/>
          <a:p>
            <a:pPr algn="l">
              <a:lnSpc>
                <a:spcPct val="130000"/>
              </a:lnSpc>
            </a:pPr>
            <a:r>
              <a:rPr sz="1400" b="0" i="1">
                <a:solidFill>
                  <a:srgbClr val="F8D36F"/>
                </a:solidFill>
                <a:latin typeface="Calibri"/>
              </a:rPr>
              <a:t>From onboarding rituals to advocacy programmes. Built so every learner has at least three I felt seen moments per year.</a:t>
            </a:r>
          </a:p>
        </p:txBody>
      </p:sp>
      <p:sp>
        <p:nvSpPr>
          <p:cNvPr id="6" name="Rounded Rectangle 5"/>
          <p:cNvSpPr/>
          <p:nvPr/>
        </p:nvSpPr>
        <p:spPr>
          <a:xfrm>
            <a:off x="10340961" y="228600"/>
            <a:ext cx="1548982" cy="58521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ANNUAL VIEW</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12 month engagement roadmap.</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10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Four quarters, four themes, one outcome. Every learner has at least three moments per year where they feel seen by Amity Online.</a:t>
            </a:r>
          </a:p>
        </p:txBody>
      </p:sp>
      <p:sp>
        <p:nvSpPr>
          <p:cNvPr id="8" name="Rounded Rectangle 7"/>
          <p:cNvSpPr/>
          <p:nvPr/>
        </p:nvSpPr>
        <p:spPr>
          <a:xfrm>
            <a:off x="457200" y="2011680"/>
            <a:ext cx="2834640" cy="1874519"/>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Q1   Apr to Jun</a:t>
            </a:r>
          </a:p>
        </p:txBody>
      </p:sp>
      <p:sp>
        <p:nvSpPr>
          <p:cNvPr id="10" name="TextBox 9"/>
          <p:cNvSpPr txBox="1"/>
          <p:nvPr/>
        </p:nvSpPr>
        <p:spPr>
          <a:xfrm>
            <a:off x="68580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BELONG</a:t>
            </a:r>
          </a:p>
        </p:txBody>
      </p:sp>
      <p:sp>
        <p:nvSpPr>
          <p:cNvPr id="11" name="TextBox 10"/>
          <p:cNvSpPr txBox="1"/>
          <p:nvPr/>
        </p:nvSpPr>
        <p:spPr>
          <a:xfrm>
            <a:off x="68580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Onboarding rituals, first Amity Ignite pilot, community kick off.</a:t>
            </a:r>
          </a:p>
        </p:txBody>
      </p:sp>
      <p:sp>
        <p:nvSpPr>
          <p:cNvPr id="12" name="TextBox 11"/>
          <p:cNvSpPr txBox="1"/>
          <p:nvPr/>
        </p:nvSpPr>
        <p:spPr>
          <a:xfrm>
            <a:off x="68580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0E2A55"/>
                </a:solidFill>
                <a:latin typeface="Calibri"/>
              </a:rPr>
              <a:t>Anchor: Ignite Cohort 0 (100 learners) and Onboard 7 Day Sprint</a:t>
            </a:r>
          </a:p>
        </p:txBody>
      </p:sp>
      <p:sp>
        <p:nvSpPr>
          <p:cNvPr id="13" name="Rounded Rectangle 12"/>
          <p:cNvSpPr/>
          <p:nvPr/>
        </p:nvSpPr>
        <p:spPr>
          <a:xfrm>
            <a:off x="3383280" y="2011680"/>
            <a:ext cx="2834640" cy="1874519"/>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188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Q2   Jul to Sep</a:t>
            </a:r>
          </a:p>
        </p:txBody>
      </p:sp>
      <p:sp>
        <p:nvSpPr>
          <p:cNvPr id="15" name="TextBox 14"/>
          <p:cNvSpPr txBox="1"/>
          <p:nvPr/>
        </p:nvSpPr>
        <p:spPr>
          <a:xfrm>
            <a:off x="361188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BUILD</a:t>
            </a:r>
          </a:p>
        </p:txBody>
      </p:sp>
      <p:sp>
        <p:nvSpPr>
          <p:cNvPr id="16" name="TextBox 15"/>
          <p:cNvSpPr txBox="1"/>
          <p:nvPr/>
        </p:nvSpPr>
        <p:spPr>
          <a:xfrm>
            <a:off x="361188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Career launchpad season. Short masterclasses, mentor pairing, mock interview drives.</a:t>
            </a:r>
          </a:p>
        </p:txBody>
      </p:sp>
      <p:sp>
        <p:nvSpPr>
          <p:cNvPr id="17" name="TextBox 16"/>
          <p:cNvSpPr txBox="1"/>
          <p:nvPr/>
        </p:nvSpPr>
        <p:spPr>
          <a:xfrm>
            <a:off x="361188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0E2A55"/>
                </a:solidFill>
                <a:latin typeface="Calibri"/>
              </a:rPr>
              <a:t>Anchor: Amity Champions pilot (50 learners)</a:t>
            </a:r>
          </a:p>
        </p:txBody>
      </p:sp>
      <p:sp>
        <p:nvSpPr>
          <p:cNvPr id="18" name="Rounded Rectangle 17"/>
          <p:cNvSpPr/>
          <p:nvPr/>
        </p:nvSpPr>
        <p:spPr>
          <a:xfrm>
            <a:off x="6309360" y="2011680"/>
            <a:ext cx="2834640" cy="1874519"/>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Q3   Oct to Dec</a:t>
            </a:r>
          </a:p>
        </p:txBody>
      </p:sp>
      <p:sp>
        <p:nvSpPr>
          <p:cNvPr id="20" name="TextBox 19"/>
          <p:cNvSpPr txBox="1"/>
          <p:nvPr/>
        </p:nvSpPr>
        <p:spPr>
          <a:xfrm>
            <a:off x="653796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BROADCAST</a:t>
            </a:r>
          </a:p>
        </p:txBody>
      </p:sp>
      <p:sp>
        <p:nvSpPr>
          <p:cNvPr id="21" name="TextBox 20"/>
          <p:cNvSpPr txBox="1"/>
          <p:nvPr/>
        </p:nvSpPr>
        <p:spPr>
          <a:xfrm>
            <a:off x="653796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Storytelling at scale. Alumni reels, AmityVoices podcast, advocacy programmes.</a:t>
            </a:r>
          </a:p>
        </p:txBody>
      </p:sp>
      <p:sp>
        <p:nvSpPr>
          <p:cNvPr id="22" name="TextBox 21"/>
          <p:cNvSpPr txBox="1"/>
          <p:nvPr/>
        </p:nvSpPr>
        <p:spPr>
          <a:xfrm>
            <a:off x="653796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0E2A55"/>
                </a:solidFill>
                <a:latin typeface="Calibri"/>
              </a:rPr>
              <a:t>Anchor: Pass the Flame referral pilot</a:t>
            </a:r>
          </a:p>
        </p:txBody>
      </p:sp>
      <p:sp>
        <p:nvSpPr>
          <p:cNvPr id="23" name="Rounded Rectangle 22"/>
          <p:cNvSpPr/>
          <p:nvPr/>
        </p:nvSpPr>
        <p:spPr>
          <a:xfrm>
            <a:off x="9235440" y="2011680"/>
            <a:ext cx="2834640" cy="1874519"/>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64040" y="2194560"/>
            <a:ext cx="283464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Q4   Jan to Mar</a:t>
            </a:r>
          </a:p>
        </p:txBody>
      </p:sp>
      <p:sp>
        <p:nvSpPr>
          <p:cNvPr id="25" name="TextBox 24"/>
          <p:cNvSpPr txBox="1"/>
          <p:nvPr/>
        </p:nvSpPr>
        <p:spPr>
          <a:xfrm>
            <a:off x="9464040" y="2514600"/>
            <a:ext cx="2560320" cy="411480"/>
          </a:xfrm>
          <a:prstGeom prst="rect">
            <a:avLst/>
          </a:prstGeom>
          <a:noFill/>
        </p:spPr>
        <p:txBody>
          <a:bodyPr wrap="square" lIns="45720" rIns="45720" tIns="18288" bIns="18288" anchor="t">
            <a:spAutoFit/>
          </a:bodyPr>
          <a:lstStyle/>
          <a:p>
            <a:pPr algn="l">
              <a:lnSpc>
                <a:spcPct val="100000"/>
              </a:lnSpc>
            </a:pPr>
            <a:r>
              <a:rPr sz="2200" b="1" i="0">
                <a:solidFill>
                  <a:srgbClr val="0E2A55"/>
                </a:solidFill>
                <a:latin typeface="Calibri"/>
              </a:rPr>
              <a:t>BEYOND</a:t>
            </a:r>
          </a:p>
        </p:txBody>
      </p:sp>
      <p:sp>
        <p:nvSpPr>
          <p:cNvPr id="26" name="TextBox 25"/>
          <p:cNvSpPr txBox="1"/>
          <p:nvPr/>
        </p:nvSpPr>
        <p:spPr>
          <a:xfrm>
            <a:off x="9464040" y="3017520"/>
            <a:ext cx="2560320" cy="640080"/>
          </a:xfrm>
          <a:prstGeom prst="rect">
            <a:avLst/>
          </a:prstGeom>
          <a:noFill/>
        </p:spPr>
        <p:txBody>
          <a:bodyPr wrap="square" lIns="45720" rIns="45720" tIns="18288" bIns="18288" anchor="t">
            <a:spAutoFit/>
          </a:bodyPr>
          <a:lstStyle/>
          <a:p>
            <a:pPr algn="l">
              <a:lnSpc>
                <a:spcPct val="135000"/>
              </a:lnSpc>
            </a:pPr>
            <a:r>
              <a:rPr sz="1030" b="0" i="0">
                <a:solidFill>
                  <a:srgbClr val="141B2D"/>
                </a:solidFill>
                <a:latin typeface="Calibri"/>
              </a:rPr>
              <a:t>Convocation moment, capstone showcase, lifelong learner network.</a:t>
            </a:r>
          </a:p>
        </p:txBody>
      </p:sp>
      <p:sp>
        <p:nvSpPr>
          <p:cNvPr id="27" name="TextBox 26"/>
          <p:cNvSpPr txBox="1"/>
          <p:nvPr/>
        </p:nvSpPr>
        <p:spPr>
          <a:xfrm>
            <a:off x="9464040" y="3520440"/>
            <a:ext cx="2560320" cy="365760"/>
          </a:xfrm>
          <a:prstGeom prst="rect">
            <a:avLst/>
          </a:prstGeom>
          <a:noFill/>
        </p:spPr>
        <p:txBody>
          <a:bodyPr wrap="square" lIns="45720" rIns="45720" tIns="18288" bIns="18288" anchor="t">
            <a:spAutoFit/>
          </a:bodyPr>
          <a:lstStyle/>
          <a:p>
            <a:pPr algn="l">
              <a:lnSpc>
                <a:spcPct val="125000"/>
              </a:lnSpc>
            </a:pPr>
            <a:r>
              <a:rPr sz="900" b="1" i="1">
                <a:solidFill>
                  <a:srgbClr val="0E2A55"/>
                </a:solidFill>
                <a:latin typeface="Calibri"/>
              </a:rPr>
              <a:t>Anchor: Capstone Showcase and alumni network activation</a:t>
            </a:r>
          </a:p>
        </p:txBody>
      </p:sp>
      <p:sp>
        <p:nvSpPr>
          <p:cNvPr id="28" name="TextBox 27"/>
          <p:cNvSpPr txBox="1"/>
          <p:nvPr/>
        </p:nvSpPr>
        <p:spPr>
          <a:xfrm>
            <a:off x="457200" y="4160519"/>
            <a:ext cx="10972800" cy="320040"/>
          </a:xfrm>
          <a:prstGeom prst="rect">
            <a:avLst/>
          </a:prstGeom>
          <a:noFill/>
        </p:spPr>
        <p:txBody>
          <a:bodyPr wrap="square" lIns="45720" rIns="45720" tIns="18288" bIns="18288" anchor="t">
            <a:spAutoFit/>
          </a:bodyPr>
          <a:lstStyle/>
          <a:p>
            <a:pPr algn="l">
              <a:lnSpc>
                <a:spcPct val="125000"/>
              </a:lnSpc>
            </a:pPr>
            <a:r>
              <a:rPr sz="1100" b="1" i="1">
                <a:solidFill>
                  <a:srgbClr val="0E2A55"/>
                </a:solidFill>
                <a:latin typeface="Calibri"/>
              </a:rPr>
              <a:t>Year end target metrics. Modelled, to be validated in pilot.</a:t>
            </a:r>
          </a:p>
        </p:txBody>
      </p:sp>
      <p:sp>
        <p:nvSpPr>
          <p:cNvPr id="29" name="TextBox 28"/>
          <p:cNvSpPr txBox="1"/>
          <p:nvPr/>
        </p:nvSpPr>
        <p:spPr>
          <a:xfrm>
            <a:off x="502920"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0E2A55"/>
                </a:solidFill>
                <a:latin typeface="Calibri"/>
              </a:rPr>
              <a:t>65</a:t>
            </a:r>
          </a:p>
        </p:txBody>
      </p:sp>
      <p:sp>
        <p:nvSpPr>
          <p:cNvPr id="30" name="TextBox 29"/>
          <p:cNvSpPr txBox="1"/>
          <p:nvPr/>
        </p:nvSpPr>
        <p:spPr>
          <a:xfrm>
            <a:off x="502920"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55C6B"/>
                </a:solidFill>
                <a:latin typeface="Calibri"/>
              </a:rPr>
              <a:t>Active Learner Score (North Star)</a:t>
            </a:r>
          </a:p>
        </p:txBody>
      </p:sp>
      <p:sp>
        <p:nvSpPr>
          <p:cNvPr id="31" name="TextBox 30"/>
          <p:cNvSpPr txBox="1"/>
          <p:nvPr/>
        </p:nvSpPr>
        <p:spPr>
          <a:xfrm>
            <a:off x="502920"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from baseline around 40</a:t>
            </a:r>
          </a:p>
        </p:txBody>
      </p:sp>
      <p:sp>
        <p:nvSpPr>
          <p:cNvPr id="32" name="TextBox 31"/>
          <p:cNvSpPr txBox="1"/>
          <p:nvPr/>
        </p:nvSpPr>
        <p:spPr>
          <a:xfrm>
            <a:off x="2752344"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0E2A55"/>
                </a:solidFill>
                <a:latin typeface="Calibri"/>
              </a:rPr>
              <a:t>+10 pts</a:t>
            </a:r>
          </a:p>
        </p:txBody>
      </p:sp>
      <p:sp>
        <p:nvSpPr>
          <p:cNvPr id="33" name="TextBox 32"/>
          <p:cNvSpPr txBox="1"/>
          <p:nvPr/>
        </p:nvSpPr>
        <p:spPr>
          <a:xfrm>
            <a:off x="2752344"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55C6B"/>
                </a:solidFill>
                <a:latin typeface="Calibri"/>
              </a:rPr>
              <a:t>Course completion (annual)</a:t>
            </a:r>
          </a:p>
        </p:txBody>
      </p:sp>
      <p:sp>
        <p:nvSpPr>
          <p:cNvPr id="34" name="TextBox 33"/>
          <p:cNvSpPr txBox="1"/>
          <p:nvPr/>
        </p:nvSpPr>
        <p:spPr>
          <a:xfrm>
            <a:off x="2752344"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vs current baseline</a:t>
            </a:r>
          </a:p>
        </p:txBody>
      </p:sp>
      <p:sp>
        <p:nvSpPr>
          <p:cNvPr id="35" name="TextBox 34"/>
          <p:cNvSpPr txBox="1"/>
          <p:nvPr/>
        </p:nvSpPr>
        <p:spPr>
          <a:xfrm>
            <a:off x="5001768"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0E2A55"/>
                </a:solidFill>
                <a:latin typeface="Calibri"/>
              </a:rPr>
              <a:t>45+</a:t>
            </a:r>
          </a:p>
        </p:txBody>
      </p:sp>
      <p:sp>
        <p:nvSpPr>
          <p:cNvPr id="36" name="TextBox 35"/>
          <p:cNvSpPr txBox="1"/>
          <p:nvPr/>
        </p:nvSpPr>
        <p:spPr>
          <a:xfrm>
            <a:off x="5001768"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55C6B"/>
                </a:solidFill>
                <a:latin typeface="Calibri"/>
              </a:rPr>
              <a:t>Net Promoter Score (NPS)</a:t>
            </a:r>
          </a:p>
        </p:txBody>
      </p:sp>
      <p:sp>
        <p:nvSpPr>
          <p:cNvPr id="37" name="TextBox 36"/>
          <p:cNvSpPr txBox="1"/>
          <p:nvPr/>
        </p:nvSpPr>
        <p:spPr>
          <a:xfrm>
            <a:off x="5001768"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vs baseline around 25</a:t>
            </a:r>
          </a:p>
        </p:txBody>
      </p:sp>
      <p:sp>
        <p:nvSpPr>
          <p:cNvPr id="38" name="TextBox 37"/>
          <p:cNvSpPr txBox="1"/>
          <p:nvPr/>
        </p:nvSpPr>
        <p:spPr>
          <a:xfrm>
            <a:off x="7251192"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0E2A55"/>
                </a:solidFill>
                <a:latin typeface="Calibri"/>
              </a:rPr>
              <a:t>8%</a:t>
            </a:r>
          </a:p>
        </p:txBody>
      </p:sp>
      <p:sp>
        <p:nvSpPr>
          <p:cNvPr id="39" name="TextBox 38"/>
          <p:cNvSpPr txBox="1"/>
          <p:nvPr/>
        </p:nvSpPr>
        <p:spPr>
          <a:xfrm>
            <a:off x="7251192"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55C6B"/>
                </a:solidFill>
                <a:latin typeface="Calibri"/>
              </a:rPr>
              <a:t>Referral driven enrolments</a:t>
            </a:r>
          </a:p>
        </p:txBody>
      </p:sp>
      <p:sp>
        <p:nvSpPr>
          <p:cNvPr id="40" name="TextBox 39"/>
          <p:cNvSpPr txBox="1"/>
          <p:nvPr/>
        </p:nvSpPr>
        <p:spPr>
          <a:xfrm>
            <a:off x="7251192"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vs current around 3%</a:t>
            </a:r>
          </a:p>
        </p:txBody>
      </p:sp>
      <p:sp>
        <p:nvSpPr>
          <p:cNvPr id="41" name="TextBox 40"/>
          <p:cNvSpPr txBox="1"/>
          <p:nvPr/>
        </p:nvSpPr>
        <p:spPr>
          <a:xfrm>
            <a:off x="9500616" y="4617719"/>
            <a:ext cx="2249424" cy="411480"/>
          </a:xfrm>
          <a:prstGeom prst="rect">
            <a:avLst/>
          </a:prstGeom>
          <a:noFill/>
        </p:spPr>
        <p:txBody>
          <a:bodyPr wrap="square" lIns="45720" rIns="45720" tIns="18288" bIns="18288" anchor="t">
            <a:spAutoFit/>
          </a:bodyPr>
          <a:lstStyle/>
          <a:p>
            <a:pPr algn="l">
              <a:lnSpc>
                <a:spcPct val="125000"/>
              </a:lnSpc>
            </a:pPr>
            <a:r>
              <a:rPr sz="2200" b="1" i="0">
                <a:solidFill>
                  <a:srgbClr val="0E2A55"/>
                </a:solidFill>
                <a:latin typeface="Calibri"/>
              </a:rPr>
              <a:t>minus 25%</a:t>
            </a:r>
          </a:p>
        </p:txBody>
      </p:sp>
      <p:sp>
        <p:nvSpPr>
          <p:cNvPr id="42" name="TextBox 41"/>
          <p:cNvSpPr txBox="1"/>
          <p:nvPr/>
        </p:nvSpPr>
        <p:spPr>
          <a:xfrm>
            <a:off x="9500616" y="5074919"/>
            <a:ext cx="2249424" cy="274320"/>
          </a:xfrm>
          <a:prstGeom prst="rect">
            <a:avLst/>
          </a:prstGeom>
          <a:noFill/>
        </p:spPr>
        <p:txBody>
          <a:bodyPr wrap="square" lIns="45720" rIns="45720" tIns="18288" bIns="18288" anchor="t">
            <a:spAutoFit/>
          </a:bodyPr>
          <a:lstStyle/>
          <a:p>
            <a:pPr algn="l">
              <a:lnSpc>
                <a:spcPct val="125000"/>
              </a:lnSpc>
            </a:pPr>
            <a:r>
              <a:rPr sz="930" b="0" i="0">
                <a:solidFill>
                  <a:srgbClr val="555C6B"/>
                </a:solidFill>
                <a:latin typeface="Calibri"/>
              </a:rPr>
              <a:t>Cost per enrolment, organic</a:t>
            </a:r>
          </a:p>
        </p:txBody>
      </p:sp>
      <p:sp>
        <p:nvSpPr>
          <p:cNvPr id="43" name="TextBox 42"/>
          <p:cNvSpPr txBox="1"/>
          <p:nvPr/>
        </p:nvSpPr>
        <p:spPr>
          <a:xfrm>
            <a:off x="9500616" y="5303519"/>
            <a:ext cx="2249424"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vs current paid blend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NEW INITIATIVES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Five initiatives I would ship this year.</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11 / 19</a:t>
            </a:r>
          </a:p>
        </p:txBody>
      </p:sp>
      <p:sp>
        <p:nvSpPr>
          <p:cNvPr id="7" name="TextBox 6"/>
          <p:cNvSpPr txBox="1"/>
          <p:nvPr/>
        </p:nvSpPr>
        <p:spPr>
          <a:xfrm>
            <a:off x="457200" y="1417320"/>
            <a:ext cx="11247120" cy="36576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Each one has a clear cost, a single owner, a measurable Key Performance Indicator (KPI), and a kill criterion. If the kill criterion is hit we stop the initiative. Quickly and publicly.</a:t>
            </a:r>
          </a:p>
        </p:txBody>
      </p:sp>
      <p:sp>
        <p:nvSpPr>
          <p:cNvPr id="8" name="Rounded Rectangle 7"/>
          <p:cNvSpPr/>
          <p:nvPr/>
        </p:nvSpPr>
        <p:spPr>
          <a:xfrm>
            <a:off x="457200" y="1874519"/>
            <a:ext cx="11247120" cy="886968"/>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057399"/>
            <a:ext cx="640080" cy="548640"/>
          </a:xfrm>
          <a:prstGeom prst="rect">
            <a:avLst/>
          </a:prstGeom>
          <a:noFill/>
        </p:spPr>
        <p:txBody>
          <a:bodyPr wrap="square" lIns="45720" rIns="45720" tIns="18288" bIns="18288" anchor="t">
            <a:spAutoFit/>
          </a:bodyPr>
          <a:lstStyle/>
          <a:p>
            <a:pPr algn="l">
              <a:lnSpc>
                <a:spcPct val="125000"/>
              </a:lnSpc>
            </a:pPr>
            <a:r>
              <a:rPr sz="2200" b="1" i="0">
                <a:solidFill>
                  <a:srgbClr val="F2B61A"/>
                </a:solidFill>
                <a:latin typeface="Calibri"/>
              </a:rPr>
              <a:t>01</a:t>
            </a:r>
          </a:p>
        </p:txBody>
      </p:sp>
      <p:sp>
        <p:nvSpPr>
          <p:cNvPr id="10" name="TextBox 9"/>
          <p:cNvSpPr txBox="1"/>
          <p:nvPr/>
        </p:nvSpPr>
        <p:spPr>
          <a:xfrm>
            <a:off x="1280160" y="1993391"/>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Onboard 7 Day Sprint</a:t>
            </a:r>
          </a:p>
        </p:txBody>
      </p:sp>
      <p:sp>
        <p:nvSpPr>
          <p:cNvPr id="11" name="TextBox 10"/>
          <p:cNvSpPr txBox="1"/>
          <p:nvPr/>
        </p:nvSpPr>
        <p:spPr>
          <a:xfrm>
            <a:off x="1280160" y="2240279"/>
            <a:ext cx="2926080"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Learner activation</a:t>
            </a:r>
          </a:p>
        </p:txBody>
      </p:sp>
      <p:sp>
        <p:nvSpPr>
          <p:cNvPr id="12" name="TextBox 11"/>
          <p:cNvSpPr txBox="1"/>
          <p:nvPr/>
        </p:nvSpPr>
        <p:spPr>
          <a:xfrm>
            <a:off x="4251960" y="1993391"/>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First seven days post enrolment make or break long term engagement. A guided sprint with a study buddy, three small wins, and one short call with a faculty mentor on Day 4.</a:t>
            </a:r>
          </a:p>
        </p:txBody>
      </p:sp>
      <p:sp>
        <p:nvSpPr>
          <p:cNvPr id="13" name="TextBox 12"/>
          <p:cNvSpPr txBox="1"/>
          <p:nvPr/>
        </p:nvSpPr>
        <p:spPr>
          <a:xfrm>
            <a:off x="4251960" y="2377439"/>
            <a:ext cx="7315200" cy="365760"/>
          </a:xfrm>
          <a:prstGeom prst="rect">
            <a:avLst/>
          </a:prstGeom>
          <a:noFill/>
        </p:spPr>
        <p:txBody>
          <a:bodyPr wrap="square" lIns="45720" rIns="45720" tIns="18288" bIns="18288" anchor="t">
            <a:spAutoFit/>
          </a:bodyPr>
          <a:lstStyle/>
          <a:p>
            <a:pPr algn="l">
              <a:lnSpc>
                <a:spcPct val="130000"/>
              </a:lnSpc>
            </a:pPr>
            <a:r>
              <a:rPr sz="930" b="0" i="1">
                <a:solidFill>
                  <a:srgbClr val="0E2A55"/>
                </a:solidFill>
                <a:latin typeface="Calibri"/>
              </a:rPr>
              <a:t>KPI: drop 30 day fall off by 5+ percentage points. Cost: around Rs 12 lakh per cohort. Owner: Activation Lead. Kill if no measurable change after two cohorts.</a:t>
            </a:r>
          </a:p>
        </p:txBody>
      </p:sp>
      <p:sp>
        <p:nvSpPr>
          <p:cNvPr id="14" name="Rounded Rectangle 13"/>
          <p:cNvSpPr/>
          <p:nvPr/>
        </p:nvSpPr>
        <p:spPr>
          <a:xfrm>
            <a:off x="457200" y="2798063"/>
            <a:ext cx="11247120" cy="886968"/>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2980943"/>
            <a:ext cx="640080" cy="548640"/>
          </a:xfrm>
          <a:prstGeom prst="rect">
            <a:avLst/>
          </a:prstGeom>
          <a:noFill/>
        </p:spPr>
        <p:txBody>
          <a:bodyPr wrap="square" lIns="45720" rIns="45720" tIns="18288" bIns="18288" anchor="t">
            <a:spAutoFit/>
          </a:bodyPr>
          <a:lstStyle/>
          <a:p>
            <a:pPr algn="l">
              <a:lnSpc>
                <a:spcPct val="125000"/>
              </a:lnSpc>
            </a:pPr>
            <a:r>
              <a:rPr sz="2200" b="1" i="0">
                <a:solidFill>
                  <a:srgbClr val="F2B61A"/>
                </a:solidFill>
                <a:latin typeface="Calibri"/>
              </a:rPr>
              <a:t>02</a:t>
            </a:r>
          </a:p>
        </p:txBody>
      </p:sp>
      <p:sp>
        <p:nvSpPr>
          <p:cNvPr id="16" name="TextBox 15"/>
          <p:cNvSpPr txBox="1"/>
          <p:nvPr/>
        </p:nvSpPr>
        <p:spPr>
          <a:xfrm>
            <a:off x="1280160" y="2916935"/>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Amity Ignite, Cohort 0</a:t>
            </a:r>
          </a:p>
        </p:txBody>
      </p:sp>
      <p:sp>
        <p:nvSpPr>
          <p:cNvPr id="17" name="TextBox 16"/>
          <p:cNvSpPr txBox="1"/>
          <p:nvPr/>
        </p:nvSpPr>
        <p:spPr>
          <a:xfrm>
            <a:off x="1280160" y="3163823"/>
            <a:ext cx="2926080"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On campus immersion pilot</a:t>
            </a:r>
          </a:p>
        </p:txBody>
      </p:sp>
      <p:sp>
        <p:nvSpPr>
          <p:cNvPr id="18" name="TextBox 17"/>
          <p:cNvSpPr txBox="1"/>
          <p:nvPr/>
        </p:nvSpPr>
        <p:spPr>
          <a:xfrm>
            <a:off x="4251960" y="2916935"/>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One day, 100 learners, on the existing Noida campus. Belong, Build, Broadcast format. If NSAT (Net Satisfaction) is greater than 4.5 out of 5, we plan Cohort 1 at slightly larger scale.</a:t>
            </a:r>
          </a:p>
        </p:txBody>
      </p:sp>
      <p:sp>
        <p:nvSpPr>
          <p:cNvPr id="19" name="TextBox 18"/>
          <p:cNvSpPr txBox="1"/>
          <p:nvPr/>
        </p:nvSpPr>
        <p:spPr>
          <a:xfrm>
            <a:off x="4251960" y="3300983"/>
            <a:ext cx="7315200" cy="365760"/>
          </a:xfrm>
          <a:prstGeom prst="rect">
            <a:avLst/>
          </a:prstGeom>
          <a:noFill/>
        </p:spPr>
        <p:txBody>
          <a:bodyPr wrap="square" lIns="45720" rIns="45720" tIns="18288" bIns="18288" anchor="t">
            <a:spAutoFit/>
          </a:bodyPr>
          <a:lstStyle/>
          <a:p>
            <a:pPr algn="l">
              <a:lnSpc>
                <a:spcPct val="130000"/>
              </a:lnSpc>
            </a:pPr>
            <a:r>
              <a:rPr sz="930" b="0" i="1">
                <a:solidFill>
                  <a:srgbClr val="0E2A55"/>
                </a:solidFill>
                <a:latin typeface="Calibri"/>
              </a:rPr>
              <a:t>KPI: NSAT 4.5+ and 50%+ public share rate. Cost: around Rs 35 lakh. Owner: Events and Marketing. Kill if NSAT is below 4.0.</a:t>
            </a:r>
          </a:p>
        </p:txBody>
      </p:sp>
      <p:sp>
        <p:nvSpPr>
          <p:cNvPr id="20" name="Rounded Rectangle 19"/>
          <p:cNvSpPr/>
          <p:nvPr/>
        </p:nvSpPr>
        <p:spPr>
          <a:xfrm>
            <a:off x="457200" y="3721607"/>
            <a:ext cx="11247120" cy="886968"/>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904487"/>
            <a:ext cx="640080" cy="548640"/>
          </a:xfrm>
          <a:prstGeom prst="rect">
            <a:avLst/>
          </a:prstGeom>
          <a:noFill/>
        </p:spPr>
        <p:txBody>
          <a:bodyPr wrap="square" lIns="45720" rIns="45720" tIns="18288" bIns="18288" anchor="t">
            <a:spAutoFit/>
          </a:bodyPr>
          <a:lstStyle/>
          <a:p>
            <a:pPr algn="l">
              <a:lnSpc>
                <a:spcPct val="125000"/>
              </a:lnSpc>
            </a:pPr>
            <a:r>
              <a:rPr sz="2200" b="1" i="0">
                <a:solidFill>
                  <a:srgbClr val="F2B61A"/>
                </a:solidFill>
                <a:latin typeface="Calibri"/>
              </a:rPr>
              <a:t>03</a:t>
            </a:r>
          </a:p>
        </p:txBody>
      </p:sp>
      <p:sp>
        <p:nvSpPr>
          <p:cNvPr id="22" name="TextBox 21"/>
          <p:cNvSpPr txBox="1"/>
          <p:nvPr/>
        </p:nvSpPr>
        <p:spPr>
          <a:xfrm>
            <a:off x="1280160" y="3840479"/>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Amity Champions. 50 learner pilot.</a:t>
            </a:r>
          </a:p>
        </p:txBody>
      </p:sp>
      <p:sp>
        <p:nvSpPr>
          <p:cNvPr id="23" name="TextBox 22"/>
          <p:cNvSpPr txBox="1"/>
          <p:nvPr/>
        </p:nvSpPr>
        <p:spPr>
          <a:xfrm>
            <a:off x="1280160" y="4087367"/>
            <a:ext cx="2926080"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Peer leadership</a:t>
            </a:r>
          </a:p>
        </p:txBody>
      </p:sp>
      <p:sp>
        <p:nvSpPr>
          <p:cNvPr id="24" name="TextBox 23"/>
          <p:cNvSpPr txBox="1"/>
          <p:nvPr/>
        </p:nvSpPr>
        <p:spPr>
          <a:xfrm>
            <a:off x="4251960" y="3840479"/>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50 hand picked learners trained to host beSocial circles, run study huddles, and represent Amity online. Stipend Rs 2,000 per month for 6 months. Ignite priority. A verified Champion tag on the certificate.</a:t>
            </a:r>
          </a:p>
        </p:txBody>
      </p:sp>
      <p:sp>
        <p:nvSpPr>
          <p:cNvPr id="25" name="TextBox 24"/>
          <p:cNvSpPr txBox="1"/>
          <p:nvPr/>
        </p:nvSpPr>
        <p:spPr>
          <a:xfrm>
            <a:off x="4251960" y="4224527"/>
            <a:ext cx="7315200" cy="365760"/>
          </a:xfrm>
          <a:prstGeom prst="rect">
            <a:avLst/>
          </a:prstGeom>
          <a:noFill/>
        </p:spPr>
        <p:txBody>
          <a:bodyPr wrap="square" lIns="45720" rIns="45720" tIns="18288" bIns="18288" anchor="t">
            <a:spAutoFit/>
          </a:bodyPr>
          <a:lstStyle/>
          <a:p>
            <a:pPr algn="l">
              <a:lnSpc>
                <a:spcPct val="130000"/>
              </a:lnSpc>
            </a:pPr>
            <a:r>
              <a:rPr sz="930" b="0" i="1">
                <a:solidFill>
                  <a:srgbClr val="0E2A55"/>
                </a:solidFill>
                <a:latin typeface="Calibri"/>
              </a:rPr>
              <a:t>KPI: 60% of beSocial activity sourced by Champions in pilot programmes. Cost: around Rs 6 lakh. Owner: Community Manager. Kill if activity does not move.</a:t>
            </a:r>
          </a:p>
        </p:txBody>
      </p:sp>
      <p:sp>
        <p:nvSpPr>
          <p:cNvPr id="26" name="Rounded Rectangle 25"/>
          <p:cNvSpPr/>
          <p:nvPr/>
        </p:nvSpPr>
        <p:spPr>
          <a:xfrm>
            <a:off x="457200" y="4645151"/>
            <a:ext cx="11247120" cy="886968"/>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828031"/>
            <a:ext cx="640080" cy="548640"/>
          </a:xfrm>
          <a:prstGeom prst="rect">
            <a:avLst/>
          </a:prstGeom>
          <a:noFill/>
        </p:spPr>
        <p:txBody>
          <a:bodyPr wrap="square" lIns="45720" rIns="45720" tIns="18288" bIns="18288" anchor="t">
            <a:spAutoFit/>
          </a:bodyPr>
          <a:lstStyle/>
          <a:p>
            <a:pPr algn="l">
              <a:lnSpc>
                <a:spcPct val="125000"/>
              </a:lnSpc>
            </a:pPr>
            <a:r>
              <a:rPr sz="2200" b="1" i="0">
                <a:solidFill>
                  <a:srgbClr val="F2B61A"/>
                </a:solidFill>
                <a:latin typeface="Calibri"/>
              </a:rPr>
              <a:t>04</a:t>
            </a:r>
          </a:p>
        </p:txBody>
      </p:sp>
      <p:sp>
        <p:nvSpPr>
          <p:cNvPr id="28" name="TextBox 27"/>
          <p:cNvSpPr txBox="1"/>
          <p:nvPr/>
        </p:nvSpPr>
        <p:spPr>
          <a:xfrm>
            <a:off x="1280160" y="4764023"/>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Cohort Circles on beSocial</a:t>
            </a:r>
          </a:p>
        </p:txBody>
      </p:sp>
      <p:sp>
        <p:nvSpPr>
          <p:cNvPr id="29" name="TextBox 28"/>
          <p:cNvSpPr txBox="1"/>
          <p:nvPr/>
        </p:nvSpPr>
        <p:spPr>
          <a:xfrm>
            <a:off x="1280160" y="5010911"/>
            <a:ext cx="2926080"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Community as product</a:t>
            </a:r>
          </a:p>
        </p:txBody>
      </p:sp>
      <p:sp>
        <p:nvSpPr>
          <p:cNvPr id="30" name="TextBox 29"/>
          <p:cNvSpPr txBox="1"/>
          <p:nvPr/>
        </p:nvSpPr>
        <p:spPr>
          <a:xfrm>
            <a:off x="4251960" y="4764023"/>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Group every learner into a 24 person Circle on enrolment day. Same Circle for the full programme. Weekly check in prompt, monthly Champion led 30 minute call. Mostly a product change in beSocial. Low marginal cost.</a:t>
            </a:r>
          </a:p>
        </p:txBody>
      </p:sp>
      <p:sp>
        <p:nvSpPr>
          <p:cNvPr id="31" name="TextBox 30"/>
          <p:cNvSpPr txBox="1"/>
          <p:nvPr/>
        </p:nvSpPr>
        <p:spPr>
          <a:xfrm>
            <a:off x="4251960" y="5148071"/>
            <a:ext cx="7315200" cy="365760"/>
          </a:xfrm>
          <a:prstGeom prst="rect">
            <a:avLst/>
          </a:prstGeom>
          <a:noFill/>
        </p:spPr>
        <p:txBody>
          <a:bodyPr wrap="square" lIns="45720" rIns="45720" tIns="18288" bIns="18288" anchor="t">
            <a:spAutoFit/>
          </a:bodyPr>
          <a:lstStyle/>
          <a:p>
            <a:pPr algn="l">
              <a:lnSpc>
                <a:spcPct val="130000"/>
              </a:lnSpc>
            </a:pPr>
            <a:r>
              <a:rPr sz="930" b="0" i="1">
                <a:solidFill>
                  <a:srgbClr val="0E2A55"/>
                </a:solidFill>
                <a:latin typeface="Calibri"/>
              </a:rPr>
              <a:t>KPI: 50% of Circles still active at month 3. Cost: around Rs 4 lakh, product and comms. Owner: Product (beSocial) and Community. Kill if activity is below 25%.</a:t>
            </a:r>
          </a:p>
        </p:txBody>
      </p:sp>
      <p:sp>
        <p:nvSpPr>
          <p:cNvPr id="32" name="Rounded Rectangle 31"/>
          <p:cNvSpPr/>
          <p:nvPr/>
        </p:nvSpPr>
        <p:spPr>
          <a:xfrm>
            <a:off x="457200" y="5568695"/>
            <a:ext cx="11247120" cy="886968"/>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751575"/>
            <a:ext cx="640080" cy="548640"/>
          </a:xfrm>
          <a:prstGeom prst="rect">
            <a:avLst/>
          </a:prstGeom>
          <a:noFill/>
        </p:spPr>
        <p:txBody>
          <a:bodyPr wrap="square" lIns="45720" rIns="45720" tIns="18288" bIns="18288" anchor="t">
            <a:spAutoFit/>
          </a:bodyPr>
          <a:lstStyle/>
          <a:p>
            <a:pPr algn="l">
              <a:lnSpc>
                <a:spcPct val="125000"/>
              </a:lnSpc>
            </a:pPr>
            <a:r>
              <a:rPr sz="2200" b="1" i="0">
                <a:solidFill>
                  <a:srgbClr val="F2B61A"/>
                </a:solidFill>
                <a:latin typeface="Calibri"/>
              </a:rPr>
              <a:t>05</a:t>
            </a:r>
          </a:p>
        </p:txBody>
      </p:sp>
      <p:sp>
        <p:nvSpPr>
          <p:cNvPr id="34" name="TextBox 33"/>
          <p:cNvSpPr txBox="1"/>
          <p:nvPr/>
        </p:nvSpPr>
        <p:spPr>
          <a:xfrm>
            <a:off x="1280160" y="5687567"/>
            <a:ext cx="2926080" cy="36576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Capstone to Career</a:t>
            </a:r>
          </a:p>
        </p:txBody>
      </p:sp>
      <p:sp>
        <p:nvSpPr>
          <p:cNvPr id="35" name="TextBox 34"/>
          <p:cNvSpPr txBox="1"/>
          <p:nvPr/>
        </p:nvSpPr>
        <p:spPr>
          <a:xfrm>
            <a:off x="1280160" y="5934455"/>
            <a:ext cx="2926080" cy="274320"/>
          </a:xfrm>
          <a:prstGeom prst="rect">
            <a:avLst/>
          </a:prstGeom>
          <a:noFill/>
        </p:spPr>
        <p:txBody>
          <a:bodyPr wrap="square" lIns="45720" rIns="45720" tIns="18288" bIns="18288" anchor="t">
            <a:spAutoFit/>
          </a:bodyPr>
          <a:lstStyle/>
          <a:p>
            <a:pPr algn="l">
              <a:lnSpc>
                <a:spcPct val="125000"/>
              </a:lnSpc>
            </a:pPr>
            <a:r>
              <a:rPr sz="900" b="1" i="1">
                <a:solidFill>
                  <a:srgbClr val="F2B61A"/>
                </a:solidFill>
                <a:latin typeface="Calibri"/>
              </a:rPr>
              <a:t>Career outcomes</a:t>
            </a:r>
          </a:p>
        </p:txBody>
      </p:sp>
      <p:sp>
        <p:nvSpPr>
          <p:cNvPr id="36" name="TextBox 35"/>
          <p:cNvSpPr txBox="1"/>
          <p:nvPr/>
        </p:nvSpPr>
        <p:spPr>
          <a:xfrm>
            <a:off x="4251960" y="5687567"/>
            <a:ext cx="7315200" cy="365760"/>
          </a:xfrm>
          <a:prstGeom prst="rect">
            <a:avLst/>
          </a:prstGeom>
          <a:noFill/>
        </p:spPr>
        <p:txBody>
          <a:bodyPr wrap="square" lIns="45720" rIns="45720" tIns="18288" bIns="18288" anchor="t">
            <a:spAutoFit/>
          </a:bodyPr>
          <a:lstStyle/>
          <a:p>
            <a:pPr algn="l">
              <a:lnSpc>
                <a:spcPct val="130000"/>
              </a:lnSpc>
            </a:pPr>
            <a:r>
              <a:rPr sz="969" b="0" i="0">
                <a:solidFill>
                  <a:srgbClr val="141B2D"/>
                </a:solidFill>
                <a:latin typeface="Calibri"/>
              </a:rPr>
              <a:t>Replace one generic capstone in the Master of Business Administration programme with a real brief contributed by a hiring partner. Best 5% of capstones are surfaced to that partner's hiring team.</a:t>
            </a:r>
          </a:p>
        </p:txBody>
      </p:sp>
      <p:sp>
        <p:nvSpPr>
          <p:cNvPr id="37" name="TextBox 36"/>
          <p:cNvSpPr txBox="1"/>
          <p:nvPr/>
        </p:nvSpPr>
        <p:spPr>
          <a:xfrm>
            <a:off x="4251960" y="6071615"/>
            <a:ext cx="7315200" cy="365760"/>
          </a:xfrm>
          <a:prstGeom prst="rect">
            <a:avLst/>
          </a:prstGeom>
          <a:noFill/>
        </p:spPr>
        <p:txBody>
          <a:bodyPr wrap="square" lIns="45720" rIns="45720" tIns="18288" bIns="18288" anchor="t">
            <a:spAutoFit/>
          </a:bodyPr>
          <a:lstStyle/>
          <a:p>
            <a:pPr algn="l">
              <a:lnSpc>
                <a:spcPct val="130000"/>
              </a:lnSpc>
            </a:pPr>
            <a:r>
              <a:rPr sz="930" b="0" i="1">
                <a:solidFill>
                  <a:srgbClr val="0E2A55"/>
                </a:solidFill>
                <a:latin typeface="Calibri"/>
              </a:rPr>
              <a:t>KPI: 10% of pilot cohort learners get a capstone led interview. Cost: around Rs 3 lakh. Owner: Career Services. Kill if hiring partners do not commit briefs in the first month.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TASK 2   COMMUNITY, ADVOCACY, REFERRALS</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Community, advocacy, and referrals as one system.</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12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150" b="0" i="1">
                <a:solidFill>
                  <a:srgbClr val="555C6B"/>
                </a:solidFill>
                <a:latin typeface="Calibri"/>
              </a:rPr>
              <a:t>These three are usually run as separate programmes. They work better as one funnel. Join the community, become an advocate, refer the next learner.</a:t>
            </a:r>
          </a:p>
        </p:txBody>
      </p:sp>
      <p:sp>
        <p:nvSpPr>
          <p:cNvPr id="8" name="Rounded Rectangle 7"/>
          <p:cNvSpPr/>
          <p:nvPr/>
        </p:nvSpPr>
        <p:spPr>
          <a:xfrm>
            <a:off x="457200" y="1965960"/>
            <a:ext cx="3703320" cy="41605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01.   COMMUNITY</a:t>
            </a:r>
          </a:p>
        </p:txBody>
      </p:sp>
      <p:sp>
        <p:nvSpPr>
          <p:cNvPr id="10" name="TextBox 9"/>
          <p:cNvSpPr txBox="1"/>
          <p:nvPr/>
        </p:nvSpPr>
        <p:spPr>
          <a:xfrm>
            <a:off x="64008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beSocial as a town square, not a feed.</a:t>
            </a:r>
          </a:p>
        </p:txBody>
      </p:sp>
      <p:sp>
        <p:nvSpPr>
          <p:cNvPr id="11" name="TextBox 10"/>
          <p:cNvSpPr txBox="1"/>
          <p:nvPr/>
        </p:nvSpPr>
        <p:spPr>
          <a:xfrm>
            <a:off x="640080" y="3108960"/>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0E2A55"/>
                </a:solidFill>
                <a:latin typeface="Calibri"/>
              </a:rPr>
              <a:t>Cohort Circles</a:t>
            </a:r>
          </a:p>
        </p:txBody>
      </p:sp>
      <p:sp>
        <p:nvSpPr>
          <p:cNvPr id="12" name="TextBox 11"/>
          <p:cNvSpPr txBox="1"/>
          <p:nvPr/>
        </p:nvSpPr>
        <p:spPr>
          <a:xfrm>
            <a:off x="640080" y="3337560"/>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24 learner Circles, formed on enrolment day, kept for the full programme.</a:t>
            </a:r>
          </a:p>
        </p:txBody>
      </p:sp>
      <p:sp>
        <p:nvSpPr>
          <p:cNvPr id="13" name="TextBox 12"/>
          <p:cNvSpPr txBox="1"/>
          <p:nvPr/>
        </p:nvSpPr>
        <p:spPr>
          <a:xfrm>
            <a:off x="640080" y="3822192"/>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0E2A55"/>
                </a:solidFill>
                <a:latin typeface="Calibri"/>
              </a:rPr>
              <a:t>Skill Tribes</a:t>
            </a:r>
          </a:p>
        </p:txBody>
      </p:sp>
      <p:sp>
        <p:nvSpPr>
          <p:cNvPr id="14" name="TextBox 13"/>
          <p:cNvSpPr txBox="1"/>
          <p:nvPr/>
        </p:nvSpPr>
        <p:spPr>
          <a:xfrm>
            <a:off x="640080" y="4050792"/>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Self organising sub communities by interest. Data, finance, marketing. Champion led, weekly thread, monthly project.</a:t>
            </a:r>
          </a:p>
        </p:txBody>
      </p:sp>
      <p:sp>
        <p:nvSpPr>
          <p:cNvPr id="15" name="TextBox 14"/>
          <p:cNvSpPr txBox="1"/>
          <p:nvPr/>
        </p:nvSpPr>
        <p:spPr>
          <a:xfrm>
            <a:off x="640080" y="4535424"/>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0E2A55"/>
                </a:solidFill>
                <a:latin typeface="Calibri"/>
              </a:rPr>
              <a:t>Quarterly Town Hall</a:t>
            </a:r>
          </a:p>
        </p:txBody>
      </p:sp>
      <p:sp>
        <p:nvSpPr>
          <p:cNvPr id="16" name="TextBox 15"/>
          <p:cNvSpPr txBox="1"/>
          <p:nvPr/>
        </p:nvSpPr>
        <p:spPr>
          <a:xfrm>
            <a:off x="640080" y="4764024"/>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An open Ask Me Anything (AMA) session with leadership. Anyone can submit a question. Top questions answered live. Recording archived.</a:t>
            </a:r>
          </a:p>
        </p:txBody>
      </p:sp>
      <p:sp>
        <p:nvSpPr>
          <p:cNvPr id="17" name="TextBox 16"/>
          <p:cNvSpPr txBox="1"/>
          <p:nvPr/>
        </p:nvSpPr>
        <p:spPr>
          <a:xfrm>
            <a:off x="640080" y="5248656"/>
            <a:ext cx="3337560" cy="274320"/>
          </a:xfrm>
          <a:prstGeom prst="rect">
            <a:avLst/>
          </a:prstGeom>
          <a:noFill/>
        </p:spPr>
        <p:txBody>
          <a:bodyPr wrap="square" lIns="45720" rIns="45720" tIns="18288" bIns="18288" anchor="t">
            <a:spAutoFit/>
          </a:bodyPr>
          <a:lstStyle/>
          <a:p>
            <a:pPr algn="l">
              <a:lnSpc>
                <a:spcPct val="125000"/>
              </a:lnSpc>
            </a:pPr>
            <a:r>
              <a:rPr sz="1030" b="1" i="0">
                <a:solidFill>
                  <a:srgbClr val="0E2A55"/>
                </a:solidFill>
                <a:latin typeface="Calibri"/>
              </a:rPr>
              <a:t>Quiet Sunday rule</a:t>
            </a:r>
          </a:p>
        </p:txBody>
      </p:sp>
      <p:sp>
        <p:nvSpPr>
          <p:cNvPr id="18" name="TextBox 17"/>
          <p:cNvSpPr txBox="1"/>
          <p:nvPr/>
        </p:nvSpPr>
        <p:spPr>
          <a:xfrm>
            <a:off x="640080" y="5477256"/>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No broadcast posts on Sundays. Only learner initiated content. Small rule, big signal. The platform is for them, not at them.</a:t>
            </a:r>
          </a:p>
        </p:txBody>
      </p:sp>
      <p:sp>
        <p:nvSpPr>
          <p:cNvPr id="19" name="Rounded Rectangle 18"/>
          <p:cNvSpPr/>
          <p:nvPr/>
        </p:nvSpPr>
        <p:spPr>
          <a:xfrm>
            <a:off x="4297680" y="1965960"/>
            <a:ext cx="3703320" cy="41605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02.   ADVOCACY</a:t>
            </a:r>
          </a:p>
        </p:txBody>
      </p:sp>
      <p:sp>
        <p:nvSpPr>
          <p:cNvPr id="21" name="TextBox 20"/>
          <p:cNvSpPr txBox="1"/>
          <p:nvPr/>
        </p:nvSpPr>
        <p:spPr>
          <a:xfrm>
            <a:off x="448056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Three tiers, increasing intensity.</a:t>
            </a:r>
          </a:p>
        </p:txBody>
      </p:sp>
      <p:sp>
        <p:nvSpPr>
          <p:cNvPr id="22" name="Rounded Rectangle 21"/>
          <p:cNvSpPr/>
          <p:nvPr/>
        </p:nvSpPr>
        <p:spPr>
          <a:xfrm>
            <a:off x="4457700" y="3108960"/>
            <a:ext cx="3383280" cy="86868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4860" y="3200400"/>
            <a:ext cx="310896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AMBASSADORS.   Around 500.</a:t>
            </a:r>
          </a:p>
        </p:txBody>
      </p:sp>
      <p:sp>
        <p:nvSpPr>
          <p:cNvPr id="24" name="TextBox 23"/>
          <p:cNvSpPr txBox="1"/>
          <p:nvPr/>
        </p:nvSpPr>
        <p:spPr>
          <a:xfrm>
            <a:off x="4594860" y="3438144"/>
            <a:ext cx="310896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Anyone who shares one piece of public content with hashtag AmityOnline. Self enrol. Auto perks: monthly digital drop, early Ignite access.</a:t>
            </a:r>
          </a:p>
        </p:txBody>
      </p:sp>
      <p:sp>
        <p:nvSpPr>
          <p:cNvPr id="25" name="Rounded Rectangle 24"/>
          <p:cNvSpPr/>
          <p:nvPr/>
        </p:nvSpPr>
        <p:spPr>
          <a:xfrm>
            <a:off x="4869180" y="4023360"/>
            <a:ext cx="2560320" cy="86868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06340" y="4114800"/>
            <a:ext cx="22860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CHAMPIONS.   Around 50, year 1.</a:t>
            </a:r>
          </a:p>
        </p:txBody>
      </p:sp>
      <p:sp>
        <p:nvSpPr>
          <p:cNvPr id="27" name="TextBox 26"/>
          <p:cNvSpPr txBox="1"/>
          <p:nvPr/>
        </p:nvSpPr>
        <p:spPr>
          <a:xfrm>
            <a:off x="5006340" y="4352544"/>
            <a:ext cx="228600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Trusted learners who run circles and host AMAs. Stipend Rs 2,000 per month. Ignite priority. Champion tag on the certificate.</a:t>
            </a:r>
          </a:p>
        </p:txBody>
      </p:sp>
      <p:sp>
        <p:nvSpPr>
          <p:cNvPr id="28" name="Rounded Rectangle 27"/>
          <p:cNvSpPr/>
          <p:nvPr/>
        </p:nvSpPr>
        <p:spPr>
          <a:xfrm>
            <a:off x="5280660" y="4937760"/>
            <a:ext cx="1737360" cy="86868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17820" y="5029200"/>
            <a:ext cx="146304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VOICES.   Around 10, year 1.</a:t>
            </a:r>
          </a:p>
        </p:txBody>
      </p:sp>
      <p:sp>
        <p:nvSpPr>
          <p:cNvPr id="30" name="TextBox 29"/>
          <p:cNvSpPr txBox="1"/>
          <p:nvPr/>
        </p:nvSpPr>
        <p:spPr>
          <a:xfrm>
            <a:off x="5417820" y="5266944"/>
            <a:ext cx="1463040" cy="502920"/>
          </a:xfrm>
          <a:prstGeom prst="rect">
            <a:avLst/>
          </a:prstGeom>
          <a:noFill/>
        </p:spPr>
        <p:txBody>
          <a:bodyPr wrap="square" lIns="45720" rIns="45720" tIns="18288" bIns="18288" anchor="t">
            <a:spAutoFit/>
          </a:bodyPr>
          <a:lstStyle/>
          <a:p>
            <a:pPr algn="l">
              <a:lnSpc>
                <a:spcPct val="130000"/>
              </a:lnSpc>
            </a:pPr>
            <a:r>
              <a:rPr sz="869" b="0" i="0">
                <a:solidFill>
                  <a:srgbClr val="FFFFFF"/>
                </a:solidFill>
                <a:latin typeface="Calibri"/>
              </a:rPr>
              <a:t>Top storytellers. Co create content for the AmityVoices podcast and reels. Quarterly retainer. Ignite VIP access.</a:t>
            </a:r>
          </a:p>
        </p:txBody>
      </p:sp>
      <p:sp>
        <p:nvSpPr>
          <p:cNvPr id="31" name="Rounded Rectangle 30"/>
          <p:cNvSpPr/>
          <p:nvPr/>
        </p:nvSpPr>
        <p:spPr>
          <a:xfrm>
            <a:off x="8138160" y="1965960"/>
            <a:ext cx="3703320" cy="41605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21040" y="2130552"/>
            <a:ext cx="3703320" cy="27432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03.   REFERRALS</a:t>
            </a:r>
          </a:p>
        </p:txBody>
      </p:sp>
      <p:sp>
        <p:nvSpPr>
          <p:cNvPr id="33" name="TextBox 32"/>
          <p:cNvSpPr txBox="1"/>
          <p:nvPr/>
        </p:nvSpPr>
        <p:spPr>
          <a:xfrm>
            <a:off x="8321040" y="2423160"/>
            <a:ext cx="3337560" cy="502920"/>
          </a:xfrm>
          <a:prstGeom prst="rect">
            <a:avLst/>
          </a:prstGeom>
          <a:noFill/>
        </p:spPr>
        <p:txBody>
          <a:bodyPr wrap="square" lIns="45720" rIns="45720" tIns="18288" bIns="18288" anchor="t">
            <a:spAutoFit/>
          </a:bodyPr>
          <a:lstStyle/>
          <a:p>
            <a:pPr algn="l">
              <a:lnSpc>
                <a:spcPct val="115000"/>
              </a:lnSpc>
            </a:pPr>
            <a:r>
              <a:rPr sz="1400" b="1" i="0">
                <a:solidFill>
                  <a:srgbClr val="0E2A55"/>
                </a:solidFill>
                <a:latin typeface="Calibri"/>
              </a:rPr>
              <a:t>Pass the Flame. A three lever ladder.</a:t>
            </a:r>
          </a:p>
        </p:txBody>
      </p:sp>
      <p:sp>
        <p:nvSpPr>
          <p:cNvPr id="34" name="TextBox 33"/>
          <p:cNvSpPr txBox="1"/>
          <p:nvPr/>
        </p:nvSpPr>
        <p:spPr>
          <a:xfrm>
            <a:off x="8321040" y="310896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0E2A55"/>
                </a:solidFill>
                <a:latin typeface="Calibri"/>
              </a:rPr>
              <a:t>Rs 10,000 fee waiver, for the friend.</a:t>
            </a:r>
          </a:p>
        </p:txBody>
      </p:sp>
      <p:sp>
        <p:nvSpPr>
          <p:cNvPr id="35" name="TextBox 34"/>
          <p:cNvSpPr txBox="1"/>
          <p:nvPr/>
        </p:nvSpPr>
        <p:spPr>
          <a:xfrm>
            <a:off x="8321040" y="349300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Front load the value to the joiner, not the referrer. Trust beats cashback.</a:t>
            </a:r>
          </a:p>
        </p:txBody>
      </p:sp>
      <p:sp>
        <p:nvSpPr>
          <p:cNvPr id="36" name="TextBox 35"/>
          <p:cNvSpPr txBox="1"/>
          <p:nvPr/>
        </p:nvSpPr>
        <p:spPr>
          <a:xfrm>
            <a:off x="8321040" y="397764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0E2A55"/>
                </a:solidFill>
                <a:latin typeface="Calibri"/>
              </a:rPr>
              <a:t>Tier kicker, for the referrer.</a:t>
            </a:r>
          </a:p>
        </p:txBody>
      </p:sp>
      <p:sp>
        <p:nvSpPr>
          <p:cNvPr id="37" name="TextBox 36"/>
          <p:cNvSpPr txBox="1"/>
          <p:nvPr/>
        </p:nvSpPr>
        <p:spPr>
          <a:xfrm>
            <a:off x="8321040" y="436168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1 referral. Ignite seat hold. 3 referrals. Free Ignite seat, Top Referrer badge. 5 referrals. Paid masterclass host slot. Ladders work better than flat rates.</a:t>
            </a:r>
          </a:p>
        </p:txBody>
      </p:sp>
      <p:sp>
        <p:nvSpPr>
          <p:cNvPr id="38" name="TextBox 37"/>
          <p:cNvSpPr txBox="1"/>
          <p:nvPr/>
        </p:nvSpPr>
        <p:spPr>
          <a:xfrm>
            <a:off x="8321040" y="4846320"/>
            <a:ext cx="3337560" cy="365760"/>
          </a:xfrm>
          <a:prstGeom prst="rect">
            <a:avLst/>
          </a:prstGeom>
          <a:noFill/>
        </p:spPr>
        <p:txBody>
          <a:bodyPr wrap="square" lIns="45720" rIns="45720" tIns="18288" bIns="18288" anchor="t">
            <a:spAutoFit/>
          </a:bodyPr>
          <a:lstStyle/>
          <a:p>
            <a:pPr algn="l">
              <a:lnSpc>
                <a:spcPct val="120000"/>
              </a:lnSpc>
            </a:pPr>
            <a:r>
              <a:rPr sz="1019" b="1" i="0">
                <a:solidFill>
                  <a:srgbClr val="0E2A55"/>
                </a:solidFill>
                <a:latin typeface="Calibri"/>
              </a:rPr>
              <a:t>Cohort unlock.</a:t>
            </a:r>
          </a:p>
        </p:txBody>
      </p:sp>
      <p:sp>
        <p:nvSpPr>
          <p:cNvPr id="39" name="TextBox 38"/>
          <p:cNvSpPr txBox="1"/>
          <p:nvPr/>
        </p:nvSpPr>
        <p:spPr>
          <a:xfrm>
            <a:off x="8321040" y="5230368"/>
            <a:ext cx="3337560" cy="502920"/>
          </a:xfrm>
          <a:prstGeom prst="rect">
            <a:avLst/>
          </a:prstGeom>
          <a:noFill/>
        </p:spPr>
        <p:txBody>
          <a:bodyPr wrap="square" lIns="45720" rIns="45720" tIns="18288" bIns="18288" anchor="t">
            <a:spAutoFit/>
          </a:bodyPr>
          <a:lstStyle/>
          <a:p>
            <a:pPr algn="l">
              <a:lnSpc>
                <a:spcPct val="135000"/>
              </a:lnSpc>
            </a:pPr>
            <a:r>
              <a:rPr sz="930" b="0" i="0">
                <a:solidFill>
                  <a:srgbClr val="141B2D"/>
                </a:solidFill>
                <a:latin typeface="Calibri"/>
              </a:rPr>
              <a:t>Once a cohort hits 50 referrals, the whole cohort gets one extra exclusive event with a marquee Amity faculty member. Group goal beats individual goal.</a:t>
            </a:r>
          </a:p>
        </p:txBody>
      </p:sp>
      <p:sp>
        <p:nvSpPr>
          <p:cNvPr id="40" name="TextBox 39"/>
          <p:cNvSpPr txBox="1"/>
          <p:nvPr/>
        </p:nvSpPr>
        <p:spPr>
          <a:xfrm>
            <a:off x="457200" y="6355080"/>
            <a:ext cx="11247120" cy="365760"/>
          </a:xfrm>
          <a:prstGeom prst="rect">
            <a:avLst/>
          </a:prstGeom>
          <a:noFill/>
        </p:spPr>
        <p:txBody>
          <a:bodyPr wrap="square" lIns="45720" rIns="45720" tIns="18288" bIns="18288" anchor="t">
            <a:spAutoFit/>
          </a:bodyPr>
          <a:lstStyle/>
          <a:p>
            <a:pPr algn="l">
              <a:lnSpc>
                <a:spcPct val="135000"/>
              </a:lnSpc>
            </a:pPr>
            <a:r>
              <a:rPr sz="1050" b="0" i="1">
                <a:solidFill>
                  <a:srgbClr val="555C6B"/>
                </a:solidFill>
                <a:latin typeface="Calibri"/>
              </a:rPr>
              <a:t>Honest take. Nothing scales until something becomes a status symbol. Champion on the certificate is the smallest, cheapest move in this whole deck. And probably the highest leverage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462479" cy="502920"/>
          </a:xfrm>
          <a:prstGeom prst="rect">
            <a:avLst/>
          </a:prstGeom>
        </p:spPr>
      </p:pic>
      <p:sp>
        <p:nvSpPr>
          <p:cNvPr id="5" name="TextBox 4"/>
          <p:cNvSpPr txBox="1"/>
          <p:nvPr/>
        </p:nvSpPr>
        <p:spPr>
          <a:xfrm>
            <a:off x="640080" y="2011680"/>
            <a:ext cx="6400800" cy="365760"/>
          </a:xfrm>
          <a:prstGeom prst="rect">
            <a:avLst/>
          </a:prstGeom>
          <a:noFill/>
        </p:spPr>
        <p:txBody>
          <a:bodyPr wrap="square" lIns="45720" rIns="45720" tIns="18288" bIns="18288" anchor="t">
            <a:spAutoFit/>
          </a:bodyPr>
          <a:lstStyle/>
          <a:p>
            <a:pPr algn="l">
              <a:lnSpc>
                <a:spcPct val="100000"/>
              </a:lnSpc>
            </a:pPr>
            <a:r>
              <a:rPr sz="1100" b="1" i="0">
                <a:solidFill>
                  <a:srgbClr val="F2B61A"/>
                </a:solidFill>
                <a:latin typeface="Calibri"/>
              </a:rPr>
              <a:t>TASK 03   LEADERSHIP DECK   FIVE SLIDES</a:t>
            </a:r>
          </a:p>
        </p:txBody>
      </p:sp>
      <p:sp>
        <p:nvSpPr>
          <p:cNvPr id="6" name="TextBox 5"/>
          <p:cNvSpPr txBox="1"/>
          <p:nvPr/>
        </p:nvSpPr>
        <p:spPr>
          <a:xfrm>
            <a:off x="640080" y="2468880"/>
            <a:ext cx="10058400" cy="2194560"/>
          </a:xfrm>
          <a:prstGeom prst="rect">
            <a:avLst/>
          </a:prstGeom>
          <a:noFill/>
        </p:spPr>
        <p:txBody>
          <a:bodyPr wrap="square" lIns="45720" rIns="45720" tIns="18288" bIns="18288" anchor="t">
            <a:spAutoFit/>
          </a:bodyPr>
          <a:lstStyle/>
          <a:p>
            <a:pPr algn="l">
              <a:lnSpc>
                <a:spcPct val="95000"/>
              </a:lnSpc>
            </a:pPr>
            <a:r>
              <a:rPr sz="4200" b="1" i="0">
                <a:solidFill>
                  <a:srgbClr val="FFFFFF"/>
                </a:solidFill>
                <a:latin typeface="Calibri"/>
              </a:rPr>
              <a:t>How student engagement</a:t>
            </a:r>
          </a:p>
          <a:p>
            <a:pPr algn="l">
              <a:lnSpc>
                <a:spcPct val="95000"/>
              </a:lnSpc>
            </a:pPr>
            <a:r>
              <a:rPr sz="4200" b="1" i="0">
                <a:solidFill>
                  <a:srgbClr val="FFFFFF"/>
                </a:solidFill>
                <a:latin typeface="Calibri"/>
              </a:rPr>
              <a:t>drives retention</a:t>
            </a:r>
          </a:p>
          <a:p>
            <a:pPr algn="l">
              <a:lnSpc>
                <a:spcPct val="95000"/>
              </a:lnSpc>
            </a:pPr>
            <a:r>
              <a:rPr sz="4200" b="1" i="0">
                <a:solidFill>
                  <a:srgbClr val="FFFFFF"/>
                </a:solidFill>
                <a:latin typeface="Calibri"/>
              </a:rPr>
              <a:t>and brand advocacy.</a:t>
            </a:r>
          </a:p>
        </p:txBody>
      </p:sp>
      <p:sp>
        <p:nvSpPr>
          <p:cNvPr id="7" name="TextBox 6"/>
          <p:cNvSpPr txBox="1"/>
          <p:nvPr/>
        </p:nvSpPr>
        <p:spPr>
          <a:xfrm>
            <a:off x="640080" y="5212080"/>
            <a:ext cx="10058400" cy="914400"/>
          </a:xfrm>
          <a:prstGeom prst="rect">
            <a:avLst/>
          </a:prstGeom>
          <a:noFill/>
        </p:spPr>
        <p:txBody>
          <a:bodyPr wrap="square" lIns="45720" rIns="45720" tIns="18288" bIns="18288" anchor="t">
            <a:spAutoFit/>
          </a:bodyPr>
          <a:lstStyle/>
          <a:p>
            <a:pPr algn="l">
              <a:lnSpc>
                <a:spcPct val="135000"/>
              </a:lnSpc>
            </a:pPr>
            <a:r>
              <a:rPr sz="1400" b="0" i="1">
                <a:solidFill>
                  <a:srgbClr val="F8D36F"/>
                </a:solidFill>
                <a:latin typeface="Calibri"/>
              </a:rPr>
              <a:t>A short, board ready story. Five slides. Built around</a:t>
            </a:r>
          </a:p>
          <a:p>
            <a:pPr algn="l">
              <a:lnSpc>
                <a:spcPct val="135000"/>
              </a:lnSpc>
            </a:pPr>
            <a:r>
              <a:rPr sz="1400" b="0" i="1">
                <a:solidFill>
                  <a:srgbClr val="F8D36F"/>
                </a:solidFill>
                <a:latin typeface="Calibri"/>
              </a:rPr>
              <a:t>the question. Who is the most expensive learner we have?</a:t>
            </a:r>
          </a:p>
        </p:txBody>
      </p:sp>
      <p:sp>
        <p:nvSpPr>
          <p:cNvPr id="8" name="TextBox 7"/>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9" name="TextBox 8"/>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1 OF 5   THE HOOK</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The most expensive learner is the quietest one.</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14 / 19</a:t>
            </a:r>
          </a:p>
        </p:txBody>
      </p:sp>
      <p:sp>
        <p:nvSpPr>
          <p:cNvPr id="7" name="Rounded Rectangle 6"/>
          <p:cNvSpPr/>
          <p:nvPr/>
        </p:nvSpPr>
        <p:spPr>
          <a:xfrm>
            <a:off x="457200" y="1508760"/>
            <a:ext cx="5486400" cy="493776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74520"/>
            <a:ext cx="4937760" cy="45720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OUR HYPOTHESIS</a:t>
            </a:r>
          </a:p>
        </p:txBody>
      </p:sp>
      <p:sp>
        <p:nvSpPr>
          <p:cNvPr id="9" name="TextBox 8"/>
          <p:cNvSpPr txBox="1"/>
          <p:nvPr/>
        </p:nvSpPr>
        <p:spPr>
          <a:xfrm>
            <a:off x="822960" y="2377440"/>
            <a:ext cx="4937760" cy="2194560"/>
          </a:xfrm>
          <a:prstGeom prst="rect">
            <a:avLst/>
          </a:prstGeom>
          <a:noFill/>
        </p:spPr>
        <p:txBody>
          <a:bodyPr wrap="square" lIns="45720" rIns="45720" tIns="18288" bIns="18288" anchor="t">
            <a:spAutoFit/>
          </a:bodyPr>
          <a:lstStyle/>
          <a:p>
            <a:pPr algn="l">
              <a:lnSpc>
                <a:spcPct val="95000"/>
              </a:lnSpc>
            </a:pPr>
            <a:r>
              <a:rPr sz="11000" b="1" i="0">
                <a:solidFill>
                  <a:srgbClr val="FFFFFF"/>
                </a:solidFill>
                <a:latin typeface="Calibri"/>
              </a:rPr>
              <a:t>1 in 3</a:t>
            </a:r>
          </a:p>
        </p:txBody>
      </p:sp>
      <p:sp>
        <p:nvSpPr>
          <p:cNvPr id="10" name="TextBox 9"/>
          <p:cNvSpPr txBox="1"/>
          <p:nvPr/>
        </p:nvSpPr>
        <p:spPr>
          <a:xfrm>
            <a:off x="822960" y="4206240"/>
            <a:ext cx="4937760" cy="640080"/>
          </a:xfrm>
          <a:prstGeom prst="rect">
            <a:avLst/>
          </a:prstGeom>
          <a:noFill/>
        </p:spPr>
        <p:txBody>
          <a:bodyPr wrap="square" lIns="45720" rIns="45720" tIns="18288" bIns="18288" anchor="t">
            <a:spAutoFit/>
          </a:bodyPr>
          <a:lstStyle/>
          <a:p>
            <a:pPr algn="l">
              <a:lnSpc>
                <a:spcPct val="140000"/>
              </a:lnSpc>
            </a:pPr>
            <a:r>
              <a:rPr sz="1400" b="0" i="0">
                <a:solidFill>
                  <a:srgbClr val="FFFFFF"/>
                </a:solidFill>
                <a:latin typeface="Calibri"/>
              </a:rPr>
              <a:t>of our learners is quietly drifting</a:t>
            </a:r>
          </a:p>
          <a:p>
            <a:pPr algn="l">
              <a:lnSpc>
                <a:spcPct val="140000"/>
              </a:lnSpc>
            </a:pPr>
            <a:r>
              <a:rPr sz="1400" b="0" i="0">
                <a:solidFill>
                  <a:srgbClr val="FFFFFF"/>
                </a:solidFill>
                <a:latin typeface="Calibri"/>
              </a:rPr>
              <a:t>in the first 30 days.</a:t>
            </a:r>
          </a:p>
        </p:txBody>
      </p:sp>
      <p:sp>
        <p:nvSpPr>
          <p:cNvPr id="11" name="TextBox 10"/>
          <p:cNvSpPr txBox="1"/>
          <p:nvPr/>
        </p:nvSpPr>
        <p:spPr>
          <a:xfrm>
            <a:off x="822960" y="5394960"/>
            <a:ext cx="4937760" cy="548640"/>
          </a:xfrm>
          <a:prstGeom prst="rect">
            <a:avLst/>
          </a:prstGeom>
          <a:noFill/>
        </p:spPr>
        <p:txBody>
          <a:bodyPr wrap="square" lIns="45720" rIns="45720" tIns="18288" bIns="18288" anchor="t">
            <a:spAutoFit/>
          </a:bodyPr>
          <a:lstStyle/>
          <a:p>
            <a:pPr algn="l">
              <a:lnSpc>
                <a:spcPct val="135000"/>
              </a:lnSpc>
            </a:pPr>
            <a:r>
              <a:rPr sz="900" b="0" i="1">
                <a:solidFill>
                  <a:srgbClr val="F8D36F"/>
                </a:solidFill>
                <a:latin typeface="Calibri"/>
              </a:rPr>
              <a:t>Anchor for the diagnostic. To be measured against our actual</a:t>
            </a:r>
          </a:p>
          <a:p>
            <a:pPr algn="l">
              <a:lnSpc>
                <a:spcPct val="135000"/>
              </a:lnSpc>
            </a:pPr>
            <a:r>
              <a:rPr sz="900" b="0" i="1">
                <a:solidFill>
                  <a:srgbClr val="F8D36F"/>
                </a:solidFill>
                <a:latin typeface="Calibri"/>
              </a:rPr>
              <a:t>Active Learner Score in week 1 of the engagement audit.</a:t>
            </a:r>
          </a:p>
        </p:txBody>
      </p:sp>
      <p:sp>
        <p:nvSpPr>
          <p:cNvPr id="12" name="TextBox 11"/>
          <p:cNvSpPr txBox="1"/>
          <p:nvPr/>
        </p:nvSpPr>
        <p:spPr>
          <a:xfrm>
            <a:off x="6400800" y="1600200"/>
            <a:ext cx="5486400" cy="457200"/>
          </a:xfrm>
          <a:prstGeom prst="rect">
            <a:avLst/>
          </a:prstGeom>
          <a:noFill/>
        </p:spPr>
        <p:txBody>
          <a:bodyPr wrap="square" lIns="45720" rIns="45720" tIns="18288" bIns="18288" anchor="t">
            <a:spAutoFit/>
          </a:bodyPr>
          <a:lstStyle/>
          <a:p>
            <a:pPr algn="l">
              <a:lnSpc>
                <a:spcPct val="120000"/>
              </a:lnSpc>
            </a:pPr>
            <a:r>
              <a:rPr sz="1400" b="1" i="0">
                <a:solidFill>
                  <a:srgbClr val="0E2A55"/>
                </a:solidFill>
                <a:latin typeface="Calibri"/>
              </a:rPr>
              <a:t>Why this is the most expensive line on our profit and loss:</a:t>
            </a:r>
          </a:p>
        </p:txBody>
      </p:sp>
      <p:sp>
        <p:nvSpPr>
          <p:cNvPr id="13" name="TextBox 12"/>
          <p:cNvSpPr txBox="1"/>
          <p:nvPr/>
        </p:nvSpPr>
        <p:spPr>
          <a:xfrm>
            <a:off x="6400800" y="2286000"/>
            <a:ext cx="5486400" cy="1371600"/>
          </a:xfrm>
          <a:prstGeom prst="rect">
            <a:avLst/>
          </a:prstGeom>
          <a:noFill/>
        </p:spPr>
        <p:txBody>
          <a:bodyPr wrap="square">
            <a:spAutoFit/>
          </a:bodyPr>
          <a:lstStyle/>
          <a:p>
            <a:pPr>
              <a:lnSpc>
                <a:spcPct val="140000"/>
              </a:lnSpc>
            </a:pPr>
            <a:r>
              <a:rPr b="1" sz="1200">
                <a:solidFill>
                  <a:srgbClr val="0E2A55"/>
                </a:solidFill>
                <a:latin typeface="Calibri"/>
              </a:rPr>
              <a:t>Most learners do not drop out loudly. </a:t>
            </a:r>
            <a:r>
              <a:rPr sz="1200">
                <a:solidFill>
                  <a:srgbClr val="141B2D"/>
                </a:solidFill>
                <a:latin typeface="Calibri"/>
              </a:rPr>
              <a:t>They drift. Two missed weeks become a month, then a tab in someone's browser called finish later that never gets reopened.</a:t>
            </a:r>
          </a:p>
        </p:txBody>
      </p:sp>
      <p:sp>
        <p:nvSpPr>
          <p:cNvPr id="14" name="TextBox 13"/>
          <p:cNvSpPr txBox="1"/>
          <p:nvPr/>
        </p:nvSpPr>
        <p:spPr>
          <a:xfrm>
            <a:off x="6400800" y="3611880"/>
            <a:ext cx="5486400" cy="1371600"/>
          </a:xfrm>
          <a:prstGeom prst="rect">
            <a:avLst/>
          </a:prstGeom>
          <a:noFill/>
        </p:spPr>
        <p:txBody>
          <a:bodyPr wrap="square">
            <a:spAutoFit/>
          </a:bodyPr>
          <a:lstStyle/>
          <a:p>
            <a:pPr>
              <a:lnSpc>
                <a:spcPct val="140000"/>
              </a:lnSpc>
            </a:pPr>
            <a:r>
              <a:rPr b="1" sz="1200">
                <a:solidFill>
                  <a:srgbClr val="0E2A55"/>
                </a:solidFill>
                <a:latin typeface="Calibri"/>
              </a:rPr>
              <a:t>And the brutal economics. </a:t>
            </a:r>
            <a:r>
              <a:rPr sz="1200">
                <a:solidFill>
                  <a:srgbClr val="141B2D"/>
                </a:solidFill>
                <a:latin typeface="Calibri"/>
              </a:rPr>
              <a:t>Every learner who ghosts is paid for marketing wasted, and a referral we will not get. We do not just lose tuition. We lose the next learner they would have brought in.</a:t>
            </a:r>
          </a:p>
        </p:txBody>
      </p:sp>
      <p:sp>
        <p:nvSpPr>
          <p:cNvPr id="15" name="TextBox 14"/>
          <p:cNvSpPr txBox="1"/>
          <p:nvPr/>
        </p:nvSpPr>
        <p:spPr>
          <a:xfrm>
            <a:off x="6400800" y="4937760"/>
            <a:ext cx="5486400" cy="1371600"/>
          </a:xfrm>
          <a:prstGeom prst="rect">
            <a:avLst/>
          </a:prstGeom>
          <a:noFill/>
        </p:spPr>
        <p:txBody>
          <a:bodyPr wrap="square">
            <a:spAutoFit/>
          </a:bodyPr>
          <a:lstStyle/>
          <a:p>
            <a:pPr>
              <a:lnSpc>
                <a:spcPct val="140000"/>
              </a:lnSpc>
            </a:pPr>
            <a:r>
              <a:rPr b="1" sz="1200">
                <a:solidFill>
                  <a:srgbClr val="0E2A55"/>
                </a:solidFill>
                <a:latin typeface="Calibri"/>
              </a:rPr>
              <a:t>So the right question is not </a:t>
            </a:r>
            <a:r>
              <a:rPr sz="1200">
                <a:solidFill>
                  <a:srgbClr val="141B2D"/>
                </a:solidFill>
                <a:latin typeface="Calibri"/>
              </a:rPr>
              <a:t>how do we get more leads. It is how do we make a learner who has already paid us feel something on day 14 that makes them open the platform again.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2 OF 5   THE DATA</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Engagement is the variable. Everything else follows.</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15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An illustrative model of how three outcomes change as a learner moves from low to high engagement. Real numbers come from the diagnostic audit in the first 30 days.</a:t>
            </a:r>
          </a:p>
        </p:txBody>
      </p:sp>
      <p:graphicFrame>
        <p:nvGraphicFramePr>
          <p:cNvPr id="8" name="Chart 7"/>
          <p:cNvGraphicFramePr>
            <a:graphicFrameLocks noGrp="1"/>
          </p:cNvGraphicFramePr>
          <p:nvPr/>
        </p:nvGraphicFramePr>
        <p:xfrm>
          <a:off x="457200" y="2057400"/>
          <a:ext cx="5943600" cy="4114800"/>
        </p:xfrm>
        <a:graphic>
          <a:graphicData uri="http://schemas.openxmlformats.org/drawingml/2006/chart">
            <c:chart xmlns:c="http://schemas.openxmlformats.org/drawingml/2006/chart" r:id="rId3"/>
          </a:graphicData>
        </a:graphic>
      </p:graphicFrame>
      <p:sp>
        <p:nvSpPr>
          <p:cNvPr id="9" name="Rounded Rectangle 8"/>
          <p:cNvSpPr/>
          <p:nvPr/>
        </p:nvSpPr>
        <p:spPr>
          <a:xfrm>
            <a:off x="6675120" y="2057400"/>
            <a:ext cx="5349240" cy="411480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0" y="2286000"/>
            <a:ext cx="4892040" cy="45720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Three things this model says.</a:t>
            </a:r>
          </a:p>
        </p:txBody>
      </p:sp>
      <p:sp>
        <p:nvSpPr>
          <p:cNvPr id="11" name="TextBox 10"/>
          <p:cNvSpPr txBox="1"/>
          <p:nvPr/>
        </p:nvSpPr>
        <p:spPr>
          <a:xfrm>
            <a:off x="6949440" y="283464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0E2A55"/>
                </a:solidFill>
                <a:latin typeface="Calibri"/>
              </a:rPr>
              <a:t>Move a learner from low to medium engagement.</a:t>
            </a:r>
          </a:p>
        </p:txBody>
      </p:sp>
      <p:sp>
        <p:nvSpPr>
          <p:cNvPr id="12" name="TextBox 11"/>
          <p:cNvSpPr txBox="1"/>
          <p:nvPr/>
        </p:nvSpPr>
        <p:spPr>
          <a:xfrm>
            <a:off x="6949440" y="324612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41B2D"/>
                </a:solidFill>
                <a:latin typeface="Calibri"/>
              </a:rPr>
              <a:t>That alone produces the biggest single jump in completion. More than any curriculum redesign would.</a:t>
            </a:r>
          </a:p>
        </p:txBody>
      </p:sp>
      <p:sp>
        <p:nvSpPr>
          <p:cNvPr id="13" name="TextBox 12"/>
          <p:cNvSpPr txBox="1"/>
          <p:nvPr/>
        </p:nvSpPr>
        <p:spPr>
          <a:xfrm>
            <a:off x="6949440" y="388620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0E2A55"/>
                </a:solidFill>
                <a:latin typeface="Calibri"/>
              </a:rPr>
              <a:t>Net Promoter Score is the leading indicator.</a:t>
            </a:r>
          </a:p>
        </p:txBody>
      </p:sp>
      <p:sp>
        <p:nvSpPr>
          <p:cNvPr id="14" name="TextBox 13"/>
          <p:cNvSpPr txBox="1"/>
          <p:nvPr/>
        </p:nvSpPr>
        <p:spPr>
          <a:xfrm>
            <a:off x="6949440" y="429768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41B2D"/>
                </a:solidFill>
                <a:latin typeface="Calibri"/>
              </a:rPr>
              <a:t>Learners decide whether they will recommend us long before they finish their degree. We can measure this in month 3, not month 30.</a:t>
            </a:r>
          </a:p>
        </p:txBody>
      </p:sp>
      <p:sp>
        <p:nvSpPr>
          <p:cNvPr id="15" name="TextBox 14"/>
          <p:cNvSpPr txBox="1"/>
          <p:nvPr/>
        </p:nvSpPr>
        <p:spPr>
          <a:xfrm>
            <a:off x="6949440" y="4937760"/>
            <a:ext cx="4892040" cy="365760"/>
          </a:xfrm>
          <a:prstGeom prst="rect">
            <a:avLst/>
          </a:prstGeom>
          <a:noFill/>
        </p:spPr>
        <p:txBody>
          <a:bodyPr wrap="square" lIns="45720" rIns="45720" tIns="18288" bIns="18288" anchor="t">
            <a:spAutoFit/>
          </a:bodyPr>
          <a:lstStyle/>
          <a:p>
            <a:pPr algn="l">
              <a:lnSpc>
                <a:spcPct val="130000"/>
              </a:lnSpc>
            </a:pPr>
            <a:r>
              <a:rPr sz="1100" b="1" i="0">
                <a:solidFill>
                  <a:srgbClr val="0E2A55"/>
                </a:solidFill>
                <a:latin typeface="Calibri"/>
              </a:rPr>
              <a:t>The top tier refers at around 18%.</a:t>
            </a:r>
          </a:p>
        </p:txBody>
      </p:sp>
      <p:sp>
        <p:nvSpPr>
          <p:cNvPr id="16" name="TextBox 15"/>
          <p:cNvSpPr txBox="1"/>
          <p:nvPr/>
        </p:nvSpPr>
        <p:spPr>
          <a:xfrm>
            <a:off x="6949440" y="5349240"/>
            <a:ext cx="4892040" cy="548640"/>
          </a:xfrm>
          <a:prstGeom prst="rect">
            <a:avLst/>
          </a:prstGeom>
          <a:noFill/>
        </p:spPr>
        <p:txBody>
          <a:bodyPr wrap="square" lIns="45720" rIns="45720" tIns="18288" bIns="18288" anchor="t">
            <a:spAutoFit/>
          </a:bodyPr>
          <a:lstStyle/>
          <a:p>
            <a:pPr algn="l">
              <a:lnSpc>
                <a:spcPct val="135000"/>
              </a:lnSpc>
            </a:pPr>
            <a:r>
              <a:rPr sz="1030" b="0" i="1">
                <a:solidFill>
                  <a:srgbClr val="141B2D"/>
                </a:solidFill>
                <a:latin typeface="Calibri"/>
              </a:rPr>
              <a:t>If we can move even 5% of our 2,50,000+ learners into the top tier, organic referrals alone become a meaningful enrolment channel. At almost zero marginal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3 OF 5   THE STRATEGY</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Three levers. That is the whole strategy.</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16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If we get these three right, every other engagement metric improves on its own. Each lever maps to a tested, named playbook. Not invented for this deck.</a:t>
            </a:r>
          </a:p>
        </p:txBody>
      </p:sp>
      <p:sp>
        <p:nvSpPr>
          <p:cNvPr id="8" name="Rounded Rectangle 7"/>
          <p:cNvSpPr/>
          <p:nvPr/>
        </p:nvSpPr>
        <p:spPr>
          <a:xfrm>
            <a:off x="457200" y="2011680"/>
            <a:ext cx="11247120" cy="137160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286000"/>
            <a:ext cx="822960" cy="82296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8600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F2B61A"/>
                </a:solidFill>
                <a:latin typeface="Calibri"/>
              </a:rPr>
              <a:t>01</a:t>
            </a:r>
          </a:p>
        </p:txBody>
      </p:sp>
      <p:sp>
        <p:nvSpPr>
          <p:cNvPr id="11" name="TextBox 10"/>
          <p:cNvSpPr txBox="1"/>
          <p:nvPr/>
        </p:nvSpPr>
        <p:spPr>
          <a:xfrm>
            <a:off x="1828800" y="217627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RITUAL.   Sean Ellis Aha Moment.</a:t>
            </a:r>
          </a:p>
        </p:txBody>
      </p:sp>
      <p:sp>
        <p:nvSpPr>
          <p:cNvPr id="12" name="TextBox 11"/>
          <p:cNvSpPr txBox="1"/>
          <p:nvPr/>
        </p:nvSpPr>
        <p:spPr>
          <a:xfrm>
            <a:off x="1828800" y="239572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0E2A55"/>
                </a:solidFill>
                <a:latin typeface="Calibri"/>
              </a:rPr>
              <a:t>Cohort, not class.</a:t>
            </a:r>
          </a:p>
        </p:txBody>
      </p:sp>
      <p:sp>
        <p:nvSpPr>
          <p:cNvPr id="13" name="TextBox 12"/>
          <p:cNvSpPr txBox="1"/>
          <p:nvPr/>
        </p:nvSpPr>
        <p:spPr>
          <a:xfrm>
            <a:off x="6126480" y="219456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41B2D"/>
                </a:solidFill>
                <a:latin typeface="Calibri"/>
              </a:rPr>
              <a:t>Stop treating learners as a list. Group them into 24 person Circles on Day 1. Layer rituals on top. Weekly check in, monthly Champion led huddle, quarterly Ignite. Cohort based learning consistently retains better than open self paced courses. Coursera and edX have published this.</a:t>
            </a:r>
          </a:p>
        </p:txBody>
      </p:sp>
      <p:sp>
        <p:nvSpPr>
          <p:cNvPr id="14" name="Rounded Rectangle 13"/>
          <p:cNvSpPr/>
          <p:nvPr/>
        </p:nvSpPr>
        <p:spPr>
          <a:xfrm>
            <a:off x="457200" y="3520440"/>
            <a:ext cx="11247120" cy="137160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77240" y="3794760"/>
            <a:ext cx="822960" cy="82296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79476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F2B61A"/>
                </a:solidFill>
                <a:latin typeface="Calibri"/>
              </a:rPr>
              <a:t>02</a:t>
            </a:r>
          </a:p>
        </p:txBody>
      </p:sp>
      <p:sp>
        <p:nvSpPr>
          <p:cNvPr id="17" name="TextBox 16"/>
          <p:cNvSpPr txBox="1"/>
          <p:nvPr/>
        </p:nvSpPr>
        <p:spPr>
          <a:xfrm>
            <a:off x="1828800" y="368503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EXPERIENCE.   Brand as memory.</a:t>
            </a:r>
          </a:p>
        </p:txBody>
      </p:sp>
      <p:sp>
        <p:nvSpPr>
          <p:cNvPr id="18" name="TextBox 17"/>
          <p:cNvSpPr txBox="1"/>
          <p:nvPr/>
        </p:nvSpPr>
        <p:spPr>
          <a:xfrm>
            <a:off x="1828800" y="390448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0E2A55"/>
                </a:solidFill>
                <a:latin typeface="Calibri"/>
              </a:rPr>
              <a:t>Make the campus visible.</a:t>
            </a:r>
          </a:p>
        </p:txBody>
      </p:sp>
      <p:sp>
        <p:nvSpPr>
          <p:cNvPr id="19" name="TextBox 18"/>
          <p:cNvSpPr txBox="1"/>
          <p:nvPr/>
        </p:nvSpPr>
        <p:spPr>
          <a:xfrm>
            <a:off x="6126480" y="370332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41B2D"/>
                </a:solidFill>
                <a:latin typeface="Calibri"/>
              </a:rPr>
              <a:t>One on campus moment, even one day, gives the learner a photograph they can show their family. Family validation is the most under priced retention tool in Indian online education. Convocation is too late. A small Ignite moment in the first 6 months is the right time.</a:t>
            </a:r>
          </a:p>
        </p:txBody>
      </p:sp>
      <p:sp>
        <p:nvSpPr>
          <p:cNvPr id="20" name="Rounded Rectangle 19"/>
          <p:cNvSpPr/>
          <p:nvPr/>
        </p:nvSpPr>
        <p:spPr>
          <a:xfrm>
            <a:off x="457200" y="5029200"/>
            <a:ext cx="11247120" cy="137160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5303520"/>
            <a:ext cx="822960" cy="82296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303520"/>
            <a:ext cx="822960" cy="822960"/>
          </a:xfrm>
          <a:prstGeom prst="rect">
            <a:avLst/>
          </a:prstGeom>
          <a:noFill/>
        </p:spPr>
        <p:txBody>
          <a:bodyPr wrap="square" lIns="45720" rIns="45720" tIns="18288" bIns="18288" anchor="ctr">
            <a:spAutoFit/>
          </a:bodyPr>
          <a:lstStyle/>
          <a:p>
            <a:pPr algn="ctr">
              <a:lnSpc>
                <a:spcPct val="125000"/>
              </a:lnSpc>
            </a:pPr>
            <a:r>
              <a:rPr sz="2400" b="1" i="0">
                <a:solidFill>
                  <a:srgbClr val="F2B61A"/>
                </a:solidFill>
                <a:latin typeface="Calibri"/>
              </a:rPr>
              <a:t>03</a:t>
            </a:r>
          </a:p>
        </p:txBody>
      </p:sp>
      <p:sp>
        <p:nvSpPr>
          <p:cNvPr id="23" name="TextBox 22"/>
          <p:cNvSpPr txBox="1"/>
          <p:nvPr/>
        </p:nvSpPr>
        <p:spPr>
          <a:xfrm>
            <a:off x="1828800" y="5193792"/>
            <a:ext cx="4114800" cy="274320"/>
          </a:xfrm>
          <a:prstGeom prst="rect">
            <a:avLst/>
          </a:prstGeom>
          <a:noFill/>
        </p:spPr>
        <p:txBody>
          <a:bodyPr wrap="square" lIns="45720" rIns="45720" tIns="18288" bIns="18288" anchor="t">
            <a:spAutoFit/>
          </a:bodyPr>
          <a:lstStyle/>
          <a:p>
            <a:pPr algn="l">
              <a:lnSpc>
                <a:spcPct val="125000"/>
              </a:lnSpc>
            </a:pPr>
            <a:r>
              <a:rPr sz="950" b="1" i="0">
                <a:solidFill>
                  <a:srgbClr val="F2B61A"/>
                </a:solidFill>
                <a:latin typeface="Calibri"/>
              </a:rPr>
              <a:t>INTELLIGENCE.   Active Learner Score.</a:t>
            </a:r>
          </a:p>
        </p:txBody>
      </p:sp>
      <p:sp>
        <p:nvSpPr>
          <p:cNvPr id="24" name="TextBox 23"/>
          <p:cNvSpPr txBox="1"/>
          <p:nvPr/>
        </p:nvSpPr>
        <p:spPr>
          <a:xfrm>
            <a:off x="1828800" y="5413248"/>
            <a:ext cx="4114800" cy="548640"/>
          </a:xfrm>
          <a:prstGeom prst="rect">
            <a:avLst/>
          </a:prstGeom>
          <a:noFill/>
        </p:spPr>
        <p:txBody>
          <a:bodyPr wrap="square" lIns="45720" rIns="45720" tIns="18288" bIns="18288" anchor="t">
            <a:spAutoFit/>
          </a:bodyPr>
          <a:lstStyle/>
          <a:p>
            <a:pPr algn="l">
              <a:lnSpc>
                <a:spcPct val="105000"/>
              </a:lnSpc>
            </a:pPr>
            <a:r>
              <a:rPr sz="1800" b="1" i="0">
                <a:solidFill>
                  <a:srgbClr val="0E2A55"/>
                </a:solidFill>
                <a:latin typeface="Calibri"/>
              </a:rPr>
              <a:t>Catch the drift early.</a:t>
            </a:r>
          </a:p>
        </p:txBody>
      </p:sp>
      <p:sp>
        <p:nvSpPr>
          <p:cNvPr id="25" name="TextBox 24"/>
          <p:cNvSpPr txBox="1"/>
          <p:nvPr/>
        </p:nvSpPr>
        <p:spPr>
          <a:xfrm>
            <a:off x="6126480" y="5212080"/>
            <a:ext cx="5486400" cy="1097280"/>
          </a:xfrm>
          <a:prstGeom prst="rect">
            <a:avLst/>
          </a:prstGeom>
          <a:noFill/>
        </p:spPr>
        <p:txBody>
          <a:bodyPr wrap="square" lIns="45720" rIns="45720" tIns="18288" bIns="18288" anchor="t">
            <a:spAutoFit/>
          </a:bodyPr>
          <a:lstStyle/>
          <a:p>
            <a:pPr algn="l">
              <a:lnSpc>
                <a:spcPct val="140000"/>
              </a:lnSpc>
            </a:pPr>
            <a:r>
              <a:rPr sz="1070" b="0" i="0">
                <a:solidFill>
                  <a:srgbClr val="141B2D"/>
                </a:solidFill>
                <a:latin typeface="Calibri"/>
              </a:rPr>
              <a:t>Every learner gets a score. Logins, video completion, assignment lag, beSocial activity. When the score crosses a threshold, a human, not an automated email, calls them. The Score flags it. People fix it. We will validate the lift in our own pilot before scaling.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4 OF 5   THE FLYWHEEL</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Engagement compounds. Quietly. Then suddenly.</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17 / 19</a:t>
            </a:r>
          </a:p>
        </p:txBody>
      </p:sp>
      <p:sp>
        <p:nvSpPr>
          <p:cNvPr id="7" name="TextBox 6"/>
          <p:cNvSpPr txBox="1"/>
          <p:nvPr/>
        </p:nvSpPr>
        <p:spPr>
          <a:xfrm>
            <a:off x="457200" y="1417320"/>
            <a:ext cx="11247120" cy="457200"/>
          </a:xfrm>
          <a:prstGeom prst="rect">
            <a:avLst/>
          </a:prstGeom>
          <a:noFill/>
        </p:spPr>
        <p:txBody>
          <a:bodyPr wrap="square" lIns="45720" rIns="45720" tIns="18288" bIns="18288" anchor="t">
            <a:spAutoFit/>
          </a:bodyPr>
          <a:lstStyle/>
          <a:p>
            <a:pPr algn="l">
              <a:lnSpc>
                <a:spcPct val="135000"/>
              </a:lnSpc>
            </a:pPr>
            <a:r>
              <a:rPr sz="1200" b="0" i="1">
                <a:solidFill>
                  <a:srgbClr val="555C6B"/>
                </a:solidFill>
                <a:latin typeface="Calibri"/>
              </a:rPr>
              <a:t>When engagement rises, completion rises. When completion rises, advocacy follows. When advocacy follows, our cost per new enrolment falls. The flywheel does not need a lot of force. It needs to never stop.</a:t>
            </a:r>
          </a:p>
        </p:txBody>
      </p:sp>
      <p:sp>
        <p:nvSpPr>
          <p:cNvPr id="8" name="Rounded Rectangle 7"/>
          <p:cNvSpPr/>
          <p:nvPr/>
        </p:nvSpPr>
        <p:spPr>
          <a:xfrm>
            <a:off x="548640" y="2331720"/>
            <a:ext cx="260604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F2B61A"/>
                </a:solidFill>
                <a:latin typeface="Calibri"/>
              </a:rPr>
              <a:t>01</a:t>
            </a:r>
          </a:p>
        </p:txBody>
      </p:sp>
      <p:sp>
        <p:nvSpPr>
          <p:cNvPr id="10" name="TextBox 9"/>
          <p:cNvSpPr txBox="1"/>
          <p:nvPr/>
        </p:nvSpPr>
        <p:spPr>
          <a:xfrm>
            <a:off x="73152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0E2A55"/>
                </a:solidFill>
                <a:latin typeface="Calibri"/>
              </a:rPr>
              <a:t>Engaged</a:t>
            </a:r>
          </a:p>
          <a:p>
            <a:pPr algn="l">
              <a:lnSpc>
                <a:spcPct val="105000"/>
              </a:lnSpc>
            </a:pPr>
            <a:r>
              <a:rPr sz="2000" b="1" i="0">
                <a:solidFill>
                  <a:srgbClr val="0E2A55"/>
                </a:solidFill>
                <a:latin typeface="Calibri"/>
              </a:rPr>
              <a:t>learner</a:t>
            </a:r>
          </a:p>
        </p:txBody>
      </p:sp>
      <p:sp>
        <p:nvSpPr>
          <p:cNvPr id="11" name="TextBox 10"/>
          <p:cNvSpPr txBox="1"/>
          <p:nvPr/>
        </p:nvSpPr>
        <p:spPr>
          <a:xfrm>
            <a:off x="73152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41B2D"/>
                </a:solidFill>
                <a:latin typeface="Calibri"/>
              </a:rPr>
              <a:t>She finishes 4 modules in a row.</a:t>
            </a:r>
          </a:p>
        </p:txBody>
      </p:sp>
      <p:sp>
        <p:nvSpPr>
          <p:cNvPr id="12" name="Rounded Rectangle 11"/>
          <p:cNvSpPr/>
          <p:nvPr/>
        </p:nvSpPr>
        <p:spPr>
          <a:xfrm>
            <a:off x="3383280" y="2331720"/>
            <a:ext cx="260604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F2B61A"/>
                </a:solidFill>
                <a:latin typeface="Calibri"/>
              </a:rPr>
              <a:t>02</a:t>
            </a:r>
          </a:p>
        </p:txBody>
      </p:sp>
      <p:sp>
        <p:nvSpPr>
          <p:cNvPr id="14" name="TextBox 13"/>
          <p:cNvSpPr txBox="1"/>
          <p:nvPr/>
        </p:nvSpPr>
        <p:spPr>
          <a:xfrm>
            <a:off x="356616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0E2A55"/>
                </a:solidFill>
                <a:latin typeface="Calibri"/>
              </a:rPr>
              <a:t>Higher</a:t>
            </a:r>
          </a:p>
          <a:p>
            <a:pPr algn="l">
              <a:lnSpc>
                <a:spcPct val="105000"/>
              </a:lnSpc>
            </a:pPr>
            <a:r>
              <a:rPr sz="2000" b="1" i="0">
                <a:solidFill>
                  <a:srgbClr val="0E2A55"/>
                </a:solidFill>
                <a:latin typeface="Calibri"/>
              </a:rPr>
              <a:t>completion</a:t>
            </a:r>
          </a:p>
        </p:txBody>
      </p:sp>
      <p:sp>
        <p:nvSpPr>
          <p:cNvPr id="15" name="TextBox 14"/>
          <p:cNvSpPr txBox="1"/>
          <p:nvPr/>
        </p:nvSpPr>
        <p:spPr>
          <a:xfrm>
            <a:off x="356616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41B2D"/>
                </a:solidFill>
                <a:latin typeface="Calibri"/>
              </a:rPr>
              <a:t>She graduates. Net Promoter Score 50+.</a:t>
            </a:r>
          </a:p>
        </p:txBody>
      </p:sp>
      <p:sp>
        <p:nvSpPr>
          <p:cNvPr id="16" name="Rounded Rectangle 15"/>
          <p:cNvSpPr/>
          <p:nvPr/>
        </p:nvSpPr>
        <p:spPr>
          <a:xfrm>
            <a:off x="6217920" y="2331720"/>
            <a:ext cx="260604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F2B61A"/>
                </a:solidFill>
                <a:latin typeface="Calibri"/>
              </a:rPr>
              <a:t>03</a:t>
            </a:r>
          </a:p>
        </p:txBody>
      </p:sp>
      <p:sp>
        <p:nvSpPr>
          <p:cNvPr id="18" name="TextBox 17"/>
          <p:cNvSpPr txBox="1"/>
          <p:nvPr/>
        </p:nvSpPr>
        <p:spPr>
          <a:xfrm>
            <a:off x="640080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0E2A55"/>
                </a:solidFill>
                <a:latin typeface="Calibri"/>
              </a:rPr>
              <a:t>Public</a:t>
            </a:r>
          </a:p>
          <a:p>
            <a:pPr algn="l">
              <a:lnSpc>
                <a:spcPct val="105000"/>
              </a:lnSpc>
            </a:pPr>
            <a:r>
              <a:rPr sz="2000" b="1" i="0">
                <a:solidFill>
                  <a:srgbClr val="0E2A55"/>
                </a:solidFill>
                <a:latin typeface="Calibri"/>
              </a:rPr>
              <a:t>advocacy</a:t>
            </a:r>
          </a:p>
        </p:txBody>
      </p:sp>
      <p:sp>
        <p:nvSpPr>
          <p:cNvPr id="19" name="TextBox 18"/>
          <p:cNvSpPr txBox="1"/>
          <p:nvPr/>
        </p:nvSpPr>
        <p:spPr>
          <a:xfrm>
            <a:off x="640080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41B2D"/>
                </a:solidFill>
                <a:latin typeface="Calibri"/>
              </a:rPr>
              <a:t>She posts a photograph from Ignite.</a:t>
            </a:r>
          </a:p>
        </p:txBody>
      </p:sp>
      <p:sp>
        <p:nvSpPr>
          <p:cNvPr id="20" name="Rounded Rectangle 19"/>
          <p:cNvSpPr/>
          <p:nvPr/>
        </p:nvSpPr>
        <p:spPr>
          <a:xfrm>
            <a:off x="9052560" y="2331720"/>
            <a:ext cx="2606040" cy="219456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35440" y="2514600"/>
            <a:ext cx="2606040" cy="274320"/>
          </a:xfrm>
          <a:prstGeom prst="rect">
            <a:avLst/>
          </a:prstGeom>
          <a:noFill/>
        </p:spPr>
        <p:txBody>
          <a:bodyPr wrap="square" lIns="45720" rIns="45720" tIns="18288" bIns="18288" anchor="t">
            <a:spAutoFit/>
          </a:bodyPr>
          <a:lstStyle/>
          <a:p>
            <a:pPr algn="l">
              <a:lnSpc>
                <a:spcPct val="125000"/>
              </a:lnSpc>
            </a:pPr>
            <a:r>
              <a:rPr sz="1100" b="1" i="0">
                <a:solidFill>
                  <a:srgbClr val="F2B61A"/>
                </a:solidFill>
                <a:latin typeface="Calibri"/>
              </a:rPr>
              <a:t>04</a:t>
            </a:r>
          </a:p>
        </p:txBody>
      </p:sp>
      <p:sp>
        <p:nvSpPr>
          <p:cNvPr id="22" name="TextBox 21"/>
          <p:cNvSpPr txBox="1"/>
          <p:nvPr/>
        </p:nvSpPr>
        <p:spPr>
          <a:xfrm>
            <a:off x="9235440" y="2834640"/>
            <a:ext cx="2331720" cy="1005840"/>
          </a:xfrm>
          <a:prstGeom prst="rect">
            <a:avLst/>
          </a:prstGeom>
          <a:noFill/>
        </p:spPr>
        <p:txBody>
          <a:bodyPr wrap="square" lIns="45720" rIns="45720" tIns="18288" bIns="18288" anchor="t">
            <a:spAutoFit/>
          </a:bodyPr>
          <a:lstStyle/>
          <a:p>
            <a:pPr algn="l">
              <a:lnSpc>
                <a:spcPct val="105000"/>
              </a:lnSpc>
            </a:pPr>
            <a:r>
              <a:rPr sz="2000" b="1" i="0">
                <a:solidFill>
                  <a:srgbClr val="0E2A55"/>
                </a:solidFill>
                <a:latin typeface="Calibri"/>
              </a:rPr>
              <a:t>Lower acquisition</a:t>
            </a:r>
          </a:p>
          <a:p>
            <a:pPr algn="l">
              <a:lnSpc>
                <a:spcPct val="105000"/>
              </a:lnSpc>
            </a:pPr>
            <a:r>
              <a:rPr sz="2000" b="1" i="0">
                <a:solidFill>
                  <a:srgbClr val="0E2A55"/>
                </a:solidFill>
                <a:latin typeface="Calibri"/>
              </a:rPr>
              <a:t>cost</a:t>
            </a:r>
          </a:p>
        </p:txBody>
      </p:sp>
      <p:sp>
        <p:nvSpPr>
          <p:cNvPr id="23" name="TextBox 22"/>
          <p:cNvSpPr txBox="1"/>
          <p:nvPr/>
        </p:nvSpPr>
        <p:spPr>
          <a:xfrm>
            <a:off x="9235440" y="3794760"/>
            <a:ext cx="2331720" cy="731520"/>
          </a:xfrm>
          <a:prstGeom prst="rect">
            <a:avLst/>
          </a:prstGeom>
          <a:noFill/>
        </p:spPr>
        <p:txBody>
          <a:bodyPr wrap="square" lIns="45720" rIns="45720" tIns="18288" bIns="18288" anchor="t">
            <a:spAutoFit/>
          </a:bodyPr>
          <a:lstStyle/>
          <a:p>
            <a:pPr algn="l">
              <a:lnSpc>
                <a:spcPct val="135000"/>
              </a:lnSpc>
            </a:pPr>
            <a:r>
              <a:rPr sz="1100" b="0" i="1">
                <a:solidFill>
                  <a:srgbClr val="141B2D"/>
                </a:solidFill>
                <a:latin typeface="Calibri"/>
              </a:rPr>
              <a:t>Two friends enrol next year.</a:t>
            </a:r>
          </a:p>
        </p:txBody>
      </p:sp>
      <p:sp>
        <p:nvSpPr>
          <p:cNvPr id="24" name="TextBox 23"/>
          <p:cNvSpPr txBox="1"/>
          <p:nvPr/>
        </p:nvSpPr>
        <p:spPr>
          <a:xfrm>
            <a:off x="320040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F2B61A"/>
                </a:solidFill>
                <a:latin typeface="Calibri"/>
              </a:rPr>
              <a:t>&gt;</a:t>
            </a:r>
          </a:p>
        </p:txBody>
      </p:sp>
      <p:sp>
        <p:nvSpPr>
          <p:cNvPr id="25" name="TextBox 24"/>
          <p:cNvSpPr txBox="1"/>
          <p:nvPr/>
        </p:nvSpPr>
        <p:spPr>
          <a:xfrm>
            <a:off x="603504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F2B61A"/>
                </a:solidFill>
                <a:latin typeface="Calibri"/>
              </a:rPr>
              <a:t>&gt;</a:t>
            </a:r>
          </a:p>
        </p:txBody>
      </p:sp>
      <p:sp>
        <p:nvSpPr>
          <p:cNvPr id="26" name="TextBox 25"/>
          <p:cNvSpPr txBox="1"/>
          <p:nvPr/>
        </p:nvSpPr>
        <p:spPr>
          <a:xfrm>
            <a:off x="8869680" y="3291840"/>
            <a:ext cx="274320" cy="365760"/>
          </a:xfrm>
          <a:prstGeom prst="rect">
            <a:avLst/>
          </a:prstGeom>
          <a:noFill/>
        </p:spPr>
        <p:txBody>
          <a:bodyPr wrap="square" lIns="45720" rIns="45720" tIns="18288" bIns="18288" anchor="ctr">
            <a:spAutoFit/>
          </a:bodyPr>
          <a:lstStyle/>
          <a:p>
            <a:pPr algn="ctr">
              <a:lnSpc>
                <a:spcPct val="125000"/>
              </a:lnSpc>
            </a:pPr>
            <a:r>
              <a:rPr sz="2800" b="1" i="0">
                <a:solidFill>
                  <a:srgbClr val="F2B61A"/>
                </a:solidFill>
                <a:latin typeface="Calibri"/>
              </a:rPr>
              <a:t>&gt;</a:t>
            </a:r>
          </a:p>
        </p:txBody>
      </p:sp>
      <p:sp>
        <p:nvSpPr>
          <p:cNvPr id="27" name="Rectangle 26"/>
          <p:cNvSpPr/>
          <p:nvPr/>
        </p:nvSpPr>
        <p:spPr>
          <a:xfrm>
            <a:off x="457200" y="4800600"/>
            <a:ext cx="11247120" cy="914400"/>
          </a:xfrm>
          <a:prstGeom prst="rect">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4800600"/>
            <a:ext cx="11247120" cy="914400"/>
          </a:xfrm>
          <a:prstGeom prst="rect">
            <a:avLst/>
          </a:prstGeom>
          <a:noFill/>
        </p:spPr>
        <p:txBody>
          <a:bodyPr wrap="square" lIns="45720" rIns="45720" tIns="18288" bIns="18288" anchor="ctr">
            <a:spAutoFit/>
          </a:bodyPr>
          <a:lstStyle/>
          <a:p>
            <a:pPr algn="ctr">
              <a:lnSpc>
                <a:spcPct val="135000"/>
              </a:lnSpc>
            </a:pPr>
            <a:r>
              <a:rPr sz="1400" b="1" i="1">
                <a:solidFill>
                  <a:srgbClr val="F2B61A"/>
                </a:solidFill>
                <a:latin typeface="Calibri"/>
              </a:rPr>
              <a:t>Every learner who reaches step 4 is a paid marketing replacement we did not have to buy. Engagement is not a brand initiative. It is the cheapest growth lever we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11480"/>
            <a:ext cx="7315200" cy="274320"/>
          </a:xfrm>
          <a:prstGeom prst="rect">
            <a:avLst/>
          </a:prstGeom>
          <a:noFill/>
        </p:spPr>
        <p:txBody>
          <a:bodyPr wrap="square" lIns="45720" rIns="45720" tIns="18288" bIns="18288" anchor="t">
            <a:spAutoFit/>
          </a:bodyPr>
          <a:lstStyle/>
          <a:p>
            <a:pPr algn="l">
              <a:lnSpc>
                <a:spcPct val="100000"/>
              </a:lnSpc>
            </a:pPr>
            <a:r>
              <a:rPr sz="950" b="1" i="0">
                <a:solidFill>
                  <a:srgbClr val="555C6B"/>
                </a:solidFill>
                <a:latin typeface="Calibri"/>
              </a:rPr>
              <a:t>LEADERSHIP   5 OF 5   THE ASK</a:t>
            </a:r>
          </a:p>
        </p:txBody>
      </p:sp>
      <p:sp>
        <p:nvSpPr>
          <p:cNvPr id="3" name="TextBox 2"/>
          <p:cNvSpPr txBox="1"/>
          <p:nvPr/>
        </p:nvSpPr>
        <p:spPr>
          <a:xfrm>
            <a:off x="457200" y="640080"/>
            <a:ext cx="10058400" cy="548640"/>
          </a:xfrm>
          <a:prstGeom prst="rect">
            <a:avLst/>
          </a:prstGeom>
          <a:noFill/>
        </p:spPr>
        <p:txBody>
          <a:bodyPr wrap="square" lIns="45720" rIns="45720" tIns="18288" bIns="18288" anchor="t">
            <a:spAutoFit/>
          </a:bodyPr>
          <a:lstStyle/>
          <a:p>
            <a:pPr algn="l">
              <a:lnSpc>
                <a:spcPct val="100000"/>
              </a:lnSpc>
            </a:pPr>
            <a:r>
              <a:rPr sz="2400" b="1" i="0">
                <a:solidFill>
                  <a:srgbClr val="0E2A55"/>
                </a:solidFill>
                <a:latin typeface="Calibri"/>
              </a:rPr>
              <a:t>What I am asking for. Three small bets, gated on outcomes.</a:t>
            </a:r>
          </a:p>
        </p:txBody>
      </p:sp>
      <p:pic>
        <p:nvPicPr>
          <p:cNvPr id="4" name="Picture 3" descr="amity_online_logo.png"/>
          <p:cNvPicPr>
            <a:picLocks noChangeAspect="1"/>
          </p:cNvPicPr>
          <p:nvPr/>
        </p:nvPicPr>
        <p:blipFill>
          <a:blip r:embed="rId2"/>
          <a:stretch>
            <a:fillRect/>
          </a:stretch>
        </p:blipFill>
        <p:spPr>
          <a:xfrm>
            <a:off x="10450689" y="292608"/>
            <a:ext cx="1329526" cy="457200"/>
          </a:xfrm>
          <a:prstGeom prst="rect">
            <a:avLst/>
          </a:prstGeom>
        </p:spPr>
      </p:pic>
      <p:sp>
        <p:nvSpPr>
          <p:cNvPr id="5" name="TextBox 4"/>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555C6B"/>
                </a:solidFill>
                <a:latin typeface="Calibri"/>
              </a:rPr>
              <a:t>Marketing Manager Assignment   Paras Jain   Amity University Online</a:t>
            </a:r>
          </a:p>
        </p:txBody>
      </p:sp>
      <p:sp>
        <p:nvSpPr>
          <p:cNvPr id="6" name="TextBox 5"/>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555C6B"/>
                </a:solidFill>
                <a:latin typeface="Calibri"/>
              </a:rPr>
              <a:t>18 / 19</a:t>
            </a:r>
          </a:p>
        </p:txBody>
      </p:sp>
      <p:sp>
        <p:nvSpPr>
          <p:cNvPr id="7" name="Rounded Rectangle 6"/>
          <p:cNvSpPr/>
          <p:nvPr/>
        </p:nvSpPr>
        <p:spPr>
          <a:xfrm>
            <a:off x="457200" y="1508760"/>
            <a:ext cx="4572000" cy="4983480"/>
          </a:xfrm>
          <a:prstGeom prst="roundRect">
            <a:avLst>
              <a:gd name="adj" fmla="val 3000"/>
            </a:avLst>
          </a:prstGeom>
          <a:solidFill>
            <a:srgbClr val="0E2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783080"/>
            <a:ext cx="4572000" cy="365760"/>
          </a:xfrm>
          <a:prstGeom prst="rect">
            <a:avLst/>
          </a:prstGeom>
          <a:noFill/>
        </p:spPr>
        <p:txBody>
          <a:bodyPr wrap="square" lIns="45720" rIns="45720" tIns="18288" bIns="18288" anchor="t">
            <a:spAutoFit/>
          </a:bodyPr>
          <a:lstStyle/>
          <a:p>
            <a:pPr algn="l">
              <a:lnSpc>
                <a:spcPct val="125000"/>
              </a:lnSpc>
            </a:pPr>
            <a:r>
              <a:rPr sz="1100" b="1" i="0">
                <a:solidFill>
                  <a:srgbClr val="F2B61A"/>
                </a:solidFill>
                <a:latin typeface="Calibri"/>
              </a:rPr>
              <a:t>THE ASK</a:t>
            </a:r>
          </a:p>
        </p:txBody>
      </p:sp>
      <p:sp>
        <p:nvSpPr>
          <p:cNvPr id="9" name="TextBox 8"/>
          <p:cNvSpPr txBox="1"/>
          <p:nvPr/>
        </p:nvSpPr>
        <p:spPr>
          <a:xfrm>
            <a:off x="731520" y="2148840"/>
            <a:ext cx="4114800" cy="2194560"/>
          </a:xfrm>
          <a:prstGeom prst="rect">
            <a:avLst/>
          </a:prstGeom>
          <a:noFill/>
        </p:spPr>
        <p:txBody>
          <a:bodyPr wrap="square" lIns="45720" rIns="45720" tIns="18288" bIns="18288" anchor="t">
            <a:spAutoFit/>
          </a:bodyPr>
          <a:lstStyle/>
          <a:p>
            <a:pPr algn="l">
              <a:lnSpc>
                <a:spcPct val="105000"/>
              </a:lnSpc>
            </a:pPr>
            <a:r>
              <a:rPr sz="2600" b="1" i="0">
                <a:solidFill>
                  <a:srgbClr val="FFFFFF"/>
                </a:solidFill>
                <a:latin typeface="Calibri"/>
              </a:rPr>
              <a:t>Approve a phased</a:t>
            </a:r>
          </a:p>
          <a:p>
            <a:pPr algn="l">
              <a:lnSpc>
                <a:spcPct val="105000"/>
              </a:lnSpc>
            </a:pPr>
            <a:r>
              <a:rPr sz="2600" b="1" i="0">
                <a:solidFill>
                  <a:srgbClr val="FFFFFF"/>
                </a:solidFill>
                <a:latin typeface="Calibri"/>
              </a:rPr>
              <a:t>12 month</a:t>
            </a:r>
          </a:p>
          <a:p>
            <a:pPr algn="l">
              <a:lnSpc>
                <a:spcPct val="105000"/>
              </a:lnSpc>
            </a:pPr>
            <a:r>
              <a:rPr sz="2600" b="1" i="0">
                <a:solidFill>
                  <a:srgbClr val="FFFFFF"/>
                </a:solidFill>
                <a:latin typeface="Calibri"/>
              </a:rPr>
              <a:t>Engagement Charter.</a:t>
            </a:r>
          </a:p>
        </p:txBody>
      </p:sp>
      <p:sp>
        <p:nvSpPr>
          <p:cNvPr id="10" name="TextBox 9"/>
          <p:cNvSpPr txBox="1"/>
          <p:nvPr/>
        </p:nvSpPr>
        <p:spPr>
          <a:xfrm>
            <a:off x="731520" y="429768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Total commitment</a:t>
            </a:r>
          </a:p>
        </p:txBody>
      </p:sp>
      <p:sp>
        <p:nvSpPr>
          <p:cNvPr id="11" name="TextBox 10"/>
          <p:cNvSpPr txBox="1"/>
          <p:nvPr/>
        </p:nvSpPr>
        <p:spPr>
          <a:xfrm>
            <a:off x="731520" y="454456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Around Rs 2.7 crore over 12 months. No phase exceeds Rs 1 crore. Each phase is approved separately.</a:t>
            </a:r>
          </a:p>
        </p:txBody>
      </p:sp>
      <p:sp>
        <p:nvSpPr>
          <p:cNvPr id="12" name="TextBox 11"/>
          <p:cNvSpPr txBox="1"/>
          <p:nvPr/>
        </p:nvSpPr>
        <p:spPr>
          <a:xfrm>
            <a:off x="731520" y="484632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Funding source</a:t>
            </a:r>
          </a:p>
        </p:txBody>
      </p:sp>
      <p:sp>
        <p:nvSpPr>
          <p:cNvPr id="13" name="TextBox 12"/>
          <p:cNvSpPr txBox="1"/>
          <p:nvPr/>
        </p:nvSpPr>
        <p:spPr>
          <a:xfrm>
            <a:off x="731520" y="509320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Around 50% reallocated from current performance media spend. Around 50% incremental.</a:t>
            </a:r>
          </a:p>
        </p:txBody>
      </p:sp>
      <p:sp>
        <p:nvSpPr>
          <p:cNvPr id="14" name="TextBox 13"/>
          <p:cNvSpPr txBox="1"/>
          <p:nvPr/>
        </p:nvSpPr>
        <p:spPr>
          <a:xfrm>
            <a:off x="731520" y="539496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Owner</a:t>
            </a:r>
          </a:p>
        </p:txBody>
      </p:sp>
      <p:sp>
        <p:nvSpPr>
          <p:cNvPr id="15" name="TextBox 14"/>
          <p:cNvSpPr txBox="1"/>
          <p:nvPr/>
        </p:nvSpPr>
        <p:spPr>
          <a:xfrm>
            <a:off x="731520" y="564184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Marketing Manager. Cross functional with Academics and Product, beSocial.</a:t>
            </a:r>
          </a:p>
        </p:txBody>
      </p:sp>
      <p:sp>
        <p:nvSpPr>
          <p:cNvPr id="16" name="TextBox 15"/>
          <p:cNvSpPr txBox="1"/>
          <p:nvPr/>
        </p:nvSpPr>
        <p:spPr>
          <a:xfrm>
            <a:off x="731520" y="5943600"/>
            <a:ext cx="4023360" cy="274320"/>
          </a:xfrm>
          <a:prstGeom prst="rect">
            <a:avLst/>
          </a:prstGeom>
          <a:noFill/>
        </p:spPr>
        <p:txBody>
          <a:bodyPr wrap="square" lIns="45720" rIns="45720" tIns="18288" bIns="18288" anchor="t">
            <a:spAutoFit/>
          </a:bodyPr>
          <a:lstStyle/>
          <a:p>
            <a:pPr algn="l">
              <a:lnSpc>
                <a:spcPct val="125000"/>
              </a:lnSpc>
            </a:pPr>
            <a:r>
              <a:rPr sz="1050" b="1" i="0">
                <a:solidFill>
                  <a:srgbClr val="F2B61A"/>
                </a:solidFill>
                <a:latin typeface="Calibri"/>
              </a:rPr>
              <a:t>North Star Metric</a:t>
            </a:r>
          </a:p>
        </p:txBody>
      </p:sp>
      <p:sp>
        <p:nvSpPr>
          <p:cNvPr id="17" name="TextBox 16"/>
          <p:cNvSpPr txBox="1"/>
          <p:nvPr/>
        </p:nvSpPr>
        <p:spPr>
          <a:xfrm>
            <a:off x="731520" y="6190488"/>
            <a:ext cx="4023360" cy="365760"/>
          </a:xfrm>
          <a:prstGeom prst="rect">
            <a:avLst/>
          </a:prstGeom>
          <a:noFill/>
        </p:spPr>
        <p:txBody>
          <a:bodyPr wrap="square" lIns="45720" rIns="45720" tIns="18288" bIns="18288" anchor="t">
            <a:spAutoFit/>
          </a:bodyPr>
          <a:lstStyle/>
          <a:p>
            <a:pPr algn="l">
              <a:lnSpc>
                <a:spcPct val="135000"/>
              </a:lnSpc>
            </a:pPr>
            <a:r>
              <a:rPr sz="1030" b="0" i="0">
                <a:solidFill>
                  <a:srgbClr val="FFFFFF"/>
                </a:solidFill>
                <a:latin typeface="Calibri"/>
              </a:rPr>
              <a:t>Active Learner Score. Reported on every Monday review.</a:t>
            </a:r>
          </a:p>
        </p:txBody>
      </p:sp>
      <p:sp>
        <p:nvSpPr>
          <p:cNvPr id="18" name="TextBox 17"/>
          <p:cNvSpPr txBox="1"/>
          <p:nvPr/>
        </p:nvSpPr>
        <p:spPr>
          <a:xfrm>
            <a:off x="5257800" y="1508760"/>
            <a:ext cx="6903720" cy="457200"/>
          </a:xfrm>
          <a:prstGeom prst="rect">
            <a:avLst/>
          </a:prstGeom>
          <a:noFill/>
        </p:spPr>
        <p:txBody>
          <a:bodyPr wrap="square" lIns="45720" rIns="45720" tIns="18288" bIns="18288" anchor="t">
            <a:spAutoFit/>
          </a:bodyPr>
          <a:lstStyle/>
          <a:p>
            <a:pPr algn="l">
              <a:lnSpc>
                <a:spcPct val="125000"/>
              </a:lnSpc>
            </a:pPr>
            <a:r>
              <a:rPr sz="1300" b="1" i="0">
                <a:solidFill>
                  <a:srgbClr val="0E2A55"/>
                </a:solidFill>
                <a:latin typeface="Calibri"/>
              </a:rPr>
              <a:t>Three phases. Each less than equal to Rs 1 crore. Each gated on the prior.</a:t>
            </a:r>
          </a:p>
        </p:txBody>
      </p:sp>
      <p:sp>
        <p:nvSpPr>
          <p:cNvPr id="19" name="Rounded Rectangle 18"/>
          <p:cNvSpPr/>
          <p:nvPr/>
        </p:nvSpPr>
        <p:spPr>
          <a:xfrm>
            <a:off x="5257800" y="2011680"/>
            <a:ext cx="6903720" cy="14173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40680" y="2130552"/>
            <a:ext cx="690372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PHASE 1.   DAYS 0 to 90.   LESS THAN OR EQUAL TO RS 85 LAKH.</a:t>
            </a:r>
          </a:p>
        </p:txBody>
      </p:sp>
      <p:sp>
        <p:nvSpPr>
          <p:cNvPr id="21" name="TextBox 20"/>
          <p:cNvSpPr txBox="1"/>
          <p:nvPr/>
        </p:nvSpPr>
        <p:spPr>
          <a:xfrm>
            <a:off x="5440680" y="2395728"/>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Diagnose and pilot.</a:t>
            </a:r>
          </a:p>
        </p:txBody>
      </p:sp>
      <p:sp>
        <p:nvSpPr>
          <p:cNvPr id="22" name="TextBox 21"/>
          <p:cNvSpPr txBox="1"/>
          <p:nvPr/>
        </p:nvSpPr>
        <p:spPr>
          <a:xfrm>
            <a:off x="5440680" y="2724912"/>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41B2D"/>
                </a:solidFill>
                <a:latin typeface="Calibri"/>
              </a:rPr>
              <a:t>Stand up Active Learner Score dashboard. Run Onboard 7 Day Sprint pilot, one cohort. Run Amity Ignite Cohort 0 (100 learners, one day, Noida). Recruit 50 Champions. Decision gate. Net Promoter Score lift greater than or equal to plus 10 vs control AND 30 day fall off down by greater than or equal to 5 points.</a:t>
            </a:r>
          </a:p>
        </p:txBody>
      </p:sp>
      <p:sp>
        <p:nvSpPr>
          <p:cNvPr id="23" name="Rounded Rectangle 22"/>
          <p:cNvSpPr/>
          <p:nvPr/>
        </p:nvSpPr>
        <p:spPr>
          <a:xfrm>
            <a:off x="5257800" y="3493008"/>
            <a:ext cx="6903720" cy="14173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40680" y="3611880"/>
            <a:ext cx="690372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PHASE 2.   MONTHS 4 to 9.   LESS THAN OR EQUAL TO RS 95 LAKH.</a:t>
            </a:r>
          </a:p>
        </p:txBody>
      </p:sp>
      <p:sp>
        <p:nvSpPr>
          <p:cNvPr id="25" name="TextBox 24"/>
          <p:cNvSpPr txBox="1"/>
          <p:nvPr/>
        </p:nvSpPr>
        <p:spPr>
          <a:xfrm>
            <a:off x="5440680" y="3877056"/>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Scale what worked.</a:t>
            </a:r>
          </a:p>
        </p:txBody>
      </p:sp>
      <p:sp>
        <p:nvSpPr>
          <p:cNvPr id="26" name="TextBox 25"/>
          <p:cNvSpPr txBox="1"/>
          <p:nvPr/>
        </p:nvSpPr>
        <p:spPr>
          <a:xfrm>
            <a:off x="5440680" y="4206240"/>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41B2D"/>
                </a:solidFill>
                <a:latin typeface="Calibri"/>
              </a:rPr>
              <a:t>Conditional on Phase 1 hitting bar. Expand Champions to 200. Ignite Cohort 1, 200 learners, two days. Roll out Cohort Circles on beSocial. Launch Pass the Flame referral pilot. Decision gate. Referral rate greater than or equal to 6% in pilot programmes.</a:t>
            </a:r>
          </a:p>
        </p:txBody>
      </p:sp>
      <p:sp>
        <p:nvSpPr>
          <p:cNvPr id="27" name="Rounded Rectangle 26"/>
          <p:cNvSpPr/>
          <p:nvPr/>
        </p:nvSpPr>
        <p:spPr>
          <a:xfrm>
            <a:off x="5257800" y="4974336"/>
            <a:ext cx="6903720" cy="1417320"/>
          </a:xfrm>
          <a:prstGeom prst="roundRect">
            <a:avLst>
              <a:gd name="adj" fmla="val 3000"/>
            </a:avLst>
          </a:prstGeom>
          <a:solidFill>
            <a:srgbClr val="F7F8FB"/>
          </a:solidFill>
          <a:ln w="6350">
            <a:solidFill>
              <a:srgbClr val="E9EC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5093208"/>
            <a:ext cx="6903720" cy="274320"/>
          </a:xfrm>
          <a:prstGeom prst="rect">
            <a:avLst/>
          </a:prstGeom>
          <a:noFill/>
        </p:spPr>
        <p:txBody>
          <a:bodyPr wrap="square" lIns="45720" rIns="45720" tIns="18288" bIns="18288" anchor="t">
            <a:spAutoFit/>
          </a:bodyPr>
          <a:lstStyle/>
          <a:p>
            <a:pPr algn="l">
              <a:lnSpc>
                <a:spcPct val="125000"/>
              </a:lnSpc>
            </a:pPr>
            <a:r>
              <a:rPr sz="900" b="1" i="0">
                <a:solidFill>
                  <a:srgbClr val="F2B61A"/>
                </a:solidFill>
                <a:latin typeface="Calibri"/>
              </a:rPr>
              <a:t>PHASE 3.   MONTHS 10 to 12.   LESS THAN OR EQUAL TO RS 90 LAKH.</a:t>
            </a:r>
          </a:p>
        </p:txBody>
      </p:sp>
      <p:sp>
        <p:nvSpPr>
          <p:cNvPr id="29" name="TextBox 28"/>
          <p:cNvSpPr txBox="1"/>
          <p:nvPr/>
        </p:nvSpPr>
        <p:spPr>
          <a:xfrm>
            <a:off x="5440680" y="5358384"/>
            <a:ext cx="6629400" cy="365760"/>
          </a:xfrm>
          <a:prstGeom prst="rect">
            <a:avLst/>
          </a:prstGeom>
          <a:noFill/>
        </p:spPr>
        <p:txBody>
          <a:bodyPr wrap="square" lIns="45720" rIns="45720" tIns="18288" bIns="18288" anchor="t">
            <a:spAutoFit/>
          </a:bodyPr>
          <a:lstStyle/>
          <a:p>
            <a:pPr algn="l">
              <a:lnSpc>
                <a:spcPct val="125000"/>
              </a:lnSpc>
            </a:pPr>
            <a:r>
              <a:rPr sz="1400" b="1" i="0">
                <a:solidFill>
                  <a:srgbClr val="0E2A55"/>
                </a:solidFill>
                <a:latin typeface="Calibri"/>
              </a:rPr>
              <a:t>Institutionalise.</a:t>
            </a:r>
          </a:p>
        </p:txBody>
      </p:sp>
      <p:sp>
        <p:nvSpPr>
          <p:cNvPr id="30" name="TextBox 29"/>
          <p:cNvSpPr txBox="1"/>
          <p:nvPr/>
        </p:nvSpPr>
        <p:spPr>
          <a:xfrm>
            <a:off x="5440680" y="5687568"/>
            <a:ext cx="6629400" cy="640080"/>
          </a:xfrm>
          <a:prstGeom prst="rect">
            <a:avLst/>
          </a:prstGeom>
          <a:noFill/>
        </p:spPr>
        <p:txBody>
          <a:bodyPr wrap="square" lIns="45720" rIns="45720" tIns="18288" bIns="18288" anchor="t">
            <a:spAutoFit/>
          </a:bodyPr>
          <a:lstStyle/>
          <a:p>
            <a:pPr algn="l">
              <a:lnSpc>
                <a:spcPct val="135000"/>
              </a:lnSpc>
            </a:pPr>
            <a:r>
              <a:rPr sz="1000" b="0" i="0">
                <a:solidFill>
                  <a:srgbClr val="141B2D"/>
                </a:solidFill>
                <a:latin typeface="Calibri"/>
              </a:rPr>
              <a:t>Roll proven items across all programmes. Convocation moment for Cohort 0 graduates. Capstone Showcase and hiring partner brief. Publish a public engagement report. If a metric did not move, we kill the workstream. Publicly.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B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30352" y="484632"/>
            <a:ext cx="1681935" cy="63093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mity_online_logo.png"/>
          <p:cNvPicPr>
            <a:picLocks noChangeAspect="1"/>
          </p:cNvPicPr>
          <p:nvPr/>
        </p:nvPicPr>
        <p:blipFill>
          <a:blip r:embed="rId2"/>
          <a:stretch>
            <a:fillRect/>
          </a:stretch>
        </p:blipFill>
        <p:spPr>
          <a:xfrm>
            <a:off x="640080" y="548640"/>
            <a:ext cx="1462479" cy="502920"/>
          </a:xfrm>
          <a:prstGeom prst="rect">
            <a:avLst/>
          </a:prstGeom>
        </p:spPr>
      </p:pic>
      <p:sp>
        <p:nvSpPr>
          <p:cNvPr id="5" name="TextBox 4"/>
          <p:cNvSpPr txBox="1"/>
          <p:nvPr/>
        </p:nvSpPr>
        <p:spPr>
          <a:xfrm>
            <a:off x="640080" y="2011680"/>
            <a:ext cx="10972800" cy="457200"/>
          </a:xfrm>
          <a:prstGeom prst="rect">
            <a:avLst/>
          </a:prstGeom>
          <a:noFill/>
        </p:spPr>
        <p:txBody>
          <a:bodyPr wrap="square" lIns="45720" rIns="45720" tIns="18288" bIns="18288" anchor="t">
            <a:spAutoFit/>
          </a:bodyPr>
          <a:lstStyle/>
          <a:p>
            <a:pPr algn="l">
              <a:lnSpc>
                <a:spcPct val="100000"/>
              </a:lnSpc>
            </a:pPr>
            <a:r>
              <a:rPr sz="6800" b="1" i="0">
                <a:solidFill>
                  <a:srgbClr val="FFFFFF"/>
                </a:solidFill>
                <a:latin typeface="Calibri"/>
              </a:rPr>
              <a:t>Thank you.</a:t>
            </a:r>
          </a:p>
        </p:txBody>
      </p:sp>
      <p:sp>
        <p:nvSpPr>
          <p:cNvPr id="6" name="TextBox 5"/>
          <p:cNvSpPr txBox="1"/>
          <p:nvPr/>
        </p:nvSpPr>
        <p:spPr>
          <a:xfrm>
            <a:off x="640080" y="3154680"/>
            <a:ext cx="10972800" cy="457200"/>
          </a:xfrm>
          <a:prstGeom prst="rect">
            <a:avLst/>
          </a:prstGeom>
          <a:noFill/>
        </p:spPr>
        <p:txBody>
          <a:bodyPr wrap="square" lIns="45720" rIns="45720" tIns="18288" bIns="18288" anchor="t">
            <a:spAutoFit/>
          </a:bodyPr>
          <a:lstStyle/>
          <a:p>
            <a:pPr algn="l">
              <a:lnSpc>
                <a:spcPct val="125000"/>
              </a:lnSpc>
            </a:pPr>
            <a:r>
              <a:rPr sz="2000" b="0" i="1">
                <a:solidFill>
                  <a:srgbClr val="F8D36F"/>
                </a:solidFill>
                <a:latin typeface="Calibri"/>
              </a:rPr>
              <a:t>Happy to discuss any of this in more detail.</a:t>
            </a:r>
          </a:p>
        </p:txBody>
      </p:sp>
      <p:sp>
        <p:nvSpPr>
          <p:cNvPr id="7" name="TextBox 6"/>
          <p:cNvSpPr txBox="1"/>
          <p:nvPr/>
        </p:nvSpPr>
        <p:spPr>
          <a:xfrm>
            <a:off x="640080" y="4206240"/>
            <a:ext cx="5486400" cy="320040"/>
          </a:xfrm>
          <a:prstGeom prst="rect">
            <a:avLst/>
          </a:prstGeom>
          <a:noFill/>
        </p:spPr>
        <p:txBody>
          <a:bodyPr wrap="square" lIns="45720" rIns="45720" tIns="18288" bIns="18288" anchor="t">
            <a:spAutoFit/>
          </a:bodyPr>
          <a:lstStyle/>
          <a:p>
            <a:pPr algn="l">
              <a:lnSpc>
                <a:spcPct val="125000"/>
              </a:lnSpc>
            </a:pPr>
            <a:r>
              <a:rPr sz="1000" b="1" i="0">
                <a:solidFill>
                  <a:srgbClr val="F2B61A"/>
                </a:solidFill>
                <a:latin typeface="Calibri"/>
              </a:rPr>
              <a:t>SUBMITTED BY</a:t>
            </a:r>
          </a:p>
        </p:txBody>
      </p:sp>
      <p:sp>
        <p:nvSpPr>
          <p:cNvPr id="8" name="TextBox 7"/>
          <p:cNvSpPr txBox="1"/>
          <p:nvPr/>
        </p:nvSpPr>
        <p:spPr>
          <a:xfrm>
            <a:off x="640080" y="4526280"/>
            <a:ext cx="5486400" cy="548640"/>
          </a:xfrm>
          <a:prstGeom prst="rect">
            <a:avLst/>
          </a:prstGeom>
          <a:noFill/>
        </p:spPr>
        <p:txBody>
          <a:bodyPr wrap="square" lIns="45720" rIns="45720" tIns="18288" bIns="18288" anchor="t">
            <a:spAutoFit/>
          </a:bodyPr>
          <a:lstStyle/>
          <a:p>
            <a:pPr algn="l">
              <a:lnSpc>
                <a:spcPct val="125000"/>
              </a:lnSpc>
            </a:pPr>
            <a:r>
              <a:rPr sz="2800" b="1" i="0">
                <a:solidFill>
                  <a:srgbClr val="FFFFFF"/>
                </a:solidFill>
                <a:latin typeface="Calibri"/>
              </a:rPr>
              <a:t>Paras Jain</a:t>
            </a:r>
          </a:p>
        </p:txBody>
      </p:sp>
      <p:sp>
        <p:nvSpPr>
          <p:cNvPr id="9" name="TextBox 8"/>
          <p:cNvSpPr txBox="1"/>
          <p:nvPr/>
        </p:nvSpPr>
        <p:spPr>
          <a:xfrm>
            <a:off x="640080" y="5120640"/>
            <a:ext cx="5486400" cy="365760"/>
          </a:xfrm>
          <a:prstGeom prst="rect">
            <a:avLst/>
          </a:prstGeom>
          <a:noFill/>
        </p:spPr>
        <p:txBody>
          <a:bodyPr wrap="square" lIns="45720" rIns="45720" tIns="18288" bIns="18288" anchor="t">
            <a:spAutoFit/>
          </a:bodyPr>
          <a:lstStyle/>
          <a:p>
            <a:pPr algn="l">
              <a:lnSpc>
                <a:spcPct val="125000"/>
              </a:lnSpc>
            </a:pPr>
            <a:r>
              <a:rPr sz="1200" b="0" i="1">
                <a:solidFill>
                  <a:srgbClr val="F8D36F"/>
                </a:solidFill>
                <a:latin typeface="Calibri"/>
              </a:rPr>
              <a:t>Marketing Manager candidate.   Amity University Online.</a:t>
            </a:r>
          </a:p>
        </p:txBody>
      </p:sp>
      <p:sp>
        <p:nvSpPr>
          <p:cNvPr id="10" name="TextBox 9"/>
          <p:cNvSpPr txBox="1"/>
          <p:nvPr/>
        </p:nvSpPr>
        <p:spPr>
          <a:xfrm>
            <a:off x="6858000" y="4206240"/>
            <a:ext cx="4846320" cy="365760"/>
          </a:xfrm>
          <a:prstGeom prst="rect">
            <a:avLst/>
          </a:prstGeom>
          <a:noFill/>
        </p:spPr>
        <p:txBody>
          <a:bodyPr wrap="square" lIns="45720" rIns="45720" tIns="18288" bIns="18288" anchor="t">
            <a:spAutoFit/>
          </a:bodyPr>
          <a:lstStyle/>
          <a:p>
            <a:pPr algn="l">
              <a:lnSpc>
                <a:spcPct val="125000"/>
              </a:lnSpc>
            </a:pPr>
            <a:r>
              <a:rPr sz="1400" b="1" i="0">
                <a:solidFill>
                  <a:srgbClr val="F2B61A"/>
                </a:solidFill>
                <a:latin typeface="Calibri"/>
              </a:rPr>
              <a:t>One honest line.</a:t>
            </a:r>
          </a:p>
        </p:txBody>
      </p:sp>
      <p:sp>
        <p:nvSpPr>
          <p:cNvPr id="11" name="TextBox 10"/>
          <p:cNvSpPr txBox="1"/>
          <p:nvPr/>
        </p:nvSpPr>
        <p:spPr>
          <a:xfrm>
            <a:off x="6858000" y="4526280"/>
            <a:ext cx="5029200" cy="2011680"/>
          </a:xfrm>
          <a:prstGeom prst="rect">
            <a:avLst/>
          </a:prstGeom>
          <a:noFill/>
        </p:spPr>
        <p:txBody>
          <a:bodyPr wrap="square" lIns="45720" rIns="45720" tIns="18288" bIns="18288" anchor="t">
            <a:spAutoFit/>
          </a:bodyPr>
          <a:lstStyle/>
          <a:p>
            <a:pPr algn="l">
              <a:lnSpc>
                <a:spcPct val="145000"/>
              </a:lnSpc>
            </a:pPr>
            <a:r>
              <a:rPr sz="1150" b="0" i="1">
                <a:solidFill>
                  <a:srgbClr val="FFFFFF"/>
                </a:solidFill>
                <a:latin typeface="Calibri"/>
              </a:rPr>
              <a:t>Everything in this deck is built on one belief. A great university is not the one that scales the cheapest content. It is the one that makes the loneliest learner feel found. Amity Online has the scale, the brand, and the platform to be that university. I would like to help.</a:t>
            </a:r>
          </a:p>
        </p:txBody>
      </p:sp>
      <p:sp>
        <p:nvSpPr>
          <p:cNvPr id="12" name="TextBox 11"/>
          <p:cNvSpPr txBox="1"/>
          <p:nvPr/>
        </p:nvSpPr>
        <p:spPr>
          <a:xfrm>
            <a:off x="457200" y="6492240"/>
            <a:ext cx="9144000" cy="274320"/>
          </a:xfrm>
          <a:prstGeom prst="rect">
            <a:avLst/>
          </a:prstGeom>
          <a:noFill/>
        </p:spPr>
        <p:txBody>
          <a:bodyPr wrap="square" lIns="45720" rIns="45720" tIns="18288" bIns="18288" anchor="t">
            <a:spAutoFit/>
          </a:bodyPr>
          <a:lstStyle/>
          <a:p>
            <a:pPr algn="l">
              <a:lnSpc>
                <a:spcPct val="125000"/>
              </a:lnSpc>
            </a:pPr>
            <a:r>
              <a:rPr sz="850" b="0" i="1">
                <a:solidFill>
                  <a:srgbClr val="F8D36F"/>
                </a:solidFill>
                <a:latin typeface="Calibri"/>
              </a:rPr>
              <a:t/>
            </a:r>
          </a:p>
        </p:txBody>
      </p:sp>
      <p:sp>
        <p:nvSpPr>
          <p:cNvPr id="13" name="TextBox 12"/>
          <p:cNvSpPr txBox="1"/>
          <p:nvPr/>
        </p:nvSpPr>
        <p:spPr>
          <a:xfrm>
            <a:off x="11094415" y="6492240"/>
            <a:ext cx="640080" cy="274320"/>
          </a:xfrm>
          <a:prstGeom prst="rect">
            <a:avLst/>
          </a:prstGeom>
          <a:noFill/>
        </p:spPr>
        <p:txBody>
          <a:bodyPr wrap="square" lIns="45720" rIns="45720" tIns="18288" bIns="18288" anchor="t">
            <a:spAutoFit/>
          </a:bodyPr>
          <a:lstStyle/>
          <a:p>
            <a:pPr algn="r">
              <a:lnSpc>
                <a:spcPct val="125000"/>
              </a:lnSpc>
            </a:pPr>
            <a:r>
              <a:rPr sz="850" b="0" i="0">
                <a:solidFill>
                  <a:srgbClr val="F8D36F"/>
                </a:solidFill>
                <a:latin typeface="Calibri"/>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