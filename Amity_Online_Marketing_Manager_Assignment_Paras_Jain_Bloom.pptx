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udent_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0"/>
            <a:ext cx="542513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766560" y="0"/>
            <a:ext cx="5425135" cy="6858000"/>
          </a:xfrm>
          <a:prstGeom prst="rect">
            <a:avLst/>
          </a:prstGeom>
          <a:solidFill>
            <a:srgbClr val="100E2E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3200400"/>
            <a:ext cx="54864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0352" y="484632"/>
            <a:ext cx="1814887" cy="6766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1595431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1874519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4B8A6"/>
                </a:solidFill>
                <a:latin typeface="Calibri"/>
              </a:rPr>
              <a:t>MARKETING MANAGER   ASSIGNMENT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31720"/>
            <a:ext cx="7315200" cy="2194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Reimagining the</a:t>
            </a:r>
          </a:p>
          <a:p>
            <a:pPr algn="l">
              <a:lnSpc>
                <a:spcPct val="9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Online Learner</a:t>
            </a:r>
          </a:p>
          <a:p>
            <a:pPr algn="l">
              <a:lnSpc>
                <a:spcPct val="9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Experience.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00600"/>
            <a:ext cx="6400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FFFFFF"/>
                </a:solidFill>
                <a:latin typeface="Calibri"/>
              </a:rPr>
              <a:t>A launch. A yearlong roadmap. A leadership story.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6400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C4B5FD"/>
                </a:solidFill>
                <a:latin typeface="Calibri"/>
              </a:rPr>
              <a:t>Built for Amity University Online's 2,50,000+ learners.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852160"/>
            <a:ext cx="54864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852160"/>
            <a:ext cx="4572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SUBMITTED 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08076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Paras Jain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C4B5FD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C4B5FD"/>
                </a:solidFill>
                <a:latin typeface="Calibri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THE APPROACH   |   PERSONA, PATTERNS,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Before I drafted, I listened.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2 /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3840480" cy="507492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udent_lapt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45920"/>
            <a:ext cx="3383280" cy="2011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3794760"/>
            <a:ext cx="3840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MEET ROHIT.   OUR LEARNER.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23360"/>
            <a:ext cx="35661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E1B4B"/>
                </a:solidFill>
                <a:latin typeface="Calibri"/>
              </a:rPr>
              <a:t>28. Bhopal. MBA, Sem 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72000"/>
            <a:ext cx="347472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30" b="1">
                <a:solidFill>
                  <a:srgbClr val="14B8A6"/>
                </a:solidFill>
                <a:latin typeface="Calibri"/>
              </a:rPr>
              <a:t>• </a:t>
            </a:r>
            <a:r>
              <a:rPr sz="1030">
                <a:solidFill>
                  <a:srgbClr val="141B2D"/>
                </a:solidFill>
                <a:latin typeface="Calibri"/>
              </a:rPr>
              <a:t>Senior account executive at a Tier 2 firm.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30" b="1">
                <a:solidFill>
                  <a:srgbClr val="14B8A6"/>
                </a:solidFill>
                <a:latin typeface="Calibri"/>
              </a:rPr>
              <a:t>• </a:t>
            </a:r>
            <a:r>
              <a:rPr sz="1030">
                <a:solidFill>
                  <a:srgbClr val="141B2D"/>
                </a:solidFill>
                <a:latin typeface="Calibri"/>
              </a:rPr>
              <a:t>Pays his own fees. Studies after dinner.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30" b="1">
                <a:solidFill>
                  <a:srgbClr val="14B8A6"/>
                </a:solidFill>
                <a:latin typeface="Calibri"/>
              </a:rPr>
              <a:t>• </a:t>
            </a:r>
            <a:r>
              <a:rPr sz="1030">
                <a:solidFill>
                  <a:srgbClr val="141B2D"/>
                </a:solidFill>
                <a:latin typeface="Calibri"/>
              </a:rPr>
              <a:t>Married. One toddler. Family is proud.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30" b="1">
                <a:solidFill>
                  <a:srgbClr val="14B8A6"/>
                </a:solidFill>
                <a:latin typeface="Calibri"/>
              </a:rPr>
              <a:t>• </a:t>
            </a:r>
            <a:r>
              <a:rPr sz="1030">
                <a:solidFill>
                  <a:srgbClr val="141B2D"/>
                </a:solidFill>
                <a:latin typeface="Calibri"/>
              </a:rPr>
              <a:t>Has never seen the Noida campus.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30" b="1">
                <a:solidFill>
                  <a:srgbClr val="14B8A6"/>
                </a:solidFill>
                <a:latin typeface="Calibri"/>
              </a:rPr>
              <a:t>• </a:t>
            </a:r>
            <a:r>
              <a:rPr sz="1030">
                <a:solidFill>
                  <a:srgbClr val="141B2D"/>
                </a:solidFill>
                <a:latin typeface="Calibri"/>
              </a:rPr>
              <a:t>Logs into beSocial maybe once a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417320"/>
            <a:ext cx="7315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Three patterns showed up everywhere.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1920240"/>
            <a:ext cx="7315200" cy="1097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1920240"/>
            <a:ext cx="73152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2084832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4B8A6"/>
                </a:solidFill>
                <a:latin typeface="Calibr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2084832"/>
            <a:ext cx="6309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Belonging is the missing product.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87168"/>
            <a:ext cx="6309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1E1B4B"/>
                </a:solidFill>
                <a:latin typeface="Calibri"/>
              </a:rPr>
              <a:t>beSocial is the right instinct. Add one in person moment.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3127248"/>
            <a:ext cx="7315200" cy="1097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0" y="3127248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3291840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6B6D4"/>
                </a:solidFill>
                <a:latin typeface="Calibr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3291840"/>
            <a:ext cx="6309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Engagement leads enrolment.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3694176"/>
            <a:ext cx="6309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1E1B4B"/>
                </a:solidFill>
                <a:latin typeface="Calibri"/>
              </a:rPr>
              <a:t>Engaged learners complete more and refer more. Not the other way around.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0" y="4334256"/>
            <a:ext cx="7315200" cy="1097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0" y="4334256"/>
            <a:ext cx="73152" cy="109728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0" y="4498848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A855F7"/>
                </a:solidFill>
                <a:latin typeface="Calibr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4498848"/>
            <a:ext cx="6309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Our learners are our cheapest growth channel.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0680" y="4901184"/>
            <a:ext cx="6309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1E1B4B"/>
                </a:solidFill>
                <a:latin typeface="Calibri"/>
              </a:rPr>
              <a:t>2,50,000+ learners. Almost no system to turn them into referrers.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0" y="5349240"/>
            <a:ext cx="7315200" cy="1143000"/>
          </a:xfrm>
          <a:prstGeom prst="roundRect">
            <a:avLst>
              <a:gd name="adj" fmla="val 3000"/>
            </a:avLst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0" y="54864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FRAMEWORKS I AM USING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0" y="5852160"/>
            <a:ext cx="1193292" cy="329184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>
                <a:solidFill>
                  <a:srgbClr val="1E1B4B"/>
                </a:solidFill>
                <a:latin typeface="Calibri"/>
              </a:rPr>
              <a:t>Jobs to be Done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21324" y="5852160"/>
            <a:ext cx="987551" cy="329184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>
                <a:solidFill>
                  <a:srgbClr val="1E1B4B"/>
                </a:solidFill>
                <a:latin typeface="Calibri"/>
              </a:rPr>
              <a:t>AARRR funnel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82027" y="5852160"/>
            <a:ext cx="987551" cy="329184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>
                <a:solidFill>
                  <a:srgbClr val="1E1B4B"/>
                </a:solidFill>
                <a:latin typeface="Calibri"/>
              </a:rPr>
              <a:t>70 / 20 / 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42730" y="5852160"/>
            <a:ext cx="1330451" cy="329184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>
                <a:solidFill>
                  <a:srgbClr val="1E1B4B"/>
                </a:solidFill>
                <a:latin typeface="Calibri"/>
              </a:rPr>
              <a:t>North Star Metric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6217920"/>
            <a:ext cx="6949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C4B5FD"/>
                </a:solidFill>
                <a:latin typeface="Calibri"/>
              </a:rPr>
              <a:t>All named, all auditable. None invented for this deck.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udents_gro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0E2E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486400" cy="3200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14B8A6"/>
                </a:solidFill>
                <a:latin typeface="Calibri"/>
              </a:rPr>
              <a:t>Task</a:t>
            </a:r>
          </a:p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14B8A6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3484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Launching the Amity Online Immersion Program.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53212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C4B5FD"/>
                </a:solidFill>
                <a:latin typeface="Calibri"/>
              </a:rPr>
              <a:t>A one day on campus experience for our online learners. One page strategy. Event concept. Launch email. LinkedIn post. Brochure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40961" y="228600"/>
            <a:ext cx="1548982" cy="58521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C4B5FD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C4B5FD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TASK 1   |   DELIVERABLE 1 OF 5   |   ONE PAGE LAUNCH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Amity Online Immersion. The launch on one page.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4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1">
                <a:solidFill>
                  <a:srgbClr val="52597A"/>
                </a:solidFill>
                <a:latin typeface="Calibri"/>
              </a:rPr>
              <a:t>An annual on campus immersion for our online learners. Pilot Cohort 0 with 100 learners. Scale to 6 cities in Year 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3703320" cy="210312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370332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28600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THE PROGRAM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56032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One day. One campus. One photograph.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3337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4B8A6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Annual on campus immersion for online learners.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4B8A6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Day = academic. Evening = cultural. Wrap = mini convocation.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4B8A6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Pilot 100 learners. Scale to 6 cities in Year 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103120"/>
            <a:ext cx="3703320" cy="210312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2103120"/>
            <a:ext cx="370332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28600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06B6D4"/>
                </a:solidFill>
                <a:latin typeface="Calibri"/>
              </a:rPr>
              <a:t>TARGET LEARNER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56032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Working professionals from Tier 2 India.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3246120"/>
            <a:ext cx="3337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06B6D4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28 year olds, MBA or BBA, on Amity Online.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06B6D4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Have never seen the campus they paid for.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06B6D4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Family is proud but distant from the journey.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4" y="2103120"/>
            <a:ext cx="3703320" cy="210312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3024" y="2103120"/>
            <a:ext cx="3703320" cy="64008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1624" y="228600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A855F7"/>
                </a:solidFill>
                <a:latin typeface="Calibri"/>
              </a:rPr>
              <a:t>THE PROMISE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1624" y="256032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You enrolled online. You walk the campus.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1624" y="3246120"/>
            <a:ext cx="3337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A855F7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Differentiation: the only online university with this experience.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A855F7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Family travels with the learner.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A855F7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The photograph and the stage are the products.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370832"/>
            <a:ext cx="3703320" cy="210312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370832"/>
            <a:ext cx="370332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553712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CHANNELS AND SPEND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828032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Pilot at approximately Rs 65 lakh.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513832"/>
            <a:ext cx="3337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4B8A6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50% organic email, in app, beSocial.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4B8A6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25% reallocated paid media.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4B8A6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25% production (photo, reel, stage, food).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5112" y="4370832"/>
            <a:ext cx="3703320" cy="210312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25112" y="4370832"/>
            <a:ext cx="370332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53712" y="4553712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06B6D4"/>
                </a:solidFill>
                <a:latin typeface="Calibri"/>
              </a:rPr>
              <a:t>GOALS (COHORT 0, 90 DAYS)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4828032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Hit a tight bar before scaling.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5513832"/>
            <a:ext cx="3337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06B6D4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100 learners on Noida campus, with family.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06B6D4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NSAT (Net Satisfaction) above 4.5 of 5.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06B6D4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More than 50% share publicly within 7 days.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93024" y="4370832"/>
            <a:ext cx="3703320" cy="210312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93024" y="4370832"/>
            <a:ext cx="3703320" cy="64008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21624" y="4553712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A855F7"/>
                </a:solidFill>
                <a:latin typeface="Calibri"/>
              </a:rPr>
              <a:t>SUCCESS IN 6 MONTHS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21624" y="4828032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Prospects ask current learners the question.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1624" y="5513832"/>
            <a:ext cx="3337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A855F7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'Did you go to immersion?' becomes the question.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A855F7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Current learners answer with a photograph.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A855F7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Inbound interest cites Immersion.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TASK 1   |   DELIVERABLE 2 OF 5   |   EVENT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Amity Online Immersion. The day.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5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52597A"/>
                </a:solidFill>
                <a:latin typeface="Calibri"/>
              </a:rPr>
              <a:t>100 learners and 100 family members. Noida campus. One day shaped to feel like four moments in order.</a:t>
            </a:r>
          </a:p>
        </p:txBody>
      </p:sp>
      <p:pic>
        <p:nvPicPr>
          <p:cNvPr id="9" name="Picture 8" descr="students_gro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20240"/>
            <a:ext cx="329184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57200" y="5074920"/>
            <a:ext cx="3291840" cy="365760"/>
          </a:xfrm>
          <a:prstGeom prst="rect">
            <a:avLst/>
          </a:prstGeom>
          <a:solidFill>
            <a:srgbClr val="10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5093208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1 DAY   |   100 + 100   |   NOIDA CAMPUS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532120"/>
            <a:ext cx="3291840" cy="1005840"/>
          </a:xfrm>
          <a:prstGeom prst="roundRect">
            <a:avLst>
              <a:gd name="adj" fmla="val 3000"/>
            </a:avLst>
          </a:prstGeom>
          <a:solidFill>
            <a:srgbClr val="10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605272"/>
            <a:ext cx="3108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14B8A6"/>
                </a:solidFill>
                <a:latin typeface="Calibri"/>
              </a:rPr>
              <a:t>WHY THIS 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824728"/>
            <a:ext cx="31089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FFFFFF"/>
                </a:solidFill>
                <a:latin typeface="Calibri"/>
              </a:rPr>
              <a:t>Every online learner gets one moment that</a:t>
            </a:r>
          </a:p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FFFFFF"/>
                </a:solidFill>
                <a:latin typeface="Calibri"/>
              </a:rPr>
              <a:t>is theirs. One stage. One photograph. One memory</a:t>
            </a:r>
          </a:p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FFFFFF"/>
                </a:solidFill>
                <a:latin typeface="Calibri"/>
              </a:rPr>
              <a:t>their family can frame.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1920240"/>
            <a:ext cx="7818120" cy="10789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31920" y="1920240"/>
            <a:ext cx="91440" cy="10789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60520" y="2039112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14B8A6"/>
                </a:solidFill>
                <a:latin typeface="Calibri"/>
              </a:rPr>
              <a:t>MORNING  10:00 to 13:00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228600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BELONG.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039112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• Welcome address. Campus walk with family.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331720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• Visit to library, classrooms, the convocation hall.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624328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• Family lunch with faculty.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31920" y="3090672"/>
            <a:ext cx="7818120" cy="10789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31920" y="3090672"/>
            <a:ext cx="91440" cy="107899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60520" y="3209544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06B6D4"/>
                </a:solidFill>
                <a:latin typeface="Calibri"/>
              </a:rPr>
              <a:t>AFTERNOON  13:30 to 16:30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60520" y="3456432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BUILD.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209544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• Two short masterclasses (Career, Industry).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502152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• Industry mentor pairing for 12 months.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794760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• Group photo on the convocation stage.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31920" y="4261104"/>
            <a:ext cx="7818120" cy="10789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31920" y="4261104"/>
            <a:ext cx="91440" cy="1078992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60520" y="4379976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A855F7"/>
                </a:solidFill>
                <a:latin typeface="Calibri"/>
              </a:rPr>
              <a:t>EVENING  17:30 to 20:30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60520" y="4626864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CELEBRATE.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4379976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• Cultural night. Comedy or music headliner (Rs 8 to 15 lakh).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4672584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• Five learner finalists open via beSocial audition.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4965192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• Brand stalls (Boat, Cred, MakeMyTrip) offset 30% of cost.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31920" y="5431536"/>
            <a:ext cx="7818120" cy="10789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31920" y="5431536"/>
            <a:ext cx="91440" cy="1078992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60520" y="5550408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1E1B4B"/>
                </a:solidFill>
                <a:latin typeface="Calibri"/>
              </a:rPr>
              <a:t>WRAP  20:30 to 21:30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60520" y="5797296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AMPLIFY.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5550408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• Mini convocation. Stole and certificate ceremony.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5843016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• Pro photographer plus 60 second reel for every learner.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6135624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• Creator partner films a 3 part docuseries.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931920" y="6355080"/>
            <a:ext cx="7818120" cy="45720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0" y="6409944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14B8A6"/>
                </a:solidFill>
                <a:latin typeface="Calibri"/>
              </a:rPr>
              <a:t>BUDGET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46320" y="6400800"/>
            <a:ext cx="6812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Production Rs 25L  +  Headliner Rs 12L  +  Photo / Video Rs 8L  +  Logistics Rs 10L   =   Rs 55L     Sponsor offset minus Rs 18L     Net Rs 37L for Cohort 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TASK 1   |   DELIVERABLE 3 OF 5   |   EMAIL TO EXISTING LEARNERS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The launch email.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6 /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777240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772400" cy="41148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44752"/>
            <a:ext cx="7772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2597A"/>
                </a:solidFill>
                <a:latin typeface="Calibri"/>
              </a:rPr>
              <a:t>From: Amity Online Marketing   online@amity.edu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20240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Subject:   You enrolled online. Come walk the campus.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72237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1">
                <a:solidFill>
                  <a:srgbClr val="52597A"/>
                </a:solidFill>
                <a:latin typeface="Calibri"/>
              </a:rPr>
              <a:t>Preheader:   One day on the Noida campus. With your family. Apply by 25 August.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97480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Hi {{first_name}},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80944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You picked Amity Online for the right reason. It fits your work, your family, and your commute. It does.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64408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But there is one thing it has not given you. The campus.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47872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We are launching Amity Online Immersion. One day on the Noida campus, designed for our online learners.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31336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Morning. Walk the campus with your family. Two masterclasses.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78224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Afternoon. Industry mentor pairing for the year ahead.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25112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Evening. A cultural night with a headline act, opened by five Amity Online learners who win a beSocial audition.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572000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Wrap. A short convocation moment. Stole, certificate, photo with family.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55464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Free for existing learners. One family member included. 100 seats in Cohort 0.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148072"/>
            <a:ext cx="2103120" cy="384048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48072"/>
            <a:ext cx="210312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Reserve your seat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221224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52597A"/>
                </a:solidFill>
                <a:latin typeface="Calibri"/>
              </a:rPr>
              <a:t>Takes 90 seconds.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0" y="1371600"/>
            <a:ext cx="3337560" cy="516636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41080" y="1508760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1B4B"/>
                </a:solidFill>
                <a:latin typeface="Calibri"/>
              </a:rPr>
              <a:t>Why it works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1874519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4B8A6"/>
                </a:solidFill>
                <a:latin typeface="Calibri"/>
              </a:rPr>
              <a:t>Subject is direct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2121407"/>
            <a:ext cx="2971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Names the moment, not the marketing.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2587751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4B8A6"/>
                </a:solidFill>
                <a:latin typeface="Calibri"/>
              </a:rPr>
              <a:t>Promise is the day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1080" y="2834639"/>
            <a:ext cx="2971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Walk. Learn. Celebrate. Wrap. One thing each.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1080" y="3300983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4B8A6"/>
                </a:solidFill>
                <a:latin typeface="Calibri"/>
              </a:rPr>
              <a:t>Single CTA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3547871"/>
            <a:ext cx="2971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One blue button. No sidebar links.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1080" y="4014215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4B8A6"/>
                </a:solidFill>
                <a:latin typeface="Calibri"/>
              </a:rPr>
              <a:t>Real scarcity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4261103"/>
            <a:ext cx="2971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100 seats. 2,50,000 learners. Honest math.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1080" y="4727447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4B8A6"/>
                </a:solidFill>
                <a:latin typeface="Calibri"/>
              </a:rPr>
              <a:t>Family included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41080" y="4974335"/>
            <a:ext cx="2971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Solves the most common no without asking.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41080" y="5440679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4B8A6"/>
                </a:solidFill>
                <a:latin typeface="Calibri"/>
              </a:rPr>
              <a:t>Send window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5687567"/>
            <a:ext cx="2971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Tuesday, 10:30 AM IST. We'll A B test subject lines.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TASK 1   |   DELIVERABLE 4 OF 5   |   FROM THE CHAIRMAN'S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The LinkedIn post.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7 /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7132320" cy="5212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1691640"/>
            <a:ext cx="640080" cy="640080"/>
          </a:xfrm>
          <a:prstGeom prst="ellipse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14B8A6"/>
                </a:solidFill>
                <a:latin typeface="Calibri"/>
              </a:rPr>
              <a:t>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691640"/>
            <a:ext cx="7132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E1B4B"/>
                </a:solidFill>
                <a:latin typeface="Calibri"/>
              </a:rPr>
              <a:t>Mr. Ajit Chauhan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920240"/>
            <a:ext cx="7132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2597A"/>
                </a:solidFill>
                <a:latin typeface="Calibri"/>
              </a:rPr>
              <a:t>Chairman, Amity University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130552"/>
            <a:ext cx="71323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2597A"/>
                </a:solidFill>
                <a:latin typeface="Calibri"/>
              </a:rPr>
              <a:t>1d   Public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6675120" cy="3383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I keep meeting Amity Online learners at airports.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Last week, one of them. A working professional from Bhubaneswar. Doing his MBA after his work day ends. He asked me one question.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"Sir, will I ever come to the campus?"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We launched Amity Online to make a high quality degree fit real lives. It does. But our answer to that question was 'only during exams'.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From this year, the answer changes.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We are launching Amity Online Immersion. A one day on campus experience, designed for our 2,50,000+ online learners. They will walk our Noida campus with their families. They will sit in two masterclasses. Five of them will open a cultural night. They will stand on our convocation stage and take a photograph their family can frame.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Online gave us reach. Immersion is how we add memory.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If you're an Amity Online learner, your invite is in your inbox.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#AmityOnlineImmersion   #AmityUniversityOnline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172200"/>
            <a:ext cx="7040880" cy="18288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217920"/>
            <a:ext cx="7132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52597A"/>
                </a:solidFill>
                <a:latin typeface="Calibri"/>
              </a:rPr>
              <a:t>Like     Comment     Repost     Send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1417320"/>
            <a:ext cx="3931920" cy="52120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1600200"/>
            <a:ext cx="3931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1B4B"/>
                </a:solidFill>
                <a:latin typeface="Calibri"/>
              </a:rPr>
              <a:t>Why it works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196596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70" b="1" i="0">
                <a:solidFill>
                  <a:srgbClr val="14B8A6"/>
                </a:solidFill>
                <a:latin typeface="Calibri"/>
              </a:rPr>
              <a:t>Story, not announcement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212848"/>
            <a:ext cx="35661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One specific learner. The launch arrives in the third paragraph.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83464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70" b="1" i="0">
                <a:solidFill>
                  <a:srgbClr val="14B8A6"/>
                </a:solidFill>
                <a:latin typeface="Calibri"/>
              </a:rPr>
              <a:t>A leader admits the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081528"/>
            <a:ext cx="35661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Our answer was 'only during exams'. Honest leadership shares.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70332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70" b="1" i="0">
                <a:solidFill>
                  <a:srgbClr val="14B8A6"/>
                </a:solidFill>
                <a:latin typeface="Calibri"/>
              </a:rPr>
              <a:t>Quotable 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950208"/>
            <a:ext cx="35661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'Online gave us reach. Immersion is how we add memory.'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57200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70" b="1" i="0">
                <a:solidFill>
                  <a:srgbClr val="14B8A6"/>
                </a:solidFill>
                <a:latin typeface="Calibri"/>
              </a:rPr>
              <a:t>Earned beats paid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818888"/>
            <a:ext cx="35661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Employees and alumni shares carry this further than any media buy.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544068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70" b="1" i="0">
                <a:solidFill>
                  <a:srgbClr val="14B8A6"/>
                </a:solidFill>
                <a:latin typeface="Calibri"/>
              </a:rPr>
              <a:t>Posting craft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5687568"/>
            <a:ext cx="35661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Hashtags below the fold. No external link. Line breaks.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TASK 1   |   DELIVERABLE 5 OF 5   |   BROCHURE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The Immersion brochure. Eight pages, A5.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8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52597A"/>
                </a:solidFill>
                <a:latin typeface="Calibri"/>
              </a:rPr>
              <a:t>Saddle stitched. Around Rs 35 per copy at a 5,000 print run. Distributed digitally as a PDF. Physical copies on the day.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965960"/>
            <a:ext cx="2788920" cy="3840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3911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01  COVER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514600"/>
            <a:ext cx="2331720" cy="9144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520440"/>
            <a:ext cx="23317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Navy. Gold flame.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'You enrolled online.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You walk the campus.'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4992" y="196596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4992" y="1965960"/>
            <a:ext cx="2788920" cy="38404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2" y="203911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02  LETTER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93592" y="2514600"/>
            <a:ext cx="2331720" cy="9144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93592" y="3520440"/>
            <a:ext cx="23317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Founder's letter.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Mr. Ajit Chauhan.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200 words. Hand signed.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2784" y="196596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72784" y="1965960"/>
            <a:ext cx="2788920" cy="384048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203911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03-04  WHY IMMERSION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1384" y="2514600"/>
            <a:ext cx="2331720" cy="9144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1384" y="3520440"/>
            <a:ext cx="23317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Three real learner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stories with photos.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The missing campus moment.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0576" y="196596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0576" y="1965960"/>
            <a:ext cx="2788920" cy="3840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3456" y="203911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05  THE DAY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09176" y="2514600"/>
            <a:ext cx="2331720" cy="9144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9176" y="3520440"/>
            <a:ext cx="23317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Visual timeline.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Morning, Afternoon,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Evening, Wrap.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9768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4297680"/>
            <a:ext cx="2788920" cy="38404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37083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06  VALIDATION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846320"/>
            <a:ext cx="2331720" cy="9144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852160"/>
            <a:ext cx="23317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NAAC A+. UGC. AICTE.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WASC, QAA, WES.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QS Asia Pacific Top 10 MBA.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64992" y="429768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64992" y="4297680"/>
            <a:ext cx="2788920" cy="384048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47872" y="437083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07  NUMBERS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93592" y="4846320"/>
            <a:ext cx="2331720" cy="9144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93592" y="5852160"/>
            <a:ext cx="23317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2,50,000+ learners.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450+ hiring partners.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40+ programmes.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72784" y="429768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72784" y="4297680"/>
            <a:ext cx="2788920" cy="3840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5664" y="437083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08  FAQ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1384" y="4846320"/>
            <a:ext cx="2331720" cy="9144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01384" y="5852160"/>
            <a:ext cx="23317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Six honest questions.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What about my family?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What does it cost me?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80576" y="429768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80576" y="4297680"/>
            <a:ext cx="2788920" cy="38404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63456" y="437083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09  BACK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409176" y="4846320"/>
            <a:ext cx="2331720" cy="9144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409176" y="5852160"/>
            <a:ext cx="23317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QR code to register.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'One day. The rest of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your Amity story.'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nline_cla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0E2E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486400" cy="3200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14B8A6"/>
                </a:solidFill>
                <a:latin typeface="Calibri"/>
              </a:rPr>
              <a:t>Task</a:t>
            </a:r>
          </a:p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14B8A6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3484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A 12 month engagement roadmap.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53212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C4B5FD"/>
                </a:solidFill>
                <a:latin typeface="Calibri"/>
              </a:rPr>
              <a:t>All ideas at once. Engagement calendar. New initiatives. Community building. Advocacy programs. Referral opportunities.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40961" y="228600"/>
            <a:ext cx="1548982" cy="58521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C4B5FD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C4B5FD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TASK 2   |   DELIVERABLE 1 OF 5   |   ENGAGEMENT CALENDAR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The 12 month engagement calendar.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10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52597A"/>
                </a:solidFill>
                <a:latin typeface="Calibri"/>
              </a:rPr>
              <a:t>Every month has one flagship moment. The year arcs through four themes: Belong, Build, Broadcast, Beyond.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2784348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278434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Q1   BELONG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4408" y="1920240"/>
            <a:ext cx="2784348" cy="5029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64408" y="1920240"/>
            <a:ext cx="278434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Q2   BUILD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71616" y="1920240"/>
            <a:ext cx="2784348" cy="50292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71616" y="1920240"/>
            <a:ext cx="278434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Q3   BROADCAST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78824" y="1920240"/>
            <a:ext cx="2784348" cy="50292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78824" y="1920240"/>
            <a:ext cx="278434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Q4   BEYOND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60604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606040"/>
            <a:ext cx="64008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7249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JAN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97180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E1B4B"/>
                </a:solidFill>
                <a:latin typeface="Calibri"/>
              </a:rPr>
              <a:t>New cohort welcome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38328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E1B4B"/>
                </a:solidFill>
                <a:latin typeface="Calibri"/>
              </a:rPr>
              <a:t>30 day onboarding ritual.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4408" y="260604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4408" y="2606040"/>
            <a:ext cx="64008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65576" y="27249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FEB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65576" y="297180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E1B4B"/>
                </a:solidFill>
                <a:latin typeface="Calibri"/>
              </a:rPr>
              <a:t>Sunday Sit Down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338328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E1B4B"/>
                </a:solidFill>
                <a:latin typeface="Calibri"/>
              </a:rPr>
              <a:t>Weekly live AMA on beSocial.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71616" y="260604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71616" y="2606040"/>
            <a:ext cx="64008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2784" y="27249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MAR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2784" y="297180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E1B4B"/>
                </a:solidFill>
                <a:latin typeface="Calibri"/>
              </a:rPr>
              <a:t>City Meetup #1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4" y="338328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E1B4B"/>
                </a:solidFill>
                <a:latin typeface="Calibri"/>
              </a:rPr>
              <a:t>First Saturday brunch in 3 cities.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78824" y="260604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878824" y="2606040"/>
            <a:ext cx="64008" cy="12344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79992" y="27249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6B6D4"/>
                </a:solidFill>
                <a:latin typeface="Calibri"/>
              </a:rPr>
              <a:t>APR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79992" y="297180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E1B4B"/>
                </a:solidFill>
                <a:latin typeface="Calibri"/>
              </a:rPr>
              <a:t>Industry Sprint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79992" y="338328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E1B4B"/>
                </a:solidFill>
                <a:latin typeface="Calibri"/>
              </a:rPr>
              <a:t>10 day brief from a hiring partner.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3192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3931920"/>
            <a:ext cx="64008" cy="12344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40507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6B6D4"/>
                </a:solidFill>
                <a:latin typeface="Calibri"/>
              </a:rPr>
              <a:t>MAY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429768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E1B4B"/>
                </a:solidFill>
                <a:latin typeface="Calibri"/>
              </a:rPr>
              <a:t>City Meetup #2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470916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E1B4B"/>
                </a:solidFill>
                <a:latin typeface="Calibri"/>
              </a:rPr>
              <a:t>Mumbai, Bangalore, Hyderabad.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64408" y="393192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264408" y="3931920"/>
            <a:ext cx="64008" cy="12344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65576" y="40507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6B6D4"/>
                </a:solidFill>
                <a:latin typeface="Calibri"/>
              </a:rPr>
              <a:t>JUN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65576" y="429768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E1B4B"/>
                </a:solidFill>
                <a:latin typeface="Calibri"/>
              </a:rPr>
              <a:t>Capstone Showcase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65576" y="470916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E1B4B"/>
                </a:solidFill>
                <a:latin typeface="Calibri"/>
              </a:rPr>
              <a:t>Top learner work goes on LinkedIn.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71616" y="393192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71616" y="3931920"/>
            <a:ext cx="64008" cy="123444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2784" y="40507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A855F7"/>
                </a:solidFill>
                <a:latin typeface="Calibri"/>
              </a:rPr>
              <a:t>JUL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72784" y="429768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E1B4B"/>
                </a:solidFill>
                <a:latin typeface="Calibri"/>
              </a:rPr>
              <a:t>Mid year reunion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72784" y="470916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E1B4B"/>
                </a:solidFill>
                <a:latin typeface="Calibri"/>
              </a:rPr>
              <a:t>Online reunion. Faculty live.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878824" y="393192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78824" y="3931920"/>
            <a:ext cx="64008" cy="123444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79992" y="40507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A855F7"/>
                </a:solidFill>
                <a:latin typeface="Calibri"/>
              </a:rPr>
              <a:t>AUG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79992" y="429768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E1B4B"/>
                </a:solidFill>
                <a:latin typeface="Calibri"/>
              </a:rPr>
              <a:t>Immersion Cohort 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79992" y="470916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E1B4B"/>
                </a:solidFill>
                <a:latin typeface="Calibri"/>
              </a:rPr>
              <a:t>100 learners on Noida campus.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525780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57200" y="5257800"/>
            <a:ext cx="64008" cy="123444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8368" y="53766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A855F7"/>
                </a:solidFill>
                <a:latin typeface="Calibri"/>
              </a:rPr>
              <a:t>SEP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8368" y="562356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E1B4B"/>
                </a:solidFill>
                <a:latin typeface="Calibri"/>
              </a:rPr>
              <a:t>Outcome Stories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8368" y="603504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E1B4B"/>
                </a:solidFill>
                <a:latin typeface="Calibri"/>
              </a:rPr>
              <a:t>Weekly learner reels begin.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264408" y="525780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264408" y="5257800"/>
            <a:ext cx="64008" cy="123444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65576" y="53766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OCT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65576" y="562356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E1B4B"/>
                </a:solidFill>
                <a:latin typeface="Calibri"/>
              </a:rPr>
              <a:t>Referral 1.0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65576" y="603504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E1B4B"/>
                </a:solidFill>
                <a:latin typeface="Calibri"/>
              </a:rPr>
              <a:t>Two sided launch, all learners.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071616" y="525780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071616" y="5257800"/>
            <a:ext cx="64008" cy="123444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72784" y="53766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NOV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72784" y="562356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E1B4B"/>
                </a:solidFill>
                <a:latin typeface="Calibri"/>
              </a:rPr>
              <a:t>Top 100 Voices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72784" y="603504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E1B4B"/>
                </a:solidFill>
                <a:latin typeface="Calibri"/>
              </a:rPr>
              <a:t>Trained advocate program.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878824" y="525780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878824" y="5257800"/>
            <a:ext cx="64008" cy="123444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079992" y="53766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DEC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79992" y="562356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E1B4B"/>
                </a:solidFill>
                <a:latin typeface="Calibri"/>
              </a:rPr>
              <a:t>Annual Outcome Report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79992" y="603504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E1B4B"/>
                </a:solidFill>
                <a:latin typeface="Calibri"/>
              </a:rPr>
              <a:t>Public report. Convocation.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6629400"/>
            <a:ext cx="11274552" cy="50292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720840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WHAT WE TRACK MONTHLY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114800" y="6748272"/>
            <a:ext cx="7772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Active Learner Score   |   Course completion   |   NPS (Net Promoter Score)   |   Referral mix   |   Cost per engaged learner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TASK 2   |   DELIVERABLES 2 AND 3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New initiatives and community building ideas.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11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52597A"/>
                </a:solidFill>
                <a:latin typeface="Calibri"/>
              </a:rPr>
              <a:t>Five initiatives. Five community building ideas. Each one is lightweight, owned, and runs inside our existing budget.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585216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65959"/>
            <a:ext cx="5852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E1B4B"/>
                </a:solidFill>
                <a:latin typeface="Calibri"/>
              </a:rPr>
              <a:t>FIVE NEW INITIATIVES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874519"/>
            <a:ext cx="5852160" cy="457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65959"/>
            <a:ext cx="5852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E1B4B"/>
                </a:solidFill>
                <a:latin typeface="Calibri"/>
              </a:rPr>
              <a:t>FIVE COMMUNITY BUILDING IDEAS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68880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468880"/>
            <a:ext cx="64008" cy="7772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0604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B8A6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560320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City Meetups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852928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Six cities. Saturday brunch. Hosted by an alum.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715768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~Rs 18 lakh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319272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319272"/>
            <a:ext cx="64008" cy="7772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456432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B8A6"/>
                </a:solidFill>
                <a:latin typeface="Calibr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10712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Sunday Sit Down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703320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Weekly 45 min live AMA on beSocial.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356616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~Rs 6 lakh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169664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169664"/>
            <a:ext cx="64008" cy="7772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306824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B8A6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261104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Industry Sprints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553712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10 day briefs from hiring partners. Top work showcased.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4416552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~Rs 22 lakh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020056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020056"/>
            <a:ext cx="64008" cy="7772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5157216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B8A6"/>
                </a:solidFill>
                <a:latin typeface="Calibr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5111496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Alumni Mentor Network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5404104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1 mentor per learner who opts in. 12 month program.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5266944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~Rs 14 lakh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870448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870448"/>
            <a:ext cx="64008" cy="7772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007608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B8A6"/>
                </a:solidFill>
                <a:latin typeface="Calibri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34440" y="5961888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Outcome Stories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6254496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30 second reels. 1 learner per week. Real, uncoached.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6117336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~Rs 10 lakh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55080" y="2468880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80" y="2468880"/>
            <a:ext cx="64008" cy="7772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6248" y="260604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6B6D4"/>
                </a:solidFill>
                <a:latin typeface="Calibri"/>
              </a:rPr>
              <a:t>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0" y="2560320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beSocial faculty threads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32320" y="2852928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Weekly faculty hosted threads on every programme.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0" y="2715768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06B6D4"/>
                </a:solidFill>
                <a:latin typeface="Calibri"/>
              </a:rPr>
              <a:t>Cost neutral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55080" y="3319272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55080" y="3319272"/>
            <a:ext cx="64008" cy="7772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56248" y="3456432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6B6D4"/>
                </a:solidFill>
                <a:latin typeface="Calibri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0" y="3410712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City chapters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32320" y="3703320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Elected learner leads. Monthly informal meetups.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356616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06B6D4"/>
                </a:solidFill>
                <a:latin typeface="Calibri"/>
              </a:rPr>
              <a:t>~Rs 8 lakh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55080" y="4169664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55080" y="4169664"/>
            <a:ext cx="64008" cy="7772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56248" y="4306824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6B6D4"/>
                </a:solidFill>
                <a:latin typeface="Calibri"/>
              </a:rPr>
              <a:t>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32320" y="4261104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Buddy program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32320" y="4553712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Each new joiner paired with a Sem 2 learner.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4416552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06B6D4"/>
                </a:solidFill>
                <a:latin typeface="Calibri"/>
              </a:rPr>
              <a:t>Cost neutral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355080" y="5020056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55080" y="5020056"/>
            <a:ext cx="64008" cy="7772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56248" y="5157216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6B6D4"/>
                </a:solidFill>
                <a:latin typeface="Calibri"/>
              </a:rPr>
              <a:t>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32320" y="5111496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Faculty office hours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32320" y="5404104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Bookable 15 min slots with faculty, monthly.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5266944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06B6D4"/>
                </a:solidFill>
                <a:latin typeface="Calibri"/>
              </a:rPr>
              <a:t>Cost neutral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355080" y="5870448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355080" y="5870448"/>
            <a:ext cx="64008" cy="7772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56248" y="6007608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6B6D4"/>
                </a:solidFill>
                <a:latin typeface="Calibri"/>
              </a:rPr>
              <a:t>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32320" y="5961888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Annual reunion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0" y="6254496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On campus alumni meet stitched into Convocation.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0" y="6117336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06B6D4"/>
                </a:solidFill>
                <a:latin typeface="Calibri"/>
              </a:rPr>
              <a:t>~Rs 12 lakh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TASK 2   |   DELIVERABLES 4 AND 5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Student advocacy programs and referral opportunities.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12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52597A"/>
                </a:solidFill>
                <a:latin typeface="Calibri"/>
              </a:rPr>
              <a:t>Once learners feel seen, they tell their network. Advocacy is what we earn. Referrals are how we measure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5852160" cy="45720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65959"/>
            <a:ext cx="5852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FIVE STUDENT ADVOCACY PROGRAMS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874519"/>
            <a:ext cx="5852160" cy="4572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65959"/>
            <a:ext cx="5852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FIVE REFERRAL OPPORTUNITIES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68880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468880"/>
            <a:ext cx="64008" cy="77724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0604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855F7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560320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Outcome Stories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852928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1 learner story per week. Reel + LinkedIn carousel.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19272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19272"/>
            <a:ext cx="64008" cy="77724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456432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855F7"/>
                </a:solidFill>
                <a:latin typeface="Calibr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410712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Verified Alumni badge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703320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LinkedIn badge for completed alumni. Earned credibility.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169664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169664"/>
            <a:ext cx="64008" cy="77724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306824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855F7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261104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Top 100 Voices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553712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Train and equip 100 learner storytellers. Annual cohort.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020056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020056"/>
            <a:ext cx="64008" cy="77724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5157216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855F7"/>
                </a:solidFill>
                <a:latin typeface="Calibr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111496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User generated content prompts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04104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Monthly beSocial prompts. Best posts amplified by brand.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870448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870448"/>
            <a:ext cx="64008" cy="77724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6007608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855F7"/>
                </a:solidFill>
                <a:latin typeface="Calibr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34440" y="5961888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Annual Outcome Report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6254496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Public report card. Pass rates, placements, learner stories.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55080" y="2468880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55080" y="2468880"/>
            <a:ext cx="64008" cy="77724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56248" y="260604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0" y="2560320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Two sided cash reward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2852928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Rs 5,000 voucher each, on enrolment + first fee.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55080" y="3319272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80" y="3319272"/>
            <a:ext cx="64008" cy="77724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6248" y="3456432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0" y="3410712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Tiered status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32320" y="3703320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Bronze, Silver, Gold based on referral count + outcomes.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355080" y="4169664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355080" y="4169664"/>
            <a:ext cx="64008" cy="77724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56248" y="4306824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32320" y="4261104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CRM tagged tracking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0" y="4553712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Each referral mapped to a learner. Clean attribution.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355080" y="5020056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355080" y="5020056"/>
            <a:ext cx="64008" cy="77724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56248" y="5157216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04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32320" y="5111496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Anti gaming rules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32320" y="5404104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Public eligibility. Audit monthly. Transparent leaderboard.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55080" y="5870448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55080" y="5870448"/>
            <a:ext cx="64008" cy="77724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56248" y="6007608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32320" y="5961888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Hiring partner referrals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32320" y="6254496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Partners refer their employees. We share placements with them.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eadershi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0E2E">
              <a:alpha val="7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4B8A6"/>
                </a:solidFill>
                <a:latin typeface="Calibri"/>
              </a:rPr>
              <a:t>TASK 3   |   LEADERSHIP DECK   |   FIVE SLIDES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2194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How student engagement</a:t>
            </a:r>
          </a:p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drives retention</a:t>
            </a:r>
          </a:p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and brand advocacy.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C4B5FD"/>
                </a:solidFill>
                <a:latin typeface="Calibri"/>
              </a:rPr>
              <a:t>A leadership view. From observation to recommendation.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C4B5FD"/>
                </a:solidFill>
                <a:latin typeface="Calibri"/>
              </a:rPr>
              <a:t>Audience. Chairman. Provost. Chief Marketing Officer. Chief Financial Officer.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40961" y="228600"/>
            <a:ext cx="1548982" cy="58521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C4B5FD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C4B5FD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LEADERSHIP   |   1 OF 5   |   THE 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1 in 4 of our online MBA learners do not pass on schedule.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14 /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08760"/>
            <a:ext cx="4572000" cy="5029200"/>
          </a:xfrm>
          <a:prstGeom prst="roundRect">
            <a:avLst>
              <a:gd name="adj" fmla="val 3000"/>
            </a:avLst>
          </a:prstGeom>
          <a:solidFill>
            <a:srgbClr val="10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73736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14B8A6"/>
                </a:solidFill>
                <a:latin typeface="Calibri"/>
              </a:rPr>
              <a:t>AMITY ONLINE MBA   |   2023 to 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40280"/>
            <a:ext cx="45720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0" b="1" i="0">
                <a:solidFill>
                  <a:srgbClr val="14B8A6"/>
                </a:solidFill>
                <a:latin typeface="Calibri"/>
              </a:rPr>
              <a:t>5,300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2336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 i="1">
                <a:solidFill>
                  <a:srgbClr val="FFFFFF"/>
                </a:solidFill>
                <a:latin typeface="Calibri"/>
              </a:rPr>
              <a:t>learners did not pass on schedule.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420624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1">
                <a:solidFill>
                  <a:srgbClr val="C4B5FD"/>
                </a:solidFill>
                <a:latin typeface="Calibri"/>
              </a:rPr>
              <a:t>22,831 enrolled (highest in India).</a:t>
            </a:r>
          </a:p>
          <a:p>
            <a:pPr algn="ctr">
              <a:lnSpc>
                <a:spcPct val="140000"/>
              </a:lnSpc>
            </a:pPr>
            <a:r>
              <a:rPr sz="1050" b="0" i="1">
                <a:solidFill>
                  <a:srgbClr val="C4B5FD"/>
                </a:solidFill>
                <a:latin typeface="Calibri"/>
              </a:rPr>
              <a:t>77% passed. 1,051 placed.</a:t>
            </a:r>
          </a:p>
          <a:p>
            <a:pPr algn="ctr">
              <a:lnSpc>
                <a:spcPct val="140000"/>
              </a:lnSpc>
            </a:pPr>
            <a:r>
              <a:rPr sz="1050" b="0" i="1">
                <a:solidFill>
                  <a:srgbClr val="C4B5FD"/>
                </a:solidFill>
                <a:latin typeface="Calibri"/>
              </a:rPr>
              <a:t>The other 23% are drop, delay, or drift.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1">
                <a:solidFill>
                  <a:srgbClr val="C4B5FD"/>
                </a:solidFill>
                <a:latin typeface="Calibri"/>
              </a:rPr>
              <a:t>Source: Careers360 (AISHE tracked, 2023 to 2024).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155448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WHY THIS MATTERS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874519"/>
            <a:ext cx="640080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E1B4B"/>
                </a:solidFill>
                <a:latin typeface="Calibri"/>
              </a:rPr>
              <a:t>Retention is not</a:t>
            </a:r>
          </a:p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E1B4B"/>
                </a:solidFill>
                <a:latin typeface="Calibri"/>
              </a:rPr>
              <a:t>a course problem.</a:t>
            </a:r>
          </a:p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E1B4B"/>
                </a:solidFill>
                <a:latin typeface="Calibri"/>
              </a:rPr>
              <a:t>It is an engagement problem.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420624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WHAT WE LOSE WITH EACH GHOST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4526280"/>
            <a:ext cx="6400800" cy="2286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55000"/>
              </a:lnSpc>
              <a:spcBef>
                <a:spcPts val="400"/>
              </a:spcBef>
            </a:pPr>
            <a:r>
              <a:rPr sz="1150" b="1">
                <a:solidFill>
                  <a:srgbClr val="14B8A6"/>
                </a:solidFill>
                <a:latin typeface="Calibri"/>
              </a:rPr>
              <a:t>• </a:t>
            </a:r>
            <a:r>
              <a:rPr sz="1150">
                <a:solidFill>
                  <a:srgbClr val="141B2D"/>
                </a:solidFill>
                <a:latin typeface="Calibri"/>
              </a:rPr>
              <a:t>Cost of acquisition. Already spent. Not recovered.</a:t>
            </a:r>
          </a:p>
          <a:p>
            <a:pPr algn="l">
              <a:lnSpc>
                <a:spcPct val="155000"/>
              </a:lnSpc>
              <a:spcBef>
                <a:spcPts val="400"/>
              </a:spcBef>
            </a:pPr>
            <a:r>
              <a:rPr sz="1150" b="1">
                <a:solidFill>
                  <a:srgbClr val="14B8A6"/>
                </a:solidFill>
                <a:latin typeface="Calibri"/>
              </a:rPr>
              <a:t>• </a:t>
            </a:r>
            <a:r>
              <a:rPr sz="1150">
                <a:solidFill>
                  <a:srgbClr val="141B2D"/>
                </a:solidFill>
                <a:latin typeface="Calibri"/>
              </a:rPr>
              <a:t>A future referral. Each completed learner refers more.</a:t>
            </a:r>
          </a:p>
          <a:p>
            <a:pPr algn="l">
              <a:lnSpc>
                <a:spcPct val="155000"/>
              </a:lnSpc>
              <a:spcBef>
                <a:spcPts val="400"/>
              </a:spcBef>
            </a:pPr>
            <a:r>
              <a:rPr sz="1150" b="1">
                <a:solidFill>
                  <a:srgbClr val="14B8A6"/>
                </a:solidFill>
                <a:latin typeface="Calibri"/>
              </a:rPr>
              <a:t>• </a:t>
            </a:r>
            <a:r>
              <a:rPr sz="1150">
                <a:solidFill>
                  <a:srgbClr val="141B2D"/>
                </a:solidFill>
                <a:latin typeface="Calibri"/>
              </a:rPr>
              <a:t>A future story. Outcome stories drive next cohort.</a:t>
            </a:r>
          </a:p>
          <a:p>
            <a:pPr algn="l">
              <a:lnSpc>
                <a:spcPct val="155000"/>
              </a:lnSpc>
              <a:spcBef>
                <a:spcPts val="400"/>
              </a:spcBef>
            </a:pPr>
            <a:r>
              <a:rPr sz="1150" b="1">
                <a:solidFill>
                  <a:srgbClr val="14B8A6"/>
                </a:solidFill>
                <a:latin typeface="Calibri"/>
              </a:rPr>
              <a:t>• </a:t>
            </a:r>
            <a:r>
              <a:rPr sz="1150">
                <a:solidFill>
                  <a:srgbClr val="141B2D"/>
                </a:solidFill>
                <a:latin typeface="Calibri"/>
              </a:rPr>
              <a:t>Alumni base strength. Compounds for a decade.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LEADERSHIP   |   2 OF 5   |   ENGAGEMENT TO RETENTION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Engagement is the cheapest fix for retention.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15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52597A"/>
                </a:solidFill>
                <a:latin typeface="Calibri"/>
              </a:rPr>
              <a:t>Industry data, not internal model. Cohort and ritual close 14 to 29 percentage points of the completion gap.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20240"/>
            <a:ext cx="6858000" cy="443484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84832"/>
            <a:ext cx="6858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ONLINE MBA COMPLETION RATE BY 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331720"/>
            <a:ext cx="6858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52597A"/>
                </a:solidFill>
                <a:latin typeface="Calibri"/>
              </a:rPr>
              <a:t>Indian self paced industry. Amity 2023 to 24. Top global cohort programmes.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3833165"/>
            <a:ext cx="1097280" cy="1927555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806440"/>
            <a:ext cx="10972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E1B4B"/>
                </a:solidFill>
                <a:latin typeface="Calibri"/>
              </a:rPr>
              <a:t>Self paced</a:t>
            </a:r>
          </a:p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E1B4B"/>
                </a:solidFill>
                <a:latin typeface="Calibri"/>
              </a:rPr>
              <a:t>(India avg)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67405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E1B4B"/>
                </a:solidFill>
                <a:latin typeface="Calibri"/>
              </a:rPr>
              <a:t>62%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68880" y="3366821"/>
            <a:ext cx="1097280" cy="2393899"/>
          </a:xfrm>
          <a:prstGeom prst="rect">
            <a:avLst/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5806440"/>
            <a:ext cx="10972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E1B4B"/>
                </a:solidFill>
                <a:latin typeface="Calibri"/>
              </a:rPr>
              <a:t>Amity Online</a:t>
            </a:r>
          </a:p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E1B4B"/>
                </a:solidFill>
                <a:latin typeface="Calibri"/>
              </a:rPr>
              <a:t>MBA 23-24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001061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E1B4B"/>
                </a:solidFill>
                <a:latin typeface="Calibri"/>
              </a:rPr>
              <a:t>77%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0" y="3242463"/>
            <a:ext cx="1097280" cy="251825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5806440"/>
            <a:ext cx="10972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E1B4B"/>
                </a:solidFill>
                <a:latin typeface="Calibri"/>
              </a:rPr>
              <a:t>Cohort top 15</a:t>
            </a:r>
          </a:p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E1B4B"/>
                </a:solidFill>
                <a:latin typeface="Calibri"/>
              </a:rPr>
              <a:t>(AACSB)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2876703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E1B4B"/>
                </a:solidFill>
                <a:latin typeface="Calibri"/>
              </a:rPr>
              <a:t>81%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12080" y="2931567"/>
            <a:ext cx="1097280" cy="2829153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5806440"/>
            <a:ext cx="10972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E1B4B"/>
                </a:solidFill>
                <a:latin typeface="Calibri"/>
              </a:rPr>
              <a:t>Best in class</a:t>
            </a:r>
          </a:p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E1B4B"/>
                </a:solidFill>
                <a:latin typeface="Calibri"/>
              </a:rPr>
              <a:t>(UNC, Indiana)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565807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E1B4B"/>
                </a:solidFill>
                <a:latin typeface="Calibri"/>
              </a:rPr>
              <a:t>91%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035040"/>
            <a:ext cx="6492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1">
                <a:solidFill>
                  <a:srgbClr val="52597A"/>
                </a:solidFill>
                <a:latin typeface="Calibri"/>
              </a:rPr>
              <a:t>Sources: Careers360 (Amity 23-24). mba-insights.com / NCES IPEDS / QS Distance Online MBA Rankings 2026.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1920240"/>
            <a:ext cx="4160520" cy="4434840"/>
          </a:xfrm>
          <a:prstGeom prst="roundRect">
            <a:avLst>
              <a:gd name="adj" fmla="val 3000"/>
            </a:avLst>
          </a:prstGeom>
          <a:solidFill>
            <a:srgbClr val="10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0" y="2148840"/>
            <a:ext cx="4160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WHAT THE RESEARCH SAYS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560320"/>
            <a:ext cx="37947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4B8A6"/>
                </a:solidFill>
                <a:latin typeface="Calibri"/>
              </a:rPr>
              <a:t>71%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3063240"/>
            <a:ext cx="379476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FFFFFF"/>
                </a:solidFill>
                <a:latin typeface="Calibri"/>
              </a:rPr>
              <a:t>of online MBA dropouts cite work life imbalance.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FFFFFF"/>
                </a:solidFill>
                <a:latin typeface="Calibri"/>
              </a:rPr>
              <a:t>Survey of 47 AACSB programmes.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3749040"/>
            <a:ext cx="37947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4B8A6"/>
                </a:solidFill>
                <a:latin typeface="Calibri"/>
              </a:rPr>
              <a:t>44%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251960"/>
            <a:ext cx="379476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FFFFFF"/>
                </a:solidFill>
                <a:latin typeface="Calibri"/>
              </a:rPr>
              <a:t>cite financial constraints. 38% cite life events.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FFFFFF"/>
                </a:solidFill>
                <a:latin typeface="Calibri"/>
              </a:rPr>
              <a:t>Same survey. Top three drivers.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937760"/>
            <a:ext cx="37947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4B8A6"/>
                </a:solidFill>
                <a:latin typeface="Calibri"/>
              </a:rPr>
              <a:t>+14 pts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5440680"/>
            <a:ext cx="379476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FFFFFF"/>
                </a:solidFill>
                <a:latin typeface="Calibri"/>
              </a:rPr>
              <a:t>completion gap, self paced vs cohort top 15.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FFFFFF"/>
                </a:solidFill>
                <a:latin typeface="Calibri"/>
              </a:rPr>
              <a:t>Cohort and ritual is the cheapest fix.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5989320"/>
            <a:ext cx="37947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1">
                <a:solidFill>
                  <a:srgbClr val="C4B5FD"/>
                </a:solidFill>
                <a:latin typeface="Calibri"/>
              </a:rPr>
              <a:t>Source: mba-insights.com, NCES IPEDS.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LEADERSHIP   |   3 OF 5   |   RETENTION TO ADVOCACY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Retention compounds into advocacy.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16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52597A"/>
                </a:solidFill>
                <a:latin typeface="Calibri"/>
              </a:rPr>
              <a:t>Completed learners refer at higher rates. Net Promoter Score (Reichheld, HBR 2003) is the leading indicator. Earned referral is the lowest cost channel we have.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94560"/>
            <a:ext cx="2651760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2423160"/>
            <a:ext cx="640080" cy="64008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42316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E1B4B"/>
                </a:solidFill>
                <a:latin typeface="Calibri"/>
              </a:rPr>
              <a:t>ENGAGE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86200"/>
            <a:ext cx="22860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E1B4B"/>
                </a:solidFill>
                <a:latin typeface="Calibri"/>
              </a:rPr>
              <a:t>Cohort + ritual + intelligence.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E1B4B"/>
                </a:solidFill>
                <a:latin typeface="Calibri"/>
              </a:rPr>
              <a:t>Learner feels seen.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45536" y="3566160"/>
            <a:ext cx="118872" cy="27432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73552" y="2194560"/>
            <a:ext cx="2651760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02152" y="2423160"/>
            <a:ext cx="640080" cy="6400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2152" y="242316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2152" y="320040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E1B4B"/>
                </a:solidFill>
                <a:latin typeface="Calibri"/>
              </a:rPr>
              <a:t>COMPLETE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2152" y="3886200"/>
            <a:ext cx="22860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E1B4B"/>
                </a:solidFill>
                <a:latin typeface="Calibri"/>
              </a:rPr>
              <a:t>Pass rate moves up.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E1B4B"/>
                </a:solidFill>
                <a:latin typeface="Calibri"/>
              </a:rPr>
              <a:t>Learner becomes alumni.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61888" y="3566160"/>
            <a:ext cx="118872" cy="27432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89904" y="2194560"/>
            <a:ext cx="2651760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18504" y="2423160"/>
            <a:ext cx="640080" cy="6400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18504" y="242316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320040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E1B4B"/>
                </a:solidFill>
                <a:latin typeface="Calibri"/>
              </a:rPr>
              <a:t>ADVOCATE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3886200"/>
            <a:ext cx="22860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E1B4B"/>
                </a:solidFill>
                <a:latin typeface="Calibri"/>
              </a:rPr>
              <a:t>NPS lifts. Outcome stories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E1B4B"/>
                </a:solidFill>
                <a:latin typeface="Calibri"/>
              </a:rPr>
              <a:t>post without prompting.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778240" y="3566160"/>
            <a:ext cx="118872" cy="27432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906256" y="2194560"/>
            <a:ext cx="2651760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34856" y="2423160"/>
            <a:ext cx="640080" cy="640080"/>
          </a:xfrm>
          <a:prstGeom prst="ellipse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34856" y="242316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34856" y="320040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E1B4B"/>
                </a:solidFill>
                <a:latin typeface="Calibri"/>
              </a:rPr>
              <a:t>ACQUIRE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34856" y="3886200"/>
            <a:ext cx="22860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E1B4B"/>
                </a:solidFill>
                <a:latin typeface="Calibri"/>
              </a:rPr>
              <a:t>Referral mix grows.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E1B4B"/>
                </a:solidFill>
                <a:latin typeface="Calibri"/>
              </a:rPr>
              <a:t>CAC drops. Pull beats push.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486400"/>
            <a:ext cx="11274552" cy="1005840"/>
          </a:xfrm>
          <a:prstGeom prst="roundRect">
            <a:avLst>
              <a:gd name="adj" fmla="val 3000"/>
            </a:avLst>
          </a:prstGeom>
          <a:solidFill>
            <a:srgbClr val="10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650992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THE PUNCHLINE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FFFFFF"/>
                </a:solidFill>
                <a:latin typeface="Calibri"/>
              </a:rPr>
              <a:t>Treat engagement as a profit and loss line, not a brand line. Then advocacy stops being a campaign. It becomes a habit.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LEADERSHIP   |   4 OF 5   |   HOW WE ACTIVATE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Three levers we have not pulled hard enough.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17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52597A"/>
                </a:solidFill>
                <a:latin typeface="Calibri"/>
              </a:rPr>
              <a:t>Each lever is already designed in this deck. Task 1 built one. Task 2 built the other two.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20240"/>
            <a:ext cx="3566160" cy="4617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356616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4884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01   COHORT, NOT CLASS.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68880"/>
            <a:ext cx="3200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E1B4B"/>
                </a:solidFill>
                <a:latin typeface="Calibri"/>
              </a:rPr>
              <a:t>Ritual.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00400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52597A"/>
                </a:solidFill>
                <a:latin typeface="Calibri"/>
              </a:rPr>
              <a:t>Maps to Task 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611880"/>
            <a:ext cx="3200400" cy="2743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14B8A6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Group every learner into a 30 person cohort.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14B8A6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Same cohort travels the year.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14B8A6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Faculty mentor for each cohort.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14B8A6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Outcome: belonging by Day 14.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26280" y="1920240"/>
            <a:ext cx="3566160" cy="4617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26280" y="1920240"/>
            <a:ext cx="356616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214884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6B6D4"/>
                </a:solidFill>
                <a:latin typeface="Calibri"/>
              </a:rPr>
              <a:t>02   MAKE THE CAMPUS VISIBLE.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468880"/>
            <a:ext cx="3200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E1B4B"/>
                </a:solidFill>
                <a:latin typeface="Calibri"/>
              </a:rPr>
              <a:t>Experience.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200400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52597A"/>
                </a:solidFill>
                <a:latin typeface="Calibri"/>
              </a:rPr>
              <a:t>Maps to Task 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611880"/>
            <a:ext cx="3200400" cy="2743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06B6D4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Amity Online Immersion. One day per year.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06B6D4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City Meetups. Six cities through the year.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06B6D4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Outcome Stories filmed across India.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06B6D4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Outcome: 'online' stops feeling distant.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95360" y="1920240"/>
            <a:ext cx="3566160" cy="4617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95360" y="1920240"/>
            <a:ext cx="3566160" cy="64008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3960" y="214884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A855F7"/>
                </a:solidFill>
                <a:latin typeface="Calibri"/>
              </a:rPr>
              <a:t>03   CATCH THE DRIFT EARLY.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60" y="2468880"/>
            <a:ext cx="3200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E1B4B"/>
                </a:solidFill>
                <a:latin typeface="Calibri"/>
              </a:rPr>
              <a:t>Intelligence.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3200400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52597A"/>
                </a:solidFill>
                <a:latin typeface="Calibri"/>
              </a:rPr>
              <a:t>Maps to Task 2.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611880"/>
            <a:ext cx="3200400" cy="2743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A855F7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Active Learner Score updated weekly.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A855F7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Learners flagged at scores below 30.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A855F7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Personal call from a faculty member.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A855F7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Outcome: 30 day drop reduces meaningfully.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LEADERSHIP   |   5 OF 5   |   THE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What we recommend leadership commits to.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18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52597A"/>
                </a:solidFill>
                <a:latin typeface="Calibri"/>
              </a:rPr>
              <a:t>Engagement is the cheapest growth lever we have. We recommend leadership treats it as a measured, line owned commitment.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20240"/>
            <a:ext cx="4114800" cy="4617720"/>
          </a:xfrm>
          <a:prstGeom prst="roundRect">
            <a:avLst>
              <a:gd name="adj" fmla="val 3000"/>
            </a:avLst>
          </a:prstGeom>
          <a:solidFill>
            <a:srgbClr val="10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48840"/>
            <a:ext cx="4114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OUR NORTH STAR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68880"/>
            <a:ext cx="374904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Active Learner Score.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Weekly. Public to leadership.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794759"/>
            <a:ext cx="4114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FUNDED FROM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69080"/>
            <a:ext cx="37490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FFFFFF"/>
                </a:solidFill>
                <a:latin typeface="Calibri"/>
              </a:rPr>
              <a:t>Reallocation, not net new.</a:t>
            </a:r>
          </a:p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FFFFFF"/>
                </a:solidFill>
                <a:latin typeface="Calibri"/>
              </a:rPr>
              <a:t>12% of existing performance media.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120640"/>
            <a:ext cx="4114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TIMELINE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394960"/>
            <a:ext cx="374904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FFFFFF"/>
                </a:solidFill>
                <a:latin typeface="Calibri"/>
              </a:rPr>
              <a:t>90 day pilot from approval.</a:t>
            </a:r>
          </a:p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FFFFFF"/>
                </a:solidFill>
                <a:latin typeface="Calibri"/>
              </a:rPr>
              <a:t>Review at month 4.</a:t>
            </a:r>
          </a:p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FFFFFF"/>
                </a:solidFill>
                <a:latin typeface="Calibri"/>
              </a:rPr>
              <a:t>Scale or stop.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9202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WHAT WE ASK LEADERSHIP TO COMMIT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0600" y="2377440"/>
            <a:ext cx="6949440" cy="960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0600" y="2377440"/>
            <a:ext cx="73152" cy="9601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2542032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4B8A6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496312"/>
            <a:ext cx="5943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E1B4B"/>
                </a:solidFill>
                <a:latin typeface="Calibri"/>
              </a:rPr>
              <a:t>Approve the 90 day Immersion pilot.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834640"/>
            <a:ext cx="59436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1E1B4B"/>
                </a:solidFill>
                <a:latin typeface="Calibri"/>
              </a:rPr>
              <a:t>Cohort 0. 100 learners. Up to Rs 65 lakh from existing media reallocation.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0600" y="3429000"/>
            <a:ext cx="6949440" cy="960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00600" y="3429000"/>
            <a:ext cx="73152" cy="9601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0" y="3593592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4B8A6"/>
                </a:solidFill>
                <a:latin typeface="Calibri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3547872"/>
            <a:ext cx="5943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E1B4B"/>
                </a:solidFill>
                <a:latin typeface="Calibri"/>
              </a:rPr>
              <a:t>Endorse the Active Learner Score as our North Star.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3886200"/>
            <a:ext cx="59436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1E1B4B"/>
                </a:solidFill>
                <a:latin typeface="Calibri"/>
              </a:rPr>
              <a:t>Reviewed weekly. Public dashboard for the leadership team.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00600" y="4480560"/>
            <a:ext cx="6949440" cy="960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00600" y="4480560"/>
            <a:ext cx="73152" cy="9601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0" y="4645152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4B8A6"/>
                </a:solidFill>
                <a:latin typeface="Calibri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4599432"/>
            <a:ext cx="5943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E1B4B"/>
                </a:solidFill>
                <a:latin typeface="Calibri"/>
              </a:rPr>
              <a:t>Sponsor the Chairman's LinkedIn post on launch day.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0" y="4937760"/>
            <a:ext cx="59436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1E1B4B"/>
                </a:solidFill>
                <a:latin typeface="Calibri"/>
              </a:rPr>
              <a:t>Earned beats paid. The story carries furthest from the top.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00600" y="5532120"/>
            <a:ext cx="6949440" cy="960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00600" y="5532120"/>
            <a:ext cx="73152" cy="9601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0" y="5696712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4B8A6"/>
                </a:solidFill>
                <a:latin typeface="Calibri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5650992"/>
            <a:ext cx="5943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E1B4B"/>
                </a:solidFill>
                <a:latin typeface="Calibri"/>
              </a:rPr>
              <a:t>Commit to a public Annual Outcome Report.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5989320"/>
            <a:ext cx="59436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1E1B4B"/>
                </a:solidFill>
                <a:latin typeface="Calibri"/>
              </a:rPr>
              <a:t>Accountability is the ultimate retention tool. Builds trust at scale.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SOURCES   |   EVERY CLAIM IS AUDITABLE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Research and references.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19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52597A"/>
                </a:solidFill>
                <a:latin typeface="Calibri"/>
              </a:rPr>
              <a:t>Every fact in this deck is either verifiable on a renowned source or labelled an indicative model. Nothing is invented.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20240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73152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3911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AMITY ONLINE OFFICIAL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1E1B4B"/>
                </a:solidFill>
                <a:latin typeface="Calibri"/>
              </a:rPr>
              <a:t>amityonline.com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14600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E1B4B"/>
                </a:solidFill>
                <a:latin typeface="Calibri"/>
              </a:rPr>
              <a:t>2,50,000+ learners. 450+ hiring partners. Accreditations.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920240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920240"/>
            <a:ext cx="73152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203911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NAAC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1E1B4B"/>
                </a:solidFill>
                <a:latin typeface="Calibri"/>
              </a:rPr>
              <a:t>naac.gov.in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514600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E1B4B"/>
                </a:solidFill>
                <a:latin typeface="Calibri"/>
              </a:rPr>
              <a:t>Amity University Online graded A+.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920240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920240"/>
            <a:ext cx="73152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84464" y="203911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NIRF MANAGEMENT 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1E1B4B"/>
                </a:solidFill>
                <a:latin typeface="Calibri"/>
              </a:rPr>
              <a:t>nirfindia.org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2514600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E1B4B"/>
                </a:solidFill>
                <a:latin typeface="Calibri"/>
              </a:rPr>
              <a:t>Amity Online MBA in management top 50.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136392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136392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255264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06B6D4"/>
                </a:solidFill>
                <a:latin typeface="Calibri"/>
              </a:rPr>
              <a:t>QS WORLD RANKINGS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50215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1E1B4B"/>
                </a:solidFill>
                <a:latin typeface="Calibri"/>
              </a:rPr>
              <a:t>topuniversities.com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3730752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E1B4B"/>
                </a:solidFill>
                <a:latin typeface="Calibri"/>
              </a:rPr>
              <a:t>Asia Pacific Top 10 Online MBA. Only Indian online MBA QS ranked.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9392" y="3136392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9392" y="3136392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62272" y="3255264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06B6D4"/>
                </a:solidFill>
                <a:latin typeface="Calibri"/>
              </a:rPr>
              <a:t>WASC, QAA, WES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2272" y="350215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1E1B4B"/>
                </a:solidFill>
                <a:latin typeface="Calibri"/>
              </a:rPr>
              <a:t>wscuc.org   qaa.ac.uk   wes.org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2272" y="3730752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E1B4B"/>
                </a:solidFill>
                <a:latin typeface="Calibri"/>
              </a:rPr>
              <a:t>Global accreditations referenced on Amity Online MBA page.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01584" y="3136392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01584" y="3136392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84464" y="3255264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06B6D4"/>
                </a:solidFill>
                <a:latin typeface="Calibri"/>
              </a:rPr>
              <a:t>CAREERS360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84464" y="350215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1E1B4B"/>
                </a:solidFill>
                <a:latin typeface="Calibri"/>
              </a:rPr>
              <a:t>careers360.com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84464" y="3730752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E1B4B"/>
                </a:solidFill>
                <a:latin typeface="Calibri"/>
              </a:rPr>
              <a:t>Amity Online MBA 2023-24. 22,831 enrolled. 77% pass. 1,051 placed.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352544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352544"/>
            <a:ext cx="73152" cy="109728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471416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A855F7"/>
                </a:solidFill>
                <a:latin typeface="Calibri"/>
              </a:rPr>
              <a:t>MBA INSIGHTS / NCES IPEDS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718304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1E1B4B"/>
                </a:solidFill>
                <a:latin typeface="Calibri"/>
              </a:rPr>
              <a:t>mba-insights.com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946904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E1B4B"/>
                </a:solidFill>
                <a:latin typeface="Calibri"/>
              </a:rPr>
              <a:t>Online MBA completion. 47 AACSB programmes. Dropout drivers.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79392" y="4352544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79392" y="4352544"/>
            <a:ext cx="73152" cy="109728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62272" y="4471416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A855F7"/>
                </a:solidFill>
                <a:latin typeface="Calibri"/>
              </a:rPr>
              <a:t>TYTON PARTNERS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62272" y="4718304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1E1B4B"/>
                </a:solidFill>
                <a:latin typeface="Calibri"/>
              </a:rPr>
              <a:t>Time for Class 2024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62272" y="4946904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E1B4B"/>
                </a:solidFill>
                <a:latin typeface="Calibri"/>
              </a:rPr>
              <a:t>Digital learning and student success. 3,000+ admin survey.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01584" y="4352544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101584" y="4352544"/>
            <a:ext cx="73152" cy="109728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84464" y="4471416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A855F7"/>
                </a:solidFill>
                <a:latin typeface="Calibri"/>
              </a:rPr>
              <a:t>HBR / REICHHELD 2003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4464" y="4718304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1E1B4B"/>
                </a:solidFill>
                <a:latin typeface="Calibri"/>
              </a:rPr>
              <a:t>The One Number You Need to Grow.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84464" y="4946904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E1B4B"/>
                </a:solidFill>
                <a:latin typeface="Calibri"/>
              </a:rPr>
              <a:t>Net Promoter Score as a leading growth metric.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7200" y="5568696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57200" y="5568696"/>
            <a:ext cx="73152" cy="109728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" y="5687568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E1B4B"/>
                </a:solidFill>
                <a:latin typeface="Calibri"/>
              </a:rPr>
              <a:t>CHRISTENSEN 2016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5934456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1E1B4B"/>
                </a:solidFill>
                <a:latin typeface="Calibri"/>
              </a:rPr>
              <a:t>Competing Against Luck. HBR.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6163056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E1B4B"/>
                </a:solidFill>
                <a:latin typeface="Calibri"/>
              </a:rPr>
              <a:t>Jobs to be Done framework. Used on the approach slide.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279392" y="5568696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279392" y="5568696"/>
            <a:ext cx="73152" cy="109728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462272" y="5687568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E1B4B"/>
                </a:solidFill>
                <a:latin typeface="Calibri"/>
              </a:rPr>
              <a:t>MCCLURE 2007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62272" y="5934456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1E1B4B"/>
                </a:solidFill>
                <a:latin typeface="Calibri"/>
              </a:rPr>
              <a:t>Startup Metrics for Pirates.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62272" y="6163056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E1B4B"/>
                </a:solidFill>
                <a:latin typeface="Calibri"/>
              </a:rPr>
              <a:t>AARRR funnel framework. Used on the engagement roadmap.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101584" y="5568696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01584" y="5568696"/>
            <a:ext cx="73152" cy="109728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84464" y="5687568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E1B4B"/>
                </a:solidFill>
                <a:latin typeface="Calibri"/>
              </a:rPr>
              <a:t>SEAN ELLIS / AMPLITUDE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84464" y="5934456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1E1B4B"/>
                </a:solidFill>
                <a:latin typeface="Calibri"/>
              </a:rPr>
              <a:t>North Star Playbook.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84464" y="6163056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E1B4B"/>
                </a:solidFill>
                <a:latin typeface="Calibri"/>
              </a:rPr>
              <a:t>North Star Metric framework. Used on the leadership ask.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" y="6784848"/>
            <a:ext cx="11274552" cy="457200"/>
          </a:xfrm>
          <a:prstGeom prst="roundRect">
            <a:avLst>
              <a:gd name="adj" fmla="val 3000"/>
            </a:avLst>
          </a:prstGeom>
          <a:solidFill>
            <a:srgbClr val="10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6894576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14B8A6"/>
                </a:solidFill>
                <a:latin typeface="Calibri"/>
              </a:rPr>
              <a:t>INDICATIVE MODELS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0080" y="7031736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C4B5FD"/>
                </a:solidFill>
                <a:latin typeface="Calibri"/>
              </a:rPr>
              <a:t>Active Learner Score thresholds and Cohort 0 budget split are modelled forecasts. To be validated in the 90 day pilot.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ndsh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0E2E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30352" y="484632"/>
            <a:ext cx="1681935" cy="6309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1462479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82880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B8A6"/>
                </a:solidFill>
                <a:latin typeface="Calibri"/>
              </a:rPr>
              <a:t>ONE LEARNER. ONE STORY. ONE PROMISE.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972800" cy="2194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Rohit doesn't need</a:t>
            </a:r>
          </a:p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another webinar.</a:t>
            </a:r>
          </a:p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He needs a moment</a:t>
            </a:r>
          </a:p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he can show his family.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1">
                <a:solidFill>
                  <a:srgbClr val="C4B5FD"/>
                </a:solidFill>
                <a:latin typeface="Calibri"/>
              </a:rPr>
              <a:t>If we get that right, retention takes care of itself. Advocacy follows. So does enrolment.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852160"/>
            <a:ext cx="54864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852160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WITH GRATITUDE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08076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Paras Jain   |   Marketing Manager Assignment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C4B5FD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C4B5FD"/>
                </a:solidFill>
                <a:latin typeface="Calibri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