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5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100E2E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4864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84632"/>
            <a:ext cx="1814887" cy="6766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95431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7451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MARKETING MANAGER 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 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launch. A yearlong roadmap. A leadership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Built 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THE APPROACH   |   PERSONA, PATTERNS,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Before I drafted, I listened.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2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udent_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33832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94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MEET ROHIT.   OUR LEARNER.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28. Bhopal. MBA, Sem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34747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Senior account executive at a Tier 2 firm.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Married. One toddler. Family is proud.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Has never seen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Logs into beSocial maybe once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417320"/>
            <a:ext cx="7315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Three patterns showed up everywhere.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20240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084832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Belonging is the missing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87168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beSocial is the right instinct. Add one in person moment.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27248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127248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29184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Engagement leads enrolment.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694176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Engaged learners complete more and refer more. Not the other way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334256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334256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498848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9884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Our learners are our cheapest growth channel.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901184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2,50,000+ learners. Almost no system to turn them into referrers.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49240"/>
            <a:ext cx="7315200" cy="11430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4864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FRAMEWORKS I AM USING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5852160"/>
            <a:ext cx="1193292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Jobs to be 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1324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AARRR funnel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2027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70 / 20 / 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2730" y="5852160"/>
            <a:ext cx="13304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North Star 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6217920"/>
            <a:ext cx="6949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C4B5FD"/>
                </a:solidFill>
                <a:latin typeface="Calibri"/>
              </a:rPr>
              <a:t>All named, all auditable. None invented for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udents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Launching Amity Ignite.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A small, on campus moment that gives every Amity Online learner one memory they can show their family.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Amity Ignite. The launch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52597A"/>
                </a:solidFill>
                <a:latin typeface="Calibri"/>
              </a:rPr>
              <a:t>A small, on campus moment for Rohit and 99 other learners. Pilot first. Prove. Then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1460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Largest online learner base in India.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2,50,000+ learners. 450+ hiring partners.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Almost none have visited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That gap is our wedge.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057400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057400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TARGET LEARNER   |   JOB TO BE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1460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Rohit. 28. Tier 2 working pro.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00400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Wants the Amity name his family can be proud of.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Wants one moment of belonging.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2057400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4" y="2057400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4028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POSITIONING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1460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The only online university where you walk the campus.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200400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We don't compete on price.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We compete on experience and the photograph.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Differentiation is the brand promise we keep.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70832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SPEND   |   PHASE 1 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Approximately Rs 65 lakh.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13832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50% organic content, email, in app.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reallocated paid media.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on campus production and earned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4370832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4370832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45537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GOALS   |   FIRST 90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Cohort 0 hits the bar.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513832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100 learners on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NSAT (Net Satisfaction) above 4.5 / 5.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More than 50% share publicly within 7 days.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4370832"/>
            <a:ext cx="3703320" cy="214884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370832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55371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SUCCESS LOOKS LIKE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Prospects ask the question for 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513832"/>
            <a:ext cx="33375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By month 6, prospects ask current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Did you do Ignite? becomes the question.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Current learners answer with a photo.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Event concept. Amity Ignite, Cohort 0.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5 / 19</a:t>
            </a:r>
          </a:p>
        </p:txBody>
      </p:sp>
      <p:pic>
        <p:nvPicPr>
          <p:cNvPr id="8" name="Picture 7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4023360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989320"/>
            <a:ext cx="4023360" cy="36576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16752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1 day   100 learners   Noida campus  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417320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1">
                <a:solidFill>
                  <a:srgbClr val="1E1B4B"/>
                </a:solidFill>
                <a:latin typeface="Calibri"/>
              </a:rPr>
              <a:t>Three feelings, in order. Belong. Build. Broadcast.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52597A"/>
                </a:solidFill>
                <a:latin typeface="Calibri"/>
              </a:rPr>
              <a:t>Existing campus. No flights. No celebrities. No embroidered jackets.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2331720"/>
            <a:ext cx="7040880" cy="13258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2331720"/>
            <a:ext cx="91440" cy="13258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70408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MORNING.   BELONG.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78892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Welcome by Amity Online team.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78892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Campus walkthrough.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1546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Lunch with faculty and a few alumni.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1546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Group photo learners can share home.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3767328"/>
            <a:ext cx="7040880" cy="13258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3767328"/>
            <a:ext cx="91440" cy="13258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3886200"/>
            <a:ext cx="70408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B6D4"/>
                </a:solidFill>
                <a:latin typeface="Calibri"/>
              </a:rPr>
              <a:t>AFTERNOON.   BUILD.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224528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Two short masterclasses.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224528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90 minute team challenge.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590288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Real Amity Online problem to solve.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590288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Awards announced at high tea.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5202936"/>
            <a:ext cx="7040880" cy="13258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09160" y="5202936"/>
            <a:ext cx="91440" cy="13258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5321808"/>
            <a:ext cx="70408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A855F7"/>
                </a:solidFill>
                <a:latin typeface="Calibri"/>
              </a:rPr>
              <a:t>EVENING.   BROADCAST.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660136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Mentor pairing. One alumni mentor for 12 months.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5660136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Closing Ignite Pledge ceremony.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6025896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Pro photographer plus 60 second reel each.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6025896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Bus drop to nearest metro.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TO EXISTING ONLINE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7724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772400" cy="4114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2597A"/>
                </a:solidFill>
                <a:latin typeface="Calibri"/>
              </a:rPr>
              <a:t>From: Amity Online Marketing 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1E1B4B"/>
                </a:solidFill>
                <a:latin typeface="Calibri"/>
              </a:rPr>
              <a:t>Subject:   You enrolled online. We'd like to host you in person.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223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52597A"/>
                </a:solidFill>
                <a:latin typeface="Calibri"/>
              </a:rPr>
              <a:t>Preheader:   One day at Noida. No recorded lectures. Yes, really.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80"/>
            <a:ext cx="7223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70" b="0" i="0">
                <a:solidFill>
                  <a:srgbClr val="1E1B4B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54096"/>
            <a:ext cx="7223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70" b="0" i="0">
                <a:solidFill>
                  <a:srgbClr val="1E1B4B"/>
                </a:solidFill>
                <a:latin typeface="Calibri"/>
              </a:rPr>
              <a:t>You picked Amity Online for one big reason. It had to fit your work, your family, and your commute. It does.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10712"/>
            <a:ext cx="7223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70" b="0" i="0">
                <a:solidFill>
                  <a:srgbClr val="1E1B4B"/>
                </a:solidFill>
                <a:latin typeface="Calibri"/>
              </a:rPr>
              <a:t>But there is one thing it cannot do over a phone screen. It cannot let you walk the campus you have technically been part of all along.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67328"/>
            <a:ext cx="7223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70" b="0" i="0">
                <a:solidFill>
                  <a:srgbClr val="1E1B4B"/>
                </a:solidFill>
                <a:latin typeface="Calibri"/>
              </a:rPr>
              <a:t>We'd like to fix that. We're piloting Amity Ignite. One day at Noida. Free for existing learners. No lectures. Two masterclasses. One real challenge. One mentor for twelve months.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23944"/>
            <a:ext cx="7223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70" b="0" i="0">
                <a:solidFill>
                  <a:srgbClr val="1E1B4B"/>
                </a:solidFill>
                <a:latin typeface="Calibri"/>
              </a:rPr>
              <a:t>Cohort 0 is small on purpose. 100 learners. Apply by 25 August.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9704"/>
            <a:ext cx="2103120" cy="4114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9704"/>
            <a:ext cx="21031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Apply for Cohort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581144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Takes 90 seconds.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2978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E1B4B"/>
                </a:solidFill>
                <a:latin typeface="Calibri"/>
              </a:rPr>
              <a:t>Amity Online Marketing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1371600"/>
            <a:ext cx="3337560" cy="516636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150876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187451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Subject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121407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Personal. Curious. Not 'Announcing'.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2587751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2834639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From the team. No invented person.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300983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One CTA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3547871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One blue button. No sidebar links.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4014215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Real scarcity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4261103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100 seats, real cap. No fake timer.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727447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Audience cut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974335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Only learners with one semester done.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544067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Send window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5687567"/>
            <a:ext cx="2971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Tuesday, 10:30 AM IST. We'll A/B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7132320" cy="5212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7132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2597A"/>
                </a:solidFill>
                <a:latin typeface="Calibri"/>
              </a:rPr>
              <a:t>1d 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67512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Last week, one of them. A working professional from Bhubaneswar. Doing his MBA after his work day ends. He asked me one question.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We launched Amity Online to make a high quality degree fit real lives. It does. But I went home and asked my team why our answer to that question is still 'only during exams.'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From this year, the answer becomes 'yes' for every learner who wants it.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We are calling it Amity Ignite. We start small. One day at Noida.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Online learning gave us reach. Ignite is how we add memory.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If you're an Amity Online learner, your invite is in your inbox.</a:t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#AmityIgnite   #AmityUniversityOnline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7040880" cy="18288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52597A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417320"/>
            <a:ext cx="3931920" cy="52120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0020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9659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1284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One specific learner. One city. The launch hides in para 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8346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A leader admits a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8152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I went home and asked my team. People share honest leadership.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033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One 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'Online gave us reach. Ignite gives us memory.' Made for sharing.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5720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Earned beats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1888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A few hundred employees + alumni each share = bigger than paid.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406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68756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Hashtags below the fold. Line breaks. No external link.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BROCHURE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Ignite brochure. Eight pages, A5.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Saddle stitched. Around Rs 35 per copy at a 5,000 print run. Distributed digitally as a PDF. Physical copies only at on campus events.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01 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Navy. Gold flame.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'You enrolled online.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You graduate in person.'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196596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02  LETTER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93592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Founder's letter.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Mr. Ajit Chauhan.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200 words. Hand signed.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196596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03-04 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1384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Why Ignite exists.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Three real learner stories.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Full bleed photos.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0576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0576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456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05  ONE 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09176" y="251460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9176" y="352044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Visual timeline.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Morning, afternoon, evening.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Icons, no paragraphs.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06 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NAAC A+. UGC. WASC.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QAA. WES.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QS Asia Pacific Top 10 MBA.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2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2" y="429768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07  NUMBERS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93592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93592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2,50,000+ learners.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450+ hiring partners.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40+ programmes.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72784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72784" y="429768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08  FAQ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1384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01384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Six questions prospects ask.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Will my employer recognise this?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Answered head 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0576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80576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09  BACK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409176" y="4846320"/>
            <a:ext cx="2331720" cy="9144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09176" y="5852160"/>
            <a:ext cx="23317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QR code to register.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'One day. The rest of</a:t>
            </a:r>
          </a:p>
          <a:p>
            <a:pPr algn="l">
              <a:lnSpc>
                <a:spcPct val="135000"/>
              </a:lnSpc>
            </a:pPr>
            <a:r>
              <a:rPr sz="930" b="0" i="0">
                <a:solidFill>
                  <a:srgbClr val="1E1B4B"/>
                </a:solidFill>
                <a:latin typeface="Calibri"/>
              </a:rPr>
              <a:t>your career.'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line_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Twelve months. One feeling per quarter.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From onboarding ritual to advocacy engine. Built so every learner has at least three I felt seen moments per year.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YEARLY ENGAGEMENT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 12 month roadmap. One feeling per quarter.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10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We build belonging first. Then capability. Then advocacy. Then a future cohort engine.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2377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029968"/>
            <a:ext cx="237744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3055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774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BELONG.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07208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Make every learner feel seen.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20116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4B8A6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Welcome kit and 30 day onboarding.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4B8A6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Weekly Sunday Sit Down (Live AMA).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4B8A6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First city meetups in 6 cities.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4B8A6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Anchor: Active Learner Score launches.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1965960"/>
            <a:ext cx="237744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2029968"/>
            <a:ext cx="237744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213055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B6D4"/>
                </a:solidFill>
                <a:latin typeface="Calibri"/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23774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807208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Give them practice and proof.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3383280"/>
            <a:ext cx="20116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06B6D4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Industry sprints. Real briefs from partners.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06B6D4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Capstone showcase + learner LinkedIn awards.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06B6D4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First Amity Ignite cohort runs.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06B6D4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Anchor: 70% complete a sprint.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965960"/>
            <a:ext cx="237744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0" y="2029968"/>
            <a:ext cx="237744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13055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A855F7"/>
                </a:solidFill>
                <a:latin typeface="Calibri"/>
              </a:rPr>
              <a:t>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3774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BROADCAST.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2807208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Turn outcomes into pull.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383280"/>
            <a:ext cx="20116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A855F7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Outcome stories campaign. Real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A855F7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Referral program 1.0 (2 sided).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A855F7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Alumni Mentor Network goes live.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A855F7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Anchor: 5%+ enrolments via referral.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965960"/>
            <a:ext cx="2377440" cy="6400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46920" y="2029968"/>
            <a:ext cx="2377440" cy="3273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13055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E1B4B"/>
                </a:solidFill>
                <a:latin typeface="Calibri"/>
              </a:rPr>
              <a:t>Q4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23774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BEYOND.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807208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Make the next cohort easier.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383280"/>
            <a:ext cx="20116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E1B4B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Cohort 1 of Ignite, expanded.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E1B4B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Annual Outcome Report (public).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E1B4B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Top 100 advocate program.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1">
                <a:solidFill>
                  <a:srgbClr val="1E1B4B"/>
                </a:solidFill>
                <a:latin typeface="Calibri"/>
              </a:rPr>
              <a:t>• </a:t>
            </a:r>
            <a:r>
              <a:rPr sz="950">
                <a:solidFill>
                  <a:srgbClr val="141B2D"/>
                </a:solidFill>
                <a:latin typeface="Calibri"/>
              </a:rPr>
              <a:t>Anchor: Net Promoter Score above 45.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53212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6235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WHAT WE WILL TRACK   |   Modelled, validated quarterly.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94360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Active Learner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19048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55+ by Q4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594360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Course completion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619048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65% → 75%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594360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Net Promoter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619048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30 → 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594360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Referral mix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619048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0% → 5%+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94360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Cost / engaged learner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619048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Reduce 25%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NEW INITIATIVES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Five new initiatives. Owned, costed, killable.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11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Each initiative has an owner, a target metric, and a kill rule. If a pilot fails, we stop. We don't double down on hope.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91440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7568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City Meetups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9572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Six cities. Sat brunch. Hosted by a local alum.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7568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4B8A6"/>
                </a:solidFill>
                <a:latin typeface="Calibri"/>
              </a:rPr>
              <a:t>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3317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~Rs 18 lakh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07568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1B4B"/>
                </a:solidFill>
                <a:latin typeface="Calibri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3317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Community Lead.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07568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KILL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3317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NSAT &lt; 4.2 after 2 cities.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3464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34640"/>
            <a:ext cx="91440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99923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294436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Sunday Sit 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26440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Weekly 45 minute live AMA on beSocial.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94436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6B6D4"/>
                </a:solidFill>
                <a:latin typeface="Calibri"/>
              </a:rPr>
              <a:t>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20040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~Rs 6 lakh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294436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1B4B"/>
                </a:solidFill>
                <a:latin typeface="Calibri"/>
              </a:rPr>
              <a:t>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320040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Content Lead.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94436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KILL CRITERIA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20040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avg live attendance &lt; 800.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70332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03320"/>
            <a:ext cx="91440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86791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81304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Industry Sprints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413308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10 day briefs from hiring partners. Top work showcased.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8130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BUDGET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069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~Rs 22 lakh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38130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1B4B"/>
                </a:solidFill>
                <a:latin typeface="Calibri"/>
              </a:rPr>
              <a:t>OWNER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069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Programs Lead.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8130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KILL CRITERIA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069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completion &lt; 60%.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57200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572000"/>
            <a:ext cx="91440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73659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68172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Alumni Mentor Network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00176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1 mentor per learner who opts in. 12 month program.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8172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4B8A6"/>
                </a:solidFill>
                <a:latin typeface="Calibri"/>
              </a:rPr>
              <a:t>BUDGET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937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~Rs 14 lakh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80" y="468172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1B4B"/>
                </a:solidFill>
                <a:latin typeface="Calibri"/>
              </a:rPr>
              <a:t>OWNER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0" y="4937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Alumni Lead.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68172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KILL CRITERIA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0" y="4937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mentor NPS &lt; 40.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5440680"/>
            <a:ext cx="91440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60527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555040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870448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30 second reels. 1 learner per week. Real, uncoached.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0" y="555040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6B6D4"/>
                </a:solidFill>
                <a:latin typeface="Calibri"/>
              </a:rPr>
              <a:t>BUDGET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580644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~Rs 10 lakh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80" y="555040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E1B4B"/>
                </a:solidFill>
                <a:latin typeface="Calibri"/>
              </a:rPr>
              <a:t>OWNER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80" y="580644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Brand Lead.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84080" y="555040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KILL CRITERIA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580644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save rate &lt; 4%.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ENGAGEMENT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Community. Advocacy. Referrals. The long arc.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12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Strangers become a community. Community becomes advocates. Advocates become a growth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03119"/>
            <a:ext cx="3108960" cy="14173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3566159"/>
            <a:ext cx="3108960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75887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50207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Belong before learn.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1999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14B8A6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beSocial: faculty hosted weekly threads.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14B8A6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City chapters with elected learner leads.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14B8A6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Sunday Sit Down with leadership.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14B8A6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Annual reunion stitched into Convocation.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1874519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pus_ev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103119"/>
            <a:ext cx="3108960" cy="14173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754880" y="3566159"/>
            <a:ext cx="3108960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675887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B6D4"/>
                </a:solidFill>
                <a:latin typeface="Calibri"/>
              </a:rPr>
              <a:t>ADVOCACY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950207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Make the proud share the proud.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71999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06B6D4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Outcome Stories series (1 learner / week).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06B6D4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LinkedIn Verified Alumni badge program.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06B6D4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Top 100 Voices: invite, train, equip.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06B6D4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User generated content prompts on beSocial.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874519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nline_cla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2103119"/>
            <a:ext cx="3108960" cy="14173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823960" y="3566159"/>
            <a:ext cx="3108960" cy="457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3675887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A855F7"/>
                </a:solidFill>
                <a:latin typeface="Calibri"/>
              </a:rPr>
              <a:t>REFERRALS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3950207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Reward the referrer, not just the referral.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4571999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A855F7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2 sided: Rs 5,000 voucher each.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A855F7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Tiers: Bronze, Silver, Gold based on count.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A855F7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Referrals tagged in Customer Relationship Management.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69" b="1">
                <a:solidFill>
                  <a:srgbClr val="A855F7"/>
                </a:solidFill>
                <a:latin typeface="Calibri"/>
              </a:rPr>
              <a:t>• </a:t>
            </a:r>
            <a:r>
              <a:rPr sz="969">
                <a:solidFill>
                  <a:srgbClr val="141B2D"/>
                </a:solidFill>
                <a:latin typeface="Calibri"/>
              </a:rPr>
              <a:t>Audited monthly. Anti gaming rules public.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TASK 3   |   LEADERSHIP DECK   |   FIVE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Engagement is the</a:t>
            </a:r>
          </a:p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shortest path</a:t>
            </a:r>
          </a:p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to retention.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4B5FD"/>
                </a:solidFill>
                <a:latin typeface="Calibri"/>
              </a:rPr>
              <a:t>And retention, done well, becomes advocacy.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4B5FD"/>
                </a:solidFill>
                <a:latin typeface="Calibri"/>
              </a:rPr>
              <a:t>Audience. Chairman. Provost. Chief Marketing Officer. Chief Financial Officer.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1 / 5 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One in three learners drift in the first 30 days.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14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4572000" cy="502920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ILLUSTRATIVE. PROXY OF INDUSTRY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45720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 i="0">
                <a:solidFill>
                  <a:srgbClr val="14B8A6"/>
                </a:solidFill>
                <a:latin typeface="Calibri"/>
              </a:rPr>
              <a:t>1 in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FFFFFF"/>
                </a:solidFill>
                <a:latin typeface="Calibri"/>
              </a:rPr>
              <a:t>drift in the first 30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42062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1">
                <a:solidFill>
                  <a:srgbClr val="C4B5FD"/>
                </a:solidFill>
                <a:latin typeface="Calibri"/>
              </a:rPr>
              <a:t>Most don't drop loudly.</a:t>
            </a:r>
          </a:p>
          <a:p>
            <a:pPr algn="ctr">
              <a:lnSpc>
                <a:spcPct val="140000"/>
              </a:lnSpc>
            </a:pPr>
            <a:r>
              <a:rPr sz="1150" b="0" i="1">
                <a:solidFill>
                  <a:srgbClr val="C4B5FD"/>
                </a:solidFill>
                <a:latin typeface="Calibri"/>
              </a:rPr>
              <a:t>They just stop logging in.</a:t>
            </a:r>
          </a:p>
          <a:p>
            <a:pPr algn="ctr">
              <a:lnSpc>
                <a:spcPct val="140000"/>
              </a:lnSpc>
            </a:pPr>
            <a:r>
              <a:rPr sz="1150" b="0" i="1">
                <a:solidFill>
                  <a:srgbClr val="C4B5FD"/>
                </a:solidFill>
                <a:latin typeface="Calibri"/>
              </a:rPr>
              <a:t>Each ghost = wasted CAC + lost referral + lost story.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5087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REMEMBER ROHIT?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828800"/>
            <a:ext cx="64008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1B4B"/>
                </a:solidFill>
                <a:latin typeface="Calibri"/>
              </a:rPr>
              <a:t>He bought a degree.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1B4B"/>
                </a:solidFill>
                <a:latin typeface="Calibri"/>
              </a:rPr>
              <a:t>We sold him a screen.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8404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GOOD LOOKS LIKE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1605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250" b="1">
                <a:solidFill>
                  <a:srgbClr val="14B8A6"/>
                </a:solidFill>
                <a:latin typeface="Calibri"/>
              </a:rPr>
              <a:t>• </a:t>
            </a:r>
            <a:r>
              <a:rPr sz="1250">
                <a:solidFill>
                  <a:srgbClr val="141B2D"/>
                </a:solidFill>
                <a:latin typeface="Calibri"/>
              </a:rPr>
              <a:t>Day 14 feels alive, not lonely.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250" b="1">
                <a:solidFill>
                  <a:srgbClr val="14B8A6"/>
                </a:solidFill>
                <a:latin typeface="Calibri"/>
              </a:rPr>
              <a:t>• </a:t>
            </a:r>
            <a:r>
              <a:rPr sz="1250">
                <a:solidFill>
                  <a:srgbClr val="141B2D"/>
                </a:solidFill>
                <a:latin typeface="Calibri"/>
              </a:rPr>
              <a:t>Engagement curve flattens, not falls.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250" b="1">
                <a:solidFill>
                  <a:srgbClr val="14B8A6"/>
                </a:solidFill>
                <a:latin typeface="Calibri"/>
              </a:rPr>
              <a:t>• </a:t>
            </a:r>
            <a:r>
              <a:rPr sz="1250">
                <a:solidFill>
                  <a:srgbClr val="141B2D"/>
                </a:solidFill>
                <a:latin typeface="Calibri"/>
              </a:rPr>
              <a:t>Referral comes from trust, not discount.</a:t>
            </a:r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sz="1250" b="1">
                <a:solidFill>
                  <a:srgbClr val="14B8A6"/>
                </a:solidFill>
                <a:latin typeface="Calibri"/>
              </a:rPr>
              <a:t>• </a:t>
            </a:r>
            <a:r>
              <a:rPr sz="1250">
                <a:solidFill>
                  <a:srgbClr val="141B2D"/>
                </a:solidFill>
                <a:latin typeface="Calibri"/>
              </a:rPr>
              <a:t>Advocacy is the cheapest cohort we ever bought.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2 / 5  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Why engagement is a profit and loss question, not a marketing one.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52597A"/>
                </a:solidFill>
                <a:latin typeface="Calibri"/>
              </a:rPr>
              <a:t>Indicative model. Numbers to be validated quarter by quarter.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6858000" cy="457200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COMPLETION RATE BY ENGAGEMENT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Internal cohort modelling. Proof of concept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484218"/>
            <a:ext cx="1097280" cy="145938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6016752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18458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824021"/>
            <a:ext cx="1097280" cy="2119579"/>
          </a:xfrm>
          <a:prstGeom prst="rect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6016752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458261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61%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3233319"/>
            <a:ext cx="1097280" cy="2710281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6016752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867559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78%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2851100"/>
            <a:ext cx="1097280" cy="30925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6016752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Top 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48534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E1B4B"/>
                </a:solidFill>
                <a:latin typeface="Calibri"/>
              </a:rPr>
              <a:t>89%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1920240"/>
            <a:ext cx="4160520" cy="457200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148840"/>
            <a:ext cx="4160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IT MEANS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56032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B8A6"/>
                </a:solidFill>
                <a:latin typeface="Calibri"/>
              </a:rPr>
              <a:t>47%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108960"/>
            <a:ext cx="37947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Completion lift, Low to High engagement.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Biggest single jump in the funnel.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84048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B8A6"/>
                </a:solidFill>
                <a:latin typeface="Calibri"/>
              </a:rPr>
              <a:t>+18%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389120"/>
            <a:ext cx="37947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Net Promoter Score lift in Top tier.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NPS leads enrolment, it does not lag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120640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B8A6"/>
                </a:solidFill>
                <a:latin typeface="Calibri"/>
              </a:rPr>
              <a:t>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5669280"/>
            <a:ext cx="37947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Referral mix in Top tier.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A 5% lift is a meaningful organic channel.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3 / 5   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Three levers we have not pulled hard enough.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16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Each lever costs less than a single major paid campaign. Each one compounds.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356616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01   COHORT, NOT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Ritual.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Group every learner into a 30 person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Same cohort travels through the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Faculty mentor for each cohort.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14B8A6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belonging shows up by Day 14.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920240"/>
            <a:ext cx="356616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02   MAKE THE CAMPUS VISIBLE.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Experience.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47472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Amity Ignite. One on campus moment per year.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Six city meetups. Hosted by alumni.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 stories filmed across India.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06B6D4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'online' stops feeling distant.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1920240"/>
            <a:ext cx="356616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5360" y="1920240"/>
            <a:ext cx="356616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1488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03   CATCH THE DRIFT EARLY.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468880"/>
            <a:ext cx="3200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Intelligence.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474720"/>
            <a:ext cx="320040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Active Learner Score updated weekly.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Learners flagged at scores below 30.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Personal phone call from a faculty member.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050" b="1">
                <a:solidFill>
                  <a:srgbClr val="A855F7"/>
                </a:solidFill>
                <a:latin typeface="Calibri"/>
              </a:rPr>
              <a:t>• </a:t>
            </a:r>
            <a:r>
              <a:rPr sz="1050">
                <a:solidFill>
                  <a:srgbClr val="141B2D"/>
                </a:solidFill>
                <a:latin typeface="Calibri"/>
              </a:rPr>
              <a:t>Outcome: 30 day drop reduces by 30%.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4 / 5   THE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Retention compounds into advocacy.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17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When the first three levers work, the fourth one starts to spin on its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42316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Cohort + ritual + intelligence.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Learner feels seen.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45536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242316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Higher completion.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Program efficacy improves.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89904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8504" y="242316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ADVOCATE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Top tier publishes outcomes.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No paid prompt needed.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78240" y="3566160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6" y="2194560"/>
            <a:ext cx="26517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34856" y="2423160"/>
            <a:ext cx="640080" cy="64008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4856" y="242316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320040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E1B4B"/>
                </a:solidFill>
                <a:latin typeface="Calibri"/>
              </a:rPr>
              <a:t>ACQUIRE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886200"/>
            <a:ext cx="22860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Referral mix grows.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E1B4B"/>
                </a:solidFill>
                <a:latin typeface="Calibri"/>
              </a:rPr>
              <a:t>CAC drops. North Star moves.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486400"/>
            <a:ext cx="11274552" cy="10058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THE PUNCHLINE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Treat engagement as a profit and loss line. Not a brand line. Then advocacy stops being a campaign. It becomes a habit.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5 / 5  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ask. Three phases. Outcome gated.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18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657600" cy="51206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WE'RE ASKING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329184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Less than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Rs 1 crore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per phase.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FUNDED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Reallocation, not net new.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12% of existing performance media.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NORTH 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32918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Active Learner Score.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Weekly. Public to leadership.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17320"/>
            <a:ext cx="740664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417320"/>
            <a:ext cx="73152" cy="15544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536192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80136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0 to 90 days. 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03704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14B8A6"/>
                </a:solidFill>
                <a:latin typeface="Calibri"/>
              </a:rPr>
              <a:t>Up to Rs 65 lakh.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5544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Active Learner Score live in 60 days.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15544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Cohort 0 of Amity Ignite. 100 learners.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0116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Two city meetups. One outcome reel weekly.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0116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Kill rule. Engagement +15% or pause spend.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154680"/>
            <a:ext cx="740664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154680"/>
            <a:ext cx="73152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273552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6B6D4"/>
                </a:solidFill>
                <a:latin typeface="Calibri"/>
              </a:rPr>
              <a:t>PHASE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3872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Months 4 to 8.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941064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06B6D4"/>
                </a:solidFill>
                <a:latin typeface="Calibri"/>
              </a:rPr>
              <a:t>Up to Rs 90 lakh.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2918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Cohorts default to 30 person rituals.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2918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Six city meetups. Sunday Sit Down weekly.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7490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Industry sprints with 20 hiring partners.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74904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Trigger by hitting Phase 1 anchor metrics.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4892040"/>
            <a:ext cx="740664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43400" y="4892040"/>
            <a:ext cx="73152" cy="15544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010912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A855F7"/>
                </a:solidFill>
                <a:latin typeface="Calibri"/>
              </a:rPr>
              <a:t>PHASE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27608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Months 9 to 12. Compound.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678424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A855F7"/>
                </a:solidFill>
                <a:latin typeface="Calibri"/>
              </a:rPr>
              <a:t>Up to Rs 95 lakh.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02920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Referral 1.0 launches. Two sided.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02920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Top 100 advocate program. Trained, equipped.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86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Annual Outcome Report (public).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6920" y="5486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• Trigger by Net Promoter Score above 40.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0352" y="48463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62479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B8A6"/>
                </a:solidFill>
                <a:latin typeface="Calibri"/>
              </a:rPr>
              <a:t>ONE LEARNER. ONE STORY. ONE PROMISE.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Rohit doesn't need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another webinar.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needs a moment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can show his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C4B5FD"/>
                </a:solidFill>
                <a:latin typeface="Calibri"/>
              </a:rPr>
              <a:t>If we get that right, retention takes care of itself. Advocacy follows. So does enrolment.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WITH GRATITUDE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|   Marketing Manager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