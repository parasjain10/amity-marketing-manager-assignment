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image" Target="../media/image5.jpg"/><Relationship Id="rId5" Type="http://schemas.openxmlformats.org/officeDocument/2006/relationships/image" Target="../media/image4.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0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tudent_laptop.jpg"/>
          <p:cNvPicPr>
            <a:picLocks noChangeAspect="1"/>
          </p:cNvPicPr>
          <p:nvPr/>
        </p:nvPicPr>
        <p:blipFill>
          <a:blip r:embed="rId2"/>
          <a:stretch>
            <a:fillRect/>
          </a:stretch>
        </p:blipFill>
        <p:spPr>
          <a:xfrm>
            <a:off x="6766560" y="0"/>
            <a:ext cx="5425135" cy="6858000"/>
          </a:xfrm>
          <a:prstGeom prst="rect">
            <a:avLst/>
          </a:prstGeom>
        </p:spPr>
      </p:pic>
      <p:sp>
        <p:nvSpPr>
          <p:cNvPr id="4" name="Rectangle 3"/>
          <p:cNvSpPr/>
          <p:nvPr/>
        </p:nvSpPr>
        <p:spPr>
          <a:xfrm>
            <a:off x="6766560" y="0"/>
            <a:ext cx="5425135" cy="6858000"/>
          </a:xfrm>
          <a:prstGeom prst="rect">
            <a:avLst/>
          </a:prstGeom>
          <a:solidFill>
            <a:srgbClr val="100E2E">
              <a:alpha val="5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320040"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3200400"/>
            <a:ext cx="548640" cy="36576"/>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30352" y="484632"/>
            <a:ext cx="1814887" cy="67665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mity_online_logo.png"/>
          <p:cNvPicPr>
            <a:picLocks noChangeAspect="1"/>
          </p:cNvPicPr>
          <p:nvPr/>
        </p:nvPicPr>
        <p:blipFill>
          <a:blip r:embed="rId3"/>
          <a:stretch>
            <a:fillRect/>
          </a:stretch>
        </p:blipFill>
        <p:spPr>
          <a:xfrm>
            <a:off x="640080" y="548640"/>
            <a:ext cx="1595431" cy="548640"/>
          </a:xfrm>
          <a:prstGeom prst="rect">
            <a:avLst/>
          </a:prstGeom>
        </p:spPr>
      </p:pic>
      <p:sp>
        <p:nvSpPr>
          <p:cNvPr id="9" name="TextBox 8"/>
          <p:cNvSpPr txBox="1"/>
          <p:nvPr/>
        </p:nvSpPr>
        <p:spPr>
          <a:xfrm>
            <a:off x="640080" y="1874519"/>
            <a:ext cx="7315200" cy="365760"/>
          </a:xfrm>
          <a:prstGeom prst="rect">
            <a:avLst/>
          </a:prstGeom>
          <a:noFill/>
        </p:spPr>
        <p:txBody>
          <a:bodyPr wrap="square" lIns="45720" rIns="45720" tIns="18288" bIns="18288" anchor="t">
            <a:spAutoFit/>
          </a:bodyPr>
          <a:lstStyle/>
          <a:p>
            <a:pPr algn="l">
              <a:lnSpc>
                <a:spcPct val="100000"/>
              </a:lnSpc>
            </a:pPr>
            <a:r>
              <a:rPr sz="1100" b="1" i="0">
                <a:solidFill>
                  <a:srgbClr val="14B8A6"/>
                </a:solidFill>
                <a:latin typeface="Calibri"/>
              </a:rPr>
              <a:t>MARKETING MANAGER   ASSIGNMENT SUBMISSION</a:t>
            </a:r>
          </a:p>
        </p:txBody>
      </p:sp>
      <p:sp>
        <p:nvSpPr>
          <p:cNvPr id="10" name="TextBox 9"/>
          <p:cNvSpPr txBox="1"/>
          <p:nvPr/>
        </p:nvSpPr>
        <p:spPr>
          <a:xfrm>
            <a:off x="640080" y="2331720"/>
            <a:ext cx="7315200" cy="2194560"/>
          </a:xfrm>
          <a:prstGeom prst="rect">
            <a:avLst/>
          </a:prstGeom>
          <a:noFill/>
        </p:spPr>
        <p:txBody>
          <a:bodyPr wrap="square" lIns="45720" rIns="45720" tIns="18288" bIns="18288" anchor="t">
            <a:spAutoFit/>
          </a:bodyPr>
          <a:lstStyle/>
          <a:p>
            <a:pPr algn="l">
              <a:lnSpc>
                <a:spcPct val="95000"/>
              </a:lnSpc>
            </a:pPr>
            <a:r>
              <a:rPr sz="5400" b="1" i="0">
                <a:solidFill>
                  <a:srgbClr val="FFFFFF"/>
                </a:solidFill>
                <a:latin typeface="Calibri"/>
              </a:rPr>
              <a:t>Reimagining the</a:t>
            </a:r>
          </a:p>
          <a:p>
            <a:pPr algn="l">
              <a:lnSpc>
                <a:spcPct val="95000"/>
              </a:lnSpc>
            </a:pPr>
            <a:r>
              <a:rPr sz="5400" b="1" i="0">
                <a:solidFill>
                  <a:srgbClr val="FFFFFF"/>
                </a:solidFill>
                <a:latin typeface="Calibri"/>
              </a:rPr>
              <a:t>Online Learner</a:t>
            </a:r>
          </a:p>
          <a:p>
            <a:pPr algn="l">
              <a:lnSpc>
                <a:spcPct val="95000"/>
              </a:lnSpc>
            </a:pPr>
            <a:r>
              <a:rPr sz="5400" b="1" i="0">
                <a:solidFill>
                  <a:srgbClr val="FFFFFF"/>
                </a:solidFill>
                <a:latin typeface="Calibri"/>
              </a:rPr>
              <a:t>Experience.</a:t>
            </a:r>
          </a:p>
        </p:txBody>
      </p:sp>
      <p:sp>
        <p:nvSpPr>
          <p:cNvPr id="11" name="TextBox 10"/>
          <p:cNvSpPr txBox="1"/>
          <p:nvPr/>
        </p:nvSpPr>
        <p:spPr>
          <a:xfrm>
            <a:off x="640080" y="4800600"/>
            <a:ext cx="6400800" cy="411480"/>
          </a:xfrm>
          <a:prstGeom prst="rect">
            <a:avLst/>
          </a:prstGeom>
          <a:noFill/>
        </p:spPr>
        <p:txBody>
          <a:bodyPr wrap="square" lIns="45720" rIns="45720" tIns="18288" bIns="18288" anchor="t">
            <a:spAutoFit/>
          </a:bodyPr>
          <a:lstStyle/>
          <a:p>
            <a:pPr algn="l">
              <a:lnSpc>
                <a:spcPct val="125000"/>
              </a:lnSpc>
            </a:pPr>
            <a:r>
              <a:rPr sz="1400" b="0" i="1">
                <a:solidFill>
                  <a:srgbClr val="FFFFFF"/>
                </a:solidFill>
                <a:latin typeface="Calibri"/>
              </a:rPr>
              <a:t>A launch. A yearlong roadmap. A leadership story.</a:t>
            </a:r>
          </a:p>
        </p:txBody>
      </p:sp>
      <p:sp>
        <p:nvSpPr>
          <p:cNvPr id="12" name="TextBox 11"/>
          <p:cNvSpPr txBox="1"/>
          <p:nvPr/>
        </p:nvSpPr>
        <p:spPr>
          <a:xfrm>
            <a:off x="640080" y="5074920"/>
            <a:ext cx="6400800" cy="411480"/>
          </a:xfrm>
          <a:prstGeom prst="rect">
            <a:avLst/>
          </a:prstGeom>
          <a:noFill/>
        </p:spPr>
        <p:txBody>
          <a:bodyPr wrap="square" lIns="45720" rIns="45720" tIns="18288" bIns="18288" anchor="t">
            <a:spAutoFit/>
          </a:bodyPr>
          <a:lstStyle/>
          <a:p>
            <a:pPr algn="l">
              <a:lnSpc>
                <a:spcPct val="125000"/>
              </a:lnSpc>
            </a:pPr>
            <a:r>
              <a:rPr sz="1400" b="0" i="1">
                <a:solidFill>
                  <a:srgbClr val="C4B5FD"/>
                </a:solidFill>
                <a:latin typeface="Calibri"/>
              </a:rPr>
              <a:t>Built for Amity University Online's 2,50,000+ learners.</a:t>
            </a:r>
          </a:p>
        </p:txBody>
      </p:sp>
      <p:sp>
        <p:nvSpPr>
          <p:cNvPr id="13" name="Rectangle 12"/>
          <p:cNvSpPr/>
          <p:nvPr/>
        </p:nvSpPr>
        <p:spPr>
          <a:xfrm>
            <a:off x="640080" y="5852160"/>
            <a:ext cx="54864"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852160"/>
            <a:ext cx="4572000" cy="292608"/>
          </a:xfrm>
          <a:prstGeom prst="rect">
            <a:avLst/>
          </a:prstGeom>
          <a:noFill/>
        </p:spPr>
        <p:txBody>
          <a:bodyPr wrap="square" lIns="45720" rIns="45720" tIns="18288" bIns="18288" anchor="t">
            <a:spAutoFit/>
          </a:bodyPr>
          <a:lstStyle/>
          <a:p>
            <a:pPr algn="l">
              <a:lnSpc>
                <a:spcPct val="125000"/>
              </a:lnSpc>
            </a:pPr>
            <a:r>
              <a:rPr sz="950" b="1" i="0">
                <a:solidFill>
                  <a:srgbClr val="14B8A6"/>
                </a:solidFill>
                <a:latin typeface="Calibri"/>
              </a:rPr>
              <a:t>SUBMITTED BY</a:t>
            </a:r>
          </a:p>
        </p:txBody>
      </p:sp>
      <p:sp>
        <p:nvSpPr>
          <p:cNvPr id="15" name="TextBox 14"/>
          <p:cNvSpPr txBox="1"/>
          <p:nvPr/>
        </p:nvSpPr>
        <p:spPr>
          <a:xfrm>
            <a:off x="777240" y="6080760"/>
            <a:ext cx="4572000" cy="365760"/>
          </a:xfrm>
          <a:prstGeom prst="rect">
            <a:avLst/>
          </a:prstGeom>
          <a:noFill/>
        </p:spPr>
        <p:txBody>
          <a:bodyPr wrap="square" lIns="45720" rIns="45720" tIns="18288" bIns="18288" anchor="t">
            <a:spAutoFit/>
          </a:bodyPr>
          <a:lstStyle/>
          <a:p>
            <a:pPr algn="l">
              <a:lnSpc>
                <a:spcPct val="125000"/>
              </a:lnSpc>
            </a:pPr>
            <a:r>
              <a:rPr sz="1800" b="1" i="0">
                <a:solidFill>
                  <a:srgbClr val="FFFFFF"/>
                </a:solidFill>
                <a:latin typeface="Calibri"/>
              </a:rPr>
              <a:t>Paras Jain</a:t>
            </a:r>
          </a:p>
        </p:txBody>
      </p:sp>
      <p:sp>
        <p:nvSpPr>
          <p:cNvPr id="16" name="TextBox 1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C4B5FD"/>
                </a:solidFill>
                <a:latin typeface="Calibri"/>
              </a:rPr>
              <a:t/>
            </a:r>
          </a:p>
        </p:txBody>
      </p:sp>
      <p:sp>
        <p:nvSpPr>
          <p:cNvPr id="17" name="TextBox 1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C4B5FD"/>
                </a:solidFill>
                <a:latin typeface="Calibri"/>
              </a:rPr>
              <a:t>1 / 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THE APPROACH   |   PERSONA, PATTERNS, FRAMEWORKS</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Before I drafted, I listened.</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2 / 19</a:t>
            </a:r>
          </a:p>
        </p:txBody>
      </p:sp>
      <p:sp>
        <p:nvSpPr>
          <p:cNvPr id="8" name="Rounded Rectangle 7"/>
          <p:cNvSpPr/>
          <p:nvPr/>
        </p:nvSpPr>
        <p:spPr>
          <a:xfrm>
            <a:off x="457200" y="1417320"/>
            <a:ext cx="3840480" cy="507492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tudent_laptop.jpg"/>
          <p:cNvPicPr>
            <a:picLocks noChangeAspect="1"/>
          </p:cNvPicPr>
          <p:nvPr/>
        </p:nvPicPr>
        <p:blipFill>
          <a:blip r:embed="rId3"/>
          <a:stretch>
            <a:fillRect/>
          </a:stretch>
        </p:blipFill>
        <p:spPr>
          <a:xfrm>
            <a:off x="685800" y="1645920"/>
            <a:ext cx="3383280" cy="2011680"/>
          </a:xfrm>
          <a:prstGeom prst="rect">
            <a:avLst/>
          </a:prstGeom>
        </p:spPr>
      </p:pic>
      <p:sp>
        <p:nvSpPr>
          <p:cNvPr id="10" name="TextBox 9"/>
          <p:cNvSpPr txBox="1"/>
          <p:nvPr/>
        </p:nvSpPr>
        <p:spPr>
          <a:xfrm>
            <a:off x="685800" y="3794760"/>
            <a:ext cx="3840480" cy="274320"/>
          </a:xfrm>
          <a:prstGeom prst="rect">
            <a:avLst/>
          </a:prstGeom>
          <a:noFill/>
        </p:spPr>
        <p:txBody>
          <a:bodyPr wrap="square" lIns="45720" rIns="45720" tIns="18288" bIns="18288" anchor="t">
            <a:spAutoFit/>
          </a:bodyPr>
          <a:lstStyle/>
          <a:p>
            <a:pPr algn="l">
              <a:lnSpc>
                <a:spcPct val="125000"/>
              </a:lnSpc>
            </a:pPr>
            <a:r>
              <a:rPr sz="950" b="1" i="0">
                <a:solidFill>
                  <a:srgbClr val="14B8A6"/>
                </a:solidFill>
                <a:latin typeface="Calibri"/>
              </a:rPr>
              <a:t>MEET ROHIT.   OUR LEARNER.</a:t>
            </a:r>
          </a:p>
        </p:txBody>
      </p:sp>
      <p:sp>
        <p:nvSpPr>
          <p:cNvPr id="11" name="TextBox 10"/>
          <p:cNvSpPr txBox="1"/>
          <p:nvPr/>
        </p:nvSpPr>
        <p:spPr>
          <a:xfrm>
            <a:off x="685800" y="4023360"/>
            <a:ext cx="3566160" cy="457200"/>
          </a:xfrm>
          <a:prstGeom prst="rect">
            <a:avLst/>
          </a:prstGeom>
          <a:noFill/>
        </p:spPr>
        <p:txBody>
          <a:bodyPr wrap="square" lIns="45720" rIns="45720" tIns="18288" bIns="18288" anchor="t">
            <a:spAutoFit/>
          </a:bodyPr>
          <a:lstStyle/>
          <a:p>
            <a:pPr algn="l">
              <a:lnSpc>
                <a:spcPct val="105000"/>
              </a:lnSpc>
            </a:pPr>
            <a:r>
              <a:rPr sz="1800" b="1" i="0">
                <a:solidFill>
                  <a:srgbClr val="1E1B4B"/>
                </a:solidFill>
                <a:latin typeface="Calibri"/>
              </a:rPr>
              <a:t>28. Bhopal. MBA, Sem 2.</a:t>
            </a:r>
          </a:p>
        </p:txBody>
      </p:sp>
      <p:sp>
        <p:nvSpPr>
          <p:cNvPr id="12" name="TextBox 11"/>
          <p:cNvSpPr txBox="1"/>
          <p:nvPr/>
        </p:nvSpPr>
        <p:spPr>
          <a:xfrm>
            <a:off x="685800" y="4572000"/>
            <a:ext cx="3474720" cy="1828800"/>
          </a:xfrm>
          <a:prstGeom prst="rect">
            <a:avLst/>
          </a:prstGeom>
          <a:noFill/>
        </p:spPr>
        <p:txBody>
          <a:bodyPr wrap="square" lIns="45720" rIns="45720" tIns="18288" bIns="18288">
            <a:spAutoFit/>
          </a:bodyPr>
          <a:lstStyle/>
          <a:p>
            <a:pPr algn="l">
              <a:lnSpc>
                <a:spcPct val="140000"/>
              </a:lnSpc>
              <a:spcBef>
                <a:spcPts val="400"/>
              </a:spcBef>
            </a:pPr>
            <a:r>
              <a:rPr sz="1030" b="1">
                <a:solidFill>
                  <a:srgbClr val="14B8A6"/>
                </a:solidFill>
                <a:latin typeface="Calibri"/>
              </a:rPr>
              <a:t>• </a:t>
            </a:r>
            <a:r>
              <a:rPr sz="1030">
                <a:solidFill>
                  <a:srgbClr val="141B2D"/>
                </a:solidFill>
                <a:latin typeface="Calibri"/>
              </a:rPr>
              <a:t>Senior account executive at a Tier 2 firm.</a:t>
            </a:r>
          </a:p>
          <a:p>
            <a:pPr algn="l">
              <a:lnSpc>
                <a:spcPct val="140000"/>
              </a:lnSpc>
              <a:spcBef>
                <a:spcPts val="400"/>
              </a:spcBef>
            </a:pPr>
            <a:r>
              <a:rPr sz="1030" b="1">
                <a:solidFill>
                  <a:srgbClr val="14B8A6"/>
                </a:solidFill>
                <a:latin typeface="Calibri"/>
              </a:rPr>
              <a:t>• </a:t>
            </a:r>
            <a:r>
              <a:rPr sz="1030">
                <a:solidFill>
                  <a:srgbClr val="141B2D"/>
                </a:solidFill>
                <a:latin typeface="Calibri"/>
              </a:rPr>
              <a:t>Pays his own fees. Studies after dinner.</a:t>
            </a:r>
          </a:p>
          <a:p>
            <a:pPr algn="l">
              <a:lnSpc>
                <a:spcPct val="140000"/>
              </a:lnSpc>
              <a:spcBef>
                <a:spcPts val="400"/>
              </a:spcBef>
            </a:pPr>
            <a:r>
              <a:rPr sz="1030" b="1">
                <a:solidFill>
                  <a:srgbClr val="14B8A6"/>
                </a:solidFill>
                <a:latin typeface="Calibri"/>
              </a:rPr>
              <a:t>• </a:t>
            </a:r>
            <a:r>
              <a:rPr sz="1030">
                <a:solidFill>
                  <a:srgbClr val="141B2D"/>
                </a:solidFill>
                <a:latin typeface="Calibri"/>
              </a:rPr>
              <a:t>Married. One toddler. Family is proud.</a:t>
            </a:r>
          </a:p>
          <a:p>
            <a:pPr algn="l">
              <a:lnSpc>
                <a:spcPct val="140000"/>
              </a:lnSpc>
              <a:spcBef>
                <a:spcPts val="400"/>
              </a:spcBef>
            </a:pPr>
            <a:r>
              <a:rPr sz="1030" b="1">
                <a:solidFill>
                  <a:srgbClr val="14B8A6"/>
                </a:solidFill>
                <a:latin typeface="Calibri"/>
              </a:rPr>
              <a:t>• </a:t>
            </a:r>
            <a:r>
              <a:rPr sz="1030">
                <a:solidFill>
                  <a:srgbClr val="141B2D"/>
                </a:solidFill>
                <a:latin typeface="Calibri"/>
              </a:rPr>
              <a:t>Has never seen the Noida campus.</a:t>
            </a:r>
          </a:p>
          <a:p>
            <a:pPr algn="l">
              <a:lnSpc>
                <a:spcPct val="140000"/>
              </a:lnSpc>
              <a:spcBef>
                <a:spcPts val="400"/>
              </a:spcBef>
            </a:pPr>
            <a:r>
              <a:rPr sz="1030" b="1">
                <a:solidFill>
                  <a:srgbClr val="14B8A6"/>
                </a:solidFill>
                <a:latin typeface="Calibri"/>
              </a:rPr>
              <a:t>• </a:t>
            </a:r>
            <a:r>
              <a:rPr sz="1030">
                <a:solidFill>
                  <a:srgbClr val="141B2D"/>
                </a:solidFill>
                <a:latin typeface="Calibri"/>
              </a:rPr>
              <a:t>Logs into beSocial maybe once a week.</a:t>
            </a:r>
          </a:p>
        </p:txBody>
      </p:sp>
      <p:sp>
        <p:nvSpPr>
          <p:cNvPr id="13" name="TextBox 12"/>
          <p:cNvSpPr txBox="1"/>
          <p:nvPr/>
        </p:nvSpPr>
        <p:spPr>
          <a:xfrm>
            <a:off x="4572000" y="1417320"/>
            <a:ext cx="7315200" cy="411480"/>
          </a:xfrm>
          <a:prstGeom prst="rect">
            <a:avLst/>
          </a:prstGeom>
          <a:noFill/>
        </p:spPr>
        <p:txBody>
          <a:bodyPr wrap="square" lIns="45720" rIns="45720" tIns="18288" bIns="18288" anchor="t">
            <a:spAutoFit/>
          </a:bodyPr>
          <a:lstStyle/>
          <a:p>
            <a:pPr algn="l">
              <a:lnSpc>
                <a:spcPct val="110000"/>
              </a:lnSpc>
            </a:pPr>
            <a:r>
              <a:rPr sz="1500" b="1" i="0">
                <a:solidFill>
                  <a:srgbClr val="1E1B4B"/>
                </a:solidFill>
                <a:latin typeface="Calibri"/>
              </a:rPr>
              <a:t>Three patterns showed up everywhere.</a:t>
            </a:r>
          </a:p>
        </p:txBody>
      </p:sp>
      <p:sp>
        <p:nvSpPr>
          <p:cNvPr id="14" name="Rounded Rectangle 13"/>
          <p:cNvSpPr/>
          <p:nvPr/>
        </p:nvSpPr>
        <p:spPr>
          <a:xfrm>
            <a:off x="4572000" y="1920240"/>
            <a:ext cx="7315200" cy="10972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0" y="1920240"/>
            <a:ext cx="73152" cy="109728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0600" y="2084832"/>
            <a:ext cx="640080" cy="365760"/>
          </a:xfrm>
          <a:prstGeom prst="rect">
            <a:avLst/>
          </a:prstGeom>
          <a:noFill/>
        </p:spPr>
        <p:txBody>
          <a:bodyPr wrap="square" lIns="45720" rIns="45720" tIns="18288" bIns="18288" anchor="t">
            <a:spAutoFit/>
          </a:bodyPr>
          <a:lstStyle/>
          <a:p>
            <a:pPr algn="l">
              <a:lnSpc>
                <a:spcPct val="125000"/>
              </a:lnSpc>
            </a:pPr>
            <a:r>
              <a:rPr sz="1800" b="1" i="0">
                <a:solidFill>
                  <a:srgbClr val="14B8A6"/>
                </a:solidFill>
                <a:latin typeface="Calibri"/>
              </a:rPr>
              <a:t>01</a:t>
            </a:r>
          </a:p>
        </p:txBody>
      </p:sp>
      <p:sp>
        <p:nvSpPr>
          <p:cNvPr id="17" name="TextBox 16"/>
          <p:cNvSpPr txBox="1"/>
          <p:nvPr/>
        </p:nvSpPr>
        <p:spPr>
          <a:xfrm>
            <a:off x="5440680" y="2084832"/>
            <a:ext cx="6309360" cy="365760"/>
          </a:xfrm>
          <a:prstGeom prst="rect">
            <a:avLst/>
          </a:prstGeom>
          <a:noFill/>
        </p:spPr>
        <p:txBody>
          <a:bodyPr wrap="square" lIns="45720" rIns="45720" tIns="18288" bIns="18288" anchor="t">
            <a:spAutoFit/>
          </a:bodyPr>
          <a:lstStyle/>
          <a:p>
            <a:pPr algn="l">
              <a:lnSpc>
                <a:spcPct val="125000"/>
              </a:lnSpc>
            </a:pPr>
            <a:r>
              <a:rPr sz="1400" b="1" i="0">
                <a:solidFill>
                  <a:srgbClr val="1E1B4B"/>
                </a:solidFill>
                <a:latin typeface="Calibri"/>
              </a:rPr>
              <a:t>Belonging is the missing product.</a:t>
            </a:r>
          </a:p>
        </p:txBody>
      </p:sp>
      <p:sp>
        <p:nvSpPr>
          <p:cNvPr id="18" name="TextBox 17"/>
          <p:cNvSpPr txBox="1"/>
          <p:nvPr/>
        </p:nvSpPr>
        <p:spPr>
          <a:xfrm>
            <a:off x="5440680" y="2487168"/>
            <a:ext cx="6309360" cy="457200"/>
          </a:xfrm>
          <a:prstGeom prst="rect">
            <a:avLst/>
          </a:prstGeom>
          <a:noFill/>
        </p:spPr>
        <p:txBody>
          <a:bodyPr wrap="square" lIns="45720" rIns="45720" tIns="18288" bIns="18288" anchor="t">
            <a:spAutoFit/>
          </a:bodyPr>
          <a:lstStyle/>
          <a:p>
            <a:pPr algn="l">
              <a:lnSpc>
                <a:spcPct val="130000"/>
              </a:lnSpc>
            </a:pPr>
            <a:r>
              <a:rPr sz="1050" b="0" i="1">
                <a:solidFill>
                  <a:srgbClr val="1E1B4B"/>
                </a:solidFill>
                <a:latin typeface="Calibri"/>
              </a:rPr>
              <a:t>beSocial is the right instinct. Add one in person moment.</a:t>
            </a:r>
          </a:p>
        </p:txBody>
      </p:sp>
      <p:sp>
        <p:nvSpPr>
          <p:cNvPr id="19" name="Rounded Rectangle 18"/>
          <p:cNvSpPr/>
          <p:nvPr/>
        </p:nvSpPr>
        <p:spPr>
          <a:xfrm>
            <a:off x="4572000" y="3127248"/>
            <a:ext cx="7315200" cy="10972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3127248"/>
            <a:ext cx="73152" cy="10972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0600" y="3291840"/>
            <a:ext cx="640080" cy="365760"/>
          </a:xfrm>
          <a:prstGeom prst="rect">
            <a:avLst/>
          </a:prstGeom>
          <a:noFill/>
        </p:spPr>
        <p:txBody>
          <a:bodyPr wrap="square" lIns="45720" rIns="45720" tIns="18288" bIns="18288" anchor="t">
            <a:spAutoFit/>
          </a:bodyPr>
          <a:lstStyle/>
          <a:p>
            <a:pPr algn="l">
              <a:lnSpc>
                <a:spcPct val="125000"/>
              </a:lnSpc>
            </a:pPr>
            <a:r>
              <a:rPr sz="1800" b="1" i="0">
                <a:solidFill>
                  <a:srgbClr val="06B6D4"/>
                </a:solidFill>
                <a:latin typeface="Calibri"/>
              </a:rPr>
              <a:t>02</a:t>
            </a:r>
          </a:p>
        </p:txBody>
      </p:sp>
      <p:sp>
        <p:nvSpPr>
          <p:cNvPr id="22" name="TextBox 21"/>
          <p:cNvSpPr txBox="1"/>
          <p:nvPr/>
        </p:nvSpPr>
        <p:spPr>
          <a:xfrm>
            <a:off x="5440680" y="3291840"/>
            <a:ext cx="6309360" cy="365760"/>
          </a:xfrm>
          <a:prstGeom prst="rect">
            <a:avLst/>
          </a:prstGeom>
          <a:noFill/>
        </p:spPr>
        <p:txBody>
          <a:bodyPr wrap="square" lIns="45720" rIns="45720" tIns="18288" bIns="18288" anchor="t">
            <a:spAutoFit/>
          </a:bodyPr>
          <a:lstStyle/>
          <a:p>
            <a:pPr algn="l">
              <a:lnSpc>
                <a:spcPct val="125000"/>
              </a:lnSpc>
            </a:pPr>
            <a:r>
              <a:rPr sz="1400" b="1" i="0">
                <a:solidFill>
                  <a:srgbClr val="1E1B4B"/>
                </a:solidFill>
                <a:latin typeface="Calibri"/>
              </a:rPr>
              <a:t>Engagement leads enrolment.</a:t>
            </a:r>
          </a:p>
        </p:txBody>
      </p:sp>
      <p:sp>
        <p:nvSpPr>
          <p:cNvPr id="23" name="TextBox 22"/>
          <p:cNvSpPr txBox="1"/>
          <p:nvPr/>
        </p:nvSpPr>
        <p:spPr>
          <a:xfrm>
            <a:off x="5440680" y="3694176"/>
            <a:ext cx="6309360" cy="457200"/>
          </a:xfrm>
          <a:prstGeom prst="rect">
            <a:avLst/>
          </a:prstGeom>
          <a:noFill/>
        </p:spPr>
        <p:txBody>
          <a:bodyPr wrap="square" lIns="45720" rIns="45720" tIns="18288" bIns="18288" anchor="t">
            <a:spAutoFit/>
          </a:bodyPr>
          <a:lstStyle/>
          <a:p>
            <a:pPr algn="l">
              <a:lnSpc>
                <a:spcPct val="130000"/>
              </a:lnSpc>
            </a:pPr>
            <a:r>
              <a:rPr sz="1050" b="0" i="1">
                <a:solidFill>
                  <a:srgbClr val="1E1B4B"/>
                </a:solidFill>
                <a:latin typeface="Calibri"/>
              </a:rPr>
              <a:t>Engaged learners complete more and refer more. Not the other way around.</a:t>
            </a:r>
          </a:p>
        </p:txBody>
      </p:sp>
      <p:sp>
        <p:nvSpPr>
          <p:cNvPr id="24" name="Rounded Rectangle 23"/>
          <p:cNvSpPr/>
          <p:nvPr/>
        </p:nvSpPr>
        <p:spPr>
          <a:xfrm>
            <a:off x="4572000" y="4334256"/>
            <a:ext cx="7315200" cy="10972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0" y="4334256"/>
            <a:ext cx="73152" cy="10972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00600" y="4498848"/>
            <a:ext cx="640080" cy="365760"/>
          </a:xfrm>
          <a:prstGeom prst="rect">
            <a:avLst/>
          </a:prstGeom>
          <a:noFill/>
        </p:spPr>
        <p:txBody>
          <a:bodyPr wrap="square" lIns="45720" rIns="45720" tIns="18288" bIns="18288" anchor="t">
            <a:spAutoFit/>
          </a:bodyPr>
          <a:lstStyle/>
          <a:p>
            <a:pPr algn="l">
              <a:lnSpc>
                <a:spcPct val="125000"/>
              </a:lnSpc>
            </a:pPr>
            <a:r>
              <a:rPr sz="1800" b="1" i="0">
                <a:solidFill>
                  <a:srgbClr val="A855F7"/>
                </a:solidFill>
                <a:latin typeface="Calibri"/>
              </a:rPr>
              <a:t>03</a:t>
            </a:r>
          </a:p>
        </p:txBody>
      </p:sp>
      <p:sp>
        <p:nvSpPr>
          <p:cNvPr id="27" name="TextBox 26"/>
          <p:cNvSpPr txBox="1"/>
          <p:nvPr/>
        </p:nvSpPr>
        <p:spPr>
          <a:xfrm>
            <a:off x="5440680" y="4498848"/>
            <a:ext cx="6309360" cy="365760"/>
          </a:xfrm>
          <a:prstGeom prst="rect">
            <a:avLst/>
          </a:prstGeom>
          <a:noFill/>
        </p:spPr>
        <p:txBody>
          <a:bodyPr wrap="square" lIns="45720" rIns="45720" tIns="18288" bIns="18288" anchor="t">
            <a:spAutoFit/>
          </a:bodyPr>
          <a:lstStyle/>
          <a:p>
            <a:pPr algn="l">
              <a:lnSpc>
                <a:spcPct val="125000"/>
              </a:lnSpc>
            </a:pPr>
            <a:r>
              <a:rPr sz="1400" b="1" i="0">
                <a:solidFill>
                  <a:srgbClr val="1E1B4B"/>
                </a:solidFill>
                <a:latin typeface="Calibri"/>
              </a:rPr>
              <a:t>Our learners are our cheapest growth channel.</a:t>
            </a:r>
          </a:p>
        </p:txBody>
      </p:sp>
      <p:sp>
        <p:nvSpPr>
          <p:cNvPr id="28" name="TextBox 27"/>
          <p:cNvSpPr txBox="1"/>
          <p:nvPr/>
        </p:nvSpPr>
        <p:spPr>
          <a:xfrm>
            <a:off x="5440680" y="4901184"/>
            <a:ext cx="6309360" cy="457200"/>
          </a:xfrm>
          <a:prstGeom prst="rect">
            <a:avLst/>
          </a:prstGeom>
          <a:noFill/>
        </p:spPr>
        <p:txBody>
          <a:bodyPr wrap="square" lIns="45720" rIns="45720" tIns="18288" bIns="18288" anchor="t">
            <a:spAutoFit/>
          </a:bodyPr>
          <a:lstStyle/>
          <a:p>
            <a:pPr algn="l">
              <a:lnSpc>
                <a:spcPct val="130000"/>
              </a:lnSpc>
            </a:pPr>
            <a:r>
              <a:rPr sz="1050" b="0" i="1">
                <a:solidFill>
                  <a:srgbClr val="1E1B4B"/>
                </a:solidFill>
                <a:latin typeface="Calibri"/>
              </a:rPr>
              <a:t>2,50,000+ learners. Almost no system to turn them into referrers.</a:t>
            </a:r>
          </a:p>
        </p:txBody>
      </p:sp>
      <p:sp>
        <p:nvSpPr>
          <p:cNvPr id="29" name="Rounded Rectangle 28"/>
          <p:cNvSpPr/>
          <p:nvPr/>
        </p:nvSpPr>
        <p:spPr>
          <a:xfrm>
            <a:off x="4572000" y="5349240"/>
            <a:ext cx="7315200" cy="1143000"/>
          </a:xfrm>
          <a:prstGeom prst="roundRect">
            <a:avLst>
              <a:gd name="adj" fmla="val 3000"/>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54880" y="5486400"/>
            <a:ext cx="7315200" cy="274320"/>
          </a:xfrm>
          <a:prstGeom prst="rect">
            <a:avLst/>
          </a:prstGeom>
          <a:noFill/>
        </p:spPr>
        <p:txBody>
          <a:bodyPr wrap="square" lIns="45720" rIns="45720" tIns="18288" bIns="18288" anchor="t">
            <a:spAutoFit/>
          </a:bodyPr>
          <a:lstStyle/>
          <a:p>
            <a:pPr algn="l">
              <a:lnSpc>
                <a:spcPct val="125000"/>
              </a:lnSpc>
            </a:pPr>
            <a:r>
              <a:rPr sz="950" b="1" i="0">
                <a:solidFill>
                  <a:srgbClr val="14B8A6"/>
                </a:solidFill>
                <a:latin typeface="Calibri"/>
              </a:rPr>
              <a:t>FRAMEWORKS I AM USING</a:t>
            </a:r>
          </a:p>
        </p:txBody>
      </p:sp>
      <p:sp>
        <p:nvSpPr>
          <p:cNvPr id="31" name="Rounded Rectangle 30"/>
          <p:cNvSpPr/>
          <p:nvPr/>
        </p:nvSpPr>
        <p:spPr>
          <a:xfrm>
            <a:off x="4754880" y="5852160"/>
            <a:ext cx="1193292" cy="329184"/>
          </a:xfrm>
          <a:prstGeom prst="roundRect">
            <a:avLst>
              <a:gd name="adj" fmla="val 50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1E1B4B"/>
                </a:solidFill>
                <a:latin typeface="Calibri"/>
              </a:rPr>
              <a:t>Jobs to be Done</a:t>
            </a:r>
          </a:p>
        </p:txBody>
      </p:sp>
      <p:sp>
        <p:nvSpPr>
          <p:cNvPr id="32" name="Rounded Rectangle 31"/>
          <p:cNvSpPr/>
          <p:nvPr/>
        </p:nvSpPr>
        <p:spPr>
          <a:xfrm>
            <a:off x="6021324" y="5852160"/>
            <a:ext cx="987551" cy="329184"/>
          </a:xfrm>
          <a:prstGeom prst="roundRect">
            <a:avLst>
              <a:gd name="adj" fmla="val 50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1E1B4B"/>
                </a:solidFill>
                <a:latin typeface="Calibri"/>
              </a:rPr>
              <a:t>AARRR funnel</a:t>
            </a:r>
          </a:p>
        </p:txBody>
      </p:sp>
      <p:sp>
        <p:nvSpPr>
          <p:cNvPr id="33" name="Rounded Rectangle 32"/>
          <p:cNvSpPr/>
          <p:nvPr/>
        </p:nvSpPr>
        <p:spPr>
          <a:xfrm>
            <a:off x="7082027" y="5852160"/>
            <a:ext cx="987551" cy="329184"/>
          </a:xfrm>
          <a:prstGeom prst="roundRect">
            <a:avLst>
              <a:gd name="adj" fmla="val 50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1E1B4B"/>
                </a:solidFill>
                <a:latin typeface="Calibri"/>
              </a:rPr>
              <a:t>70 / 20 / 10</a:t>
            </a:r>
          </a:p>
        </p:txBody>
      </p:sp>
      <p:sp>
        <p:nvSpPr>
          <p:cNvPr id="34" name="Rounded Rectangle 33"/>
          <p:cNvSpPr/>
          <p:nvPr/>
        </p:nvSpPr>
        <p:spPr>
          <a:xfrm>
            <a:off x="8142730" y="5852160"/>
            <a:ext cx="1330451" cy="329184"/>
          </a:xfrm>
          <a:prstGeom prst="roundRect">
            <a:avLst>
              <a:gd name="adj" fmla="val 50000"/>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000" b="1">
                <a:solidFill>
                  <a:srgbClr val="1E1B4B"/>
                </a:solidFill>
                <a:latin typeface="Calibri"/>
              </a:rPr>
              <a:t>North Star Metric</a:t>
            </a:r>
          </a:p>
        </p:txBody>
      </p:sp>
      <p:sp>
        <p:nvSpPr>
          <p:cNvPr id="35" name="TextBox 34"/>
          <p:cNvSpPr txBox="1"/>
          <p:nvPr/>
        </p:nvSpPr>
        <p:spPr>
          <a:xfrm>
            <a:off x="4754880" y="6217920"/>
            <a:ext cx="6949440" cy="274320"/>
          </a:xfrm>
          <a:prstGeom prst="rect">
            <a:avLst/>
          </a:prstGeom>
          <a:noFill/>
        </p:spPr>
        <p:txBody>
          <a:bodyPr wrap="square" lIns="45720" rIns="45720" tIns="18288" bIns="18288" anchor="t">
            <a:spAutoFit/>
          </a:bodyPr>
          <a:lstStyle/>
          <a:p>
            <a:pPr algn="l">
              <a:lnSpc>
                <a:spcPct val="125000"/>
              </a:lnSpc>
            </a:pPr>
            <a:r>
              <a:rPr sz="950" b="0" i="1">
                <a:solidFill>
                  <a:srgbClr val="C4B5FD"/>
                </a:solidFill>
                <a:latin typeface="Calibri"/>
              </a:rPr>
              <a:t>All named, all auditable. None invented for this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udents_group.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00E2E">
              <a:alpha val="7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5486400" cy="3200400"/>
          </a:xfrm>
          <a:prstGeom prst="rect">
            <a:avLst/>
          </a:prstGeom>
          <a:noFill/>
        </p:spPr>
        <p:txBody>
          <a:bodyPr wrap="square" lIns="45720" rIns="45720" tIns="18288" bIns="18288" anchor="t">
            <a:spAutoFit/>
          </a:bodyPr>
          <a:lstStyle/>
          <a:p>
            <a:pPr algn="l">
              <a:lnSpc>
                <a:spcPct val="90000"/>
              </a:lnSpc>
            </a:pPr>
            <a:r>
              <a:rPr sz="11000" b="1" i="0">
                <a:solidFill>
                  <a:srgbClr val="14B8A6"/>
                </a:solidFill>
                <a:latin typeface="Calibri"/>
              </a:rPr>
              <a:t>Task</a:t>
            </a:r>
          </a:p>
          <a:p>
            <a:pPr algn="l">
              <a:lnSpc>
                <a:spcPct val="90000"/>
              </a:lnSpc>
            </a:pPr>
            <a:r>
              <a:rPr sz="11000" b="1" i="0">
                <a:solidFill>
                  <a:srgbClr val="14B8A6"/>
                </a:solidFill>
                <a:latin typeface="Calibri"/>
              </a:rPr>
              <a:t>01</a:t>
            </a:r>
          </a:p>
        </p:txBody>
      </p:sp>
      <p:sp>
        <p:nvSpPr>
          <p:cNvPr id="6" name="TextBox 5"/>
          <p:cNvSpPr txBox="1"/>
          <p:nvPr/>
        </p:nvSpPr>
        <p:spPr>
          <a:xfrm>
            <a:off x="685800" y="4434840"/>
            <a:ext cx="10058400" cy="914400"/>
          </a:xfrm>
          <a:prstGeom prst="rect">
            <a:avLst/>
          </a:prstGeom>
          <a:noFill/>
        </p:spPr>
        <p:txBody>
          <a:bodyPr wrap="square" lIns="45720" rIns="45720" tIns="18288" bIns="18288" anchor="t">
            <a:spAutoFit/>
          </a:bodyPr>
          <a:lstStyle/>
          <a:p>
            <a:pPr algn="l">
              <a:lnSpc>
                <a:spcPct val="105000"/>
              </a:lnSpc>
            </a:pPr>
            <a:r>
              <a:rPr sz="3000" b="1" i="0">
                <a:solidFill>
                  <a:srgbClr val="FFFFFF"/>
                </a:solidFill>
                <a:latin typeface="Calibri"/>
              </a:rPr>
              <a:t>Amity Ignite. India's first concert for online learners.</a:t>
            </a:r>
          </a:p>
        </p:txBody>
      </p:sp>
      <p:sp>
        <p:nvSpPr>
          <p:cNvPr id="7" name="TextBox 6"/>
          <p:cNvSpPr txBox="1"/>
          <p:nvPr/>
        </p:nvSpPr>
        <p:spPr>
          <a:xfrm>
            <a:off x="685800" y="5532120"/>
            <a:ext cx="10058400" cy="731520"/>
          </a:xfrm>
          <a:prstGeom prst="rect">
            <a:avLst/>
          </a:prstGeom>
          <a:noFill/>
        </p:spPr>
        <p:txBody>
          <a:bodyPr wrap="square" lIns="45720" rIns="45720" tIns="18288" bIns="18288" anchor="t">
            <a:spAutoFit/>
          </a:bodyPr>
          <a:lstStyle/>
          <a:p>
            <a:pPr algn="l">
              <a:lnSpc>
                <a:spcPct val="130000"/>
              </a:lnSpc>
            </a:pPr>
            <a:r>
              <a:rPr sz="1400" b="0" i="1">
                <a:solidFill>
                  <a:srgbClr val="C4B5FD"/>
                </a:solidFill>
                <a:latin typeface="Calibri"/>
              </a:rPr>
              <a:t>A campus visit no one would attend. So we threw a concert no one wants to miss. The campus walk becomes the bonus.</a:t>
            </a:r>
          </a:p>
        </p:txBody>
      </p:sp>
      <p:sp>
        <p:nvSpPr>
          <p:cNvPr id="8" name="Rounded Rectangle 7"/>
          <p:cNvSpPr/>
          <p:nvPr/>
        </p:nvSpPr>
        <p:spPr>
          <a:xfrm>
            <a:off x="10340961" y="228600"/>
            <a:ext cx="1548982" cy="58521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mity_online_logo.png"/>
          <p:cNvPicPr>
            <a:picLocks noChangeAspect="1"/>
          </p:cNvPicPr>
          <p:nvPr/>
        </p:nvPicPr>
        <p:blipFill>
          <a:blip r:embed="rId3"/>
          <a:stretch>
            <a:fillRect/>
          </a:stretch>
        </p:blipFill>
        <p:spPr>
          <a:xfrm>
            <a:off x="10450689" y="292608"/>
            <a:ext cx="1329526" cy="457200"/>
          </a:xfrm>
          <a:prstGeom prst="rect">
            <a:avLst/>
          </a:prstGeom>
        </p:spPr>
      </p:pic>
      <p:sp>
        <p:nvSpPr>
          <p:cNvPr id="10" name="TextBox 9"/>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C4B5FD"/>
                </a:solidFill>
                <a:latin typeface="Calibri"/>
              </a:rPr>
              <a:t/>
            </a:r>
          </a:p>
        </p:txBody>
      </p:sp>
      <p:sp>
        <p:nvSpPr>
          <p:cNvPr id="11" name="TextBox 10"/>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C4B5FD"/>
                </a:solidFill>
                <a:latin typeface="Calibri"/>
              </a:rPr>
              <a:t>3 / 19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TASK 1   |   LAUNCH STRATEGY   |   THE CONTRARIAN ONE PAGER</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Don't sell the campus. Sell the night.</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4 / 19</a:t>
            </a:r>
          </a:p>
        </p:txBody>
      </p:sp>
      <p:sp>
        <p:nvSpPr>
          <p:cNvPr id="8" name="TextBox 7"/>
          <p:cNvSpPr txBox="1"/>
          <p:nvPr/>
        </p:nvSpPr>
        <p:spPr>
          <a:xfrm>
            <a:off x="457200" y="1417320"/>
            <a:ext cx="11247120" cy="457200"/>
          </a:xfrm>
          <a:prstGeom prst="rect">
            <a:avLst/>
          </a:prstGeom>
          <a:noFill/>
        </p:spPr>
        <p:txBody>
          <a:bodyPr wrap="square" lIns="45720" rIns="45720" tIns="18288" bIns="18288" anchor="t">
            <a:spAutoFit/>
          </a:bodyPr>
          <a:lstStyle/>
          <a:p>
            <a:pPr algn="l">
              <a:lnSpc>
                <a:spcPct val="135000"/>
              </a:lnSpc>
            </a:pPr>
            <a:r>
              <a:rPr sz="1200" b="0" i="1">
                <a:solidFill>
                  <a:srgbClr val="52597A"/>
                </a:solidFill>
                <a:latin typeface="Calibri"/>
              </a:rPr>
              <a:t>Online learners chose online. Asking them to fly for a lecture fails. Asking them to fly for a concert, their family, and a graduation photo they never got, works.</a:t>
            </a:r>
          </a:p>
        </p:txBody>
      </p:sp>
      <p:sp>
        <p:nvSpPr>
          <p:cNvPr id="9" name="Rounded Rectangle 8"/>
          <p:cNvSpPr/>
          <p:nvPr/>
        </p:nvSpPr>
        <p:spPr>
          <a:xfrm>
            <a:off x="457200" y="2103120"/>
            <a:ext cx="3703320" cy="205740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103120"/>
            <a:ext cx="3703320" cy="640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286000"/>
            <a:ext cx="3200400" cy="274320"/>
          </a:xfrm>
          <a:prstGeom prst="rect">
            <a:avLst/>
          </a:prstGeom>
          <a:noFill/>
        </p:spPr>
        <p:txBody>
          <a:bodyPr wrap="square" lIns="45720" rIns="45720" tIns="18288" bIns="18288" anchor="t">
            <a:spAutoFit/>
          </a:bodyPr>
          <a:lstStyle/>
          <a:p>
            <a:pPr algn="l">
              <a:lnSpc>
                <a:spcPct val="125000"/>
              </a:lnSpc>
            </a:pPr>
            <a:r>
              <a:rPr sz="950" b="1" i="0">
                <a:solidFill>
                  <a:srgbClr val="14B8A6"/>
                </a:solidFill>
                <a:latin typeface="Calibri"/>
              </a:rPr>
              <a:t>OPPORTUNITY</a:t>
            </a:r>
          </a:p>
        </p:txBody>
      </p:sp>
      <p:sp>
        <p:nvSpPr>
          <p:cNvPr id="12" name="TextBox 11"/>
          <p:cNvSpPr txBox="1"/>
          <p:nvPr/>
        </p:nvSpPr>
        <p:spPr>
          <a:xfrm>
            <a:off x="685800" y="2560320"/>
            <a:ext cx="3337560" cy="640080"/>
          </a:xfrm>
          <a:prstGeom prst="rect">
            <a:avLst/>
          </a:prstGeom>
          <a:noFill/>
        </p:spPr>
        <p:txBody>
          <a:bodyPr wrap="square" lIns="45720" rIns="45720" tIns="18288" bIns="18288" anchor="t">
            <a:spAutoFit/>
          </a:bodyPr>
          <a:lstStyle/>
          <a:p>
            <a:pPr algn="l">
              <a:lnSpc>
                <a:spcPct val="115000"/>
              </a:lnSpc>
            </a:pPr>
            <a:r>
              <a:rPr sz="1400" b="1" i="0">
                <a:solidFill>
                  <a:srgbClr val="1E1B4B"/>
                </a:solidFill>
                <a:latin typeface="Calibri"/>
              </a:rPr>
              <a:t>Largest online base. Lowest in person presence.</a:t>
            </a:r>
          </a:p>
        </p:txBody>
      </p:sp>
      <p:sp>
        <p:nvSpPr>
          <p:cNvPr id="13" name="TextBox 12"/>
          <p:cNvSpPr txBox="1"/>
          <p:nvPr/>
        </p:nvSpPr>
        <p:spPr>
          <a:xfrm>
            <a:off x="685800" y="3200400"/>
            <a:ext cx="3337560" cy="914400"/>
          </a:xfrm>
          <a:prstGeom prst="rect">
            <a:avLst/>
          </a:prstGeom>
          <a:noFill/>
        </p:spPr>
        <p:txBody>
          <a:bodyPr wrap="square" lIns="45720" rIns="45720" tIns="18288" bIns="18288">
            <a:spAutoFit/>
          </a:bodyPr>
          <a:lstStyle/>
          <a:p>
            <a:pPr algn="l">
              <a:lnSpc>
                <a:spcPct val="140000"/>
              </a:lnSpc>
              <a:spcBef>
                <a:spcPts val="400"/>
              </a:spcBef>
            </a:pPr>
            <a:r>
              <a:rPr sz="969" b="1">
                <a:solidFill>
                  <a:srgbClr val="14B8A6"/>
                </a:solidFill>
                <a:latin typeface="Calibri"/>
              </a:rPr>
              <a:t>• </a:t>
            </a:r>
            <a:r>
              <a:rPr sz="969">
                <a:solidFill>
                  <a:srgbClr val="1E1B4B"/>
                </a:solidFill>
                <a:latin typeface="Calibri"/>
              </a:rPr>
              <a:t>2,50,000+ learners. Almost zero campus footprint.</a:t>
            </a:r>
          </a:p>
          <a:p>
            <a:pPr algn="l">
              <a:lnSpc>
                <a:spcPct val="140000"/>
              </a:lnSpc>
              <a:spcBef>
                <a:spcPts val="400"/>
              </a:spcBef>
            </a:pPr>
            <a:r>
              <a:rPr sz="969" b="1">
                <a:solidFill>
                  <a:srgbClr val="14B8A6"/>
                </a:solidFill>
                <a:latin typeface="Calibri"/>
              </a:rPr>
              <a:t>• </a:t>
            </a:r>
            <a:r>
              <a:rPr sz="969">
                <a:solidFill>
                  <a:srgbClr val="1E1B4B"/>
                </a:solidFill>
                <a:latin typeface="Calibri"/>
              </a:rPr>
              <a:t>450+ hiring partners but no proof in the photo.</a:t>
            </a:r>
          </a:p>
          <a:p>
            <a:pPr algn="l">
              <a:lnSpc>
                <a:spcPct val="140000"/>
              </a:lnSpc>
              <a:spcBef>
                <a:spcPts val="400"/>
              </a:spcBef>
            </a:pPr>
            <a:r>
              <a:rPr sz="969" b="1">
                <a:solidFill>
                  <a:srgbClr val="14B8A6"/>
                </a:solidFill>
                <a:latin typeface="Calibri"/>
              </a:rPr>
              <a:t>• </a:t>
            </a:r>
            <a:r>
              <a:rPr sz="969">
                <a:solidFill>
                  <a:srgbClr val="1E1B4B"/>
                </a:solidFill>
                <a:latin typeface="Calibri"/>
              </a:rPr>
              <a:t>That gap is our wedge.</a:t>
            </a:r>
          </a:p>
        </p:txBody>
      </p:sp>
      <p:sp>
        <p:nvSpPr>
          <p:cNvPr id="14" name="Rounded Rectangle 13"/>
          <p:cNvSpPr/>
          <p:nvPr/>
        </p:nvSpPr>
        <p:spPr>
          <a:xfrm>
            <a:off x="4325112" y="2103120"/>
            <a:ext cx="3703320" cy="205740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25112" y="2103120"/>
            <a:ext cx="3703320" cy="6400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3712" y="2286000"/>
            <a:ext cx="3200400" cy="274320"/>
          </a:xfrm>
          <a:prstGeom prst="rect">
            <a:avLst/>
          </a:prstGeom>
          <a:noFill/>
        </p:spPr>
        <p:txBody>
          <a:bodyPr wrap="square" lIns="45720" rIns="45720" tIns="18288" bIns="18288" anchor="t">
            <a:spAutoFit/>
          </a:bodyPr>
          <a:lstStyle/>
          <a:p>
            <a:pPr algn="l">
              <a:lnSpc>
                <a:spcPct val="125000"/>
              </a:lnSpc>
            </a:pPr>
            <a:r>
              <a:rPr sz="950" b="1" i="0">
                <a:solidFill>
                  <a:srgbClr val="06B6D4"/>
                </a:solidFill>
                <a:latin typeface="Calibri"/>
              </a:rPr>
              <a:t>TARGET   |   JOB TO BE DONE</a:t>
            </a:r>
          </a:p>
        </p:txBody>
      </p:sp>
      <p:sp>
        <p:nvSpPr>
          <p:cNvPr id="17" name="TextBox 16"/>
          <p:cNvSpPr txBox="1"/>
          <p:nvPr/>
        </p:nvSpPr>
        <p:spPr>
          <a:xfrm>
            <a:off x="4553712" y="2560320"/>
            <a:ext cx="3337560" cy="640080"/>
          </a:xfrm>
          <a:prstGeom prst="rect">
            <a:avLst/>
          </a:prstGeom>
          <a:noFill/>
        </p:spPr>
        <p:txBody>
          <a:bodyPr wrap="square" lIns="45720" rIns="45720" tIns="18288" bIns="18288" anchor="t">
            <a:spAutoFit/>
          </a:bodyPr>
          <a:lstStyle/>
          <a:p>
            <a:pPr algn="l">
              <a:lnSpc>
                <a:spcPct val="115000"/>
              </a:lnSpc>
            </a:pPr>
            <a:r>
              <a:rPr sz="1400" b="1" i="0">
                <a:solidFill>
                  <a:srgbClr val="1E1B4B"/>
                </a:solidFill>
                <a:latin typeface="Calibri"/>
              </a:rPr>
              <a:t>Rohit. 28. Has never seen the campus he paid for.</a:t>
            </a:r>
          </a:p>
        </p:txBody>
      </p:sp>
      <p:sp>
        <p:nvSpPr>
          <p:cNvPr id="18" name="TextBox 17"/>
          <p:cNvSpPr txBox="1"/>
          <p:nvPr/>
        </p:nvSpPr>
        <p:spPr>
          <a:xfrm>
            <a:off x="4553712" y="3200400"/>
            <a:ext cx="3337560" cy="914400"/>
          </a:xfrm>
          <a:prstGeom prst="rect">
            <a:avLst/>
          </a:prstGeom>
          <a:noFill/>
        </p:spPr>
        <p:txBody>
          <a:bodyPr wrap="square" lIns="45720" rIns="45720" tIns="18288" bIns="18288">
            <a:spAutoFit/>
          </a:bodyPr>
          <a:lstStyle/>
          <a:p>
            <a:pPr algn="l">
              <a:lnSpc>
                <a:spcPct val="140000"/>
              </a:lnSpc>
              <a:spcBef>
                <a:spcPts val="400"/>
              </a:spcBef>
            </a:pPr>
            <a:r>
              <a:rPr sz="969" b="1">
                <a:solidFill>
                  <a:srgbClr val="06B6D4"/>
                </a:solidFill>
                <a:latin typeface="Calibri"/>
              </a:rPr>
              <a:t>• </a:t>
            </a:r>
            <a:r>
              <a:rPr sz="969">
                <a:solidFill>
                  <a:srgbClr val="1E1B4B"/>
                </a:solidFill>
                <a:latin typeface="Calibri"/>
              </a:rPr>
              <a:t>Wants the Amity name his family is proud of.</a:t>
            </a:r>
          </a:p>
          <a:p>
            <a:pPr algn="l">
              <a:lnSpc>
                <a:spcPct val="140000"/>
              </a:lnSpc>
              <a:spcBef>
                <a:spcPts val="400"/>
              </a:spcBef>
            </a:pPr>
            <a:r>
              <a:rPr sz="969" b="1">
                <a:solidFill>
                  <a:srgbClr val="06B6D4"/>
                </a:solidFill>
                <a:latin typeface="Calibri"/>
              </a:rPr>
              <a:t>• </a:t>
            </a:r>
            <a:r>
              <a:rPr sz="969">
                <a:solidFill>
                  <a:srgbClr val="1E1B4B"/>
                </a:solidFill>
                <a:latin typeface="Calibri"/>
              </a:rPr>
              <a:t>Will not fly for a lecture.</a:t>
            </a:r>
          </a:p>
          <a:p>
            <a:pPr algn="l">
              <a:lnSpc>
                <a:spcPct val="140000"/>
              </a:lnSpc>
              <a:spcBef>
                <a:spcPts val="400"/>
              </a:spcBef>
            </a:pPr>
            <a:r>
              <a:rPr sz="969" b="1">
                <a:solidFill>
                  <a:srgbClr val="06B6D4"/>
                </a:solidFill>
                <a:latin typeface="Calibri"/>
              </a:rPr>
              <a:t>• </a:t>
            </a:r>
            <a:r>
              <a:rPr sz="969">
                <a:solidFill>
                  <a:srgbClr val="1E1B4B"/>
                </a:solidFill>
                <a:latin typeface="Calibri"/>
              </a:rPr>
              <a:t>Will fly for a concert, comedy, and a photograph.</a:t>
            </a:r>
          </a:p>
        </p:txBody>
      </p:sp>
      <p:sp>
        <p:nvSpPr>
          <p:cNvPr id="19" name="Rounded Rectangle 18"/>
          <p:cNvSpPr/>
          <p:nvPr/>
        </p:nvSpPr>
        <p:spPr>
          <a:xfrm>
            <a:off x="8193024" y="2103120"/>
            <a:ext cx="3703320" cy="205740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193024" y="2103120"/>
            <a:ext cx="3703320" cy="6400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2286000"/>
            <a:ext cx="3200400" cy="274320"/>
          </a:xfrm>
          <a:prstGeom prst="rect">
            <a:avLst/>
          </a:prstGeom>
          <a:noFill/>
        </p:spPr>
        <p:txBody>
          <a:bodyPr wrap="square" lIns="45720" rIns="45720" tIns="18288" bIns="18288" anchor="t">
            <a:spAutoFit/>
          </a:bodyPr>
          <a:lstStyle/>
          <a:p>
            <a:pPr algn="l">
              <a:lnSpc>
                <a:spcPct val="125000"/>
              </a:lnSpc>
            </a:pPr>
            <a:r>
              <a:rPr sz="950" b="1" i="0">
                <a:solidFill>
                  <a:srgbClr val="A855F7"/>
                </a:solidFill>
                <a:latin typeface="Calibri"/>
              </a:rPr>
              <a:t>POSITIONING</a:t>
            </a:r>
          </a:p>
        </p:txBody>
      </p:sp>
      <p:sp>
        <p:nvSpPr>
          <p:cNvPr id="22" name="TextBox 21"/>
          <p:cNvSpPr txBox="1"/>
          <p:nvPr/>
        </p:nvSpPr>
        <p:spPr>
          <a:xfrm>
            <a:off x="8421624" y="2560320"/>
            <a:ext cx="3337560" cy="640080"/>
          </a:xfrm>
          <a:prstGeom prst="rect">
            <a:avLst/>
          </a:prstGeom>
          <a:noFill/>
        </p:spPr>
        <p:txBody>
          <a:bodyPr wrap="square" lIns="45720" rIns="45720" tIns="18288" bIns="18288" anchor="t">
            <a:spAutoFit/>
          </a:bodyPr>
          <a:lstStyle/>
          <a:p>
            <a:pPr algn="l">
              <a:lnSpc>
                <a:spcPct val="115000"/>
              </a:lnSpc>
            </a:pPr>
            <a:r>
              <a:rPr sz="1400" b="1" i="0">
                <a:solidFill>
                  <a:srgbClr val="1E1B4B"/>
                </a:solidFill>
                <a:latin typeface="Calibri"/>
              </a:rPr>
              <a:t>The only online university where you walk the stage.</a:t>
            </a:r>
          </a:p>
        </p:txBody>
      </p:sp>
      <p:sp>
        <p:nvSpPr>
          <p:cNvPr id="23" name="TextBox 22"/>
          <p:cNvSpPr txBox="1"/>
          <p:nvPr/>
        </p:nvSpPr>
        <p:spPr>
          <a:xfrm>
            <a:off x="8421624" y="3200400"/>
            <a:ext cx="3337560" cy="914400"/>
          </a:xfrm>
          <a:prstGeom prst="rect">
            <a:avLst/>
          </a:prstGeom>
          <a:noFill/>
        </p:spPr>
        <p:txBody>
          <a:bodyPr wrap="square" lIns="45720" rIns="45720" tIns="18288" bIns="18288">
            <a:spAutoFit/>
          </a:bodyPr>
          <a:lstStyle/>
          <a:p>
            <a:pPr algn="l">
              <a:lnSpc>
                <a:spcPct val="140000"/>
              </a:lnSpc>
              <a:spcBef>
                <a:spcPts val="400"/>
              </a:spcBef>
            </a:pPr>
            <a:r>
              <a:rPr sz="969" b="1">
                <a:solidFill>
                  <a:srgbClr val="A855F7"/>
                </a:solidFill>
                <a:latin typeface="Calibri"/>
              </a:rPr>
              <a:t>• </a:t>
            </a:r>
            <a:r>
              <a:rPr sz="969">
                <a:solidFill>
                  <a:srgbClr val="1E1B4B"/>
                </a:solidFill>
                <a:latin typeface="Calibri"/>
              </a:rPr>
              <a:t>Don't compete on price.</a:t>
            </a:r>
          </a:p>
          <a:p>
            <a:pPr algn="l">
              <a:lnSpc>
                <a:spcPct val="140000"/>
              </a:lnSpc>
              <a:spcBef>
                <a:spcPts val="400"/>
              </a:spcBef>
            </a:pPr>
            <a:r>
              <a:rPr sz="969" b="1">
                <a:solidFill>
                  <a:srgbClr val="A855F7"/>
                </a:solidFill>
                <a:latin typeface="Calibri"/>
              </a:rPr>
              <a:t>• </a:t>
            </a:r>
            <a:r>
              <a:rPr sz="969">
                <a:solidFill>
                  <a:srgbClr val="1E1B4B"/>
                </a:solidFill>
                <a:latin typeface="Calibri"/>
              </a:rPr>
              <a:t>Compete on the night, the family, and the photo.</a:t>
            </a:r>
          </a:p>
          <a:p>
            <a:pPr algn="l">
              <a:lnSpc>
                <a:spcPct val="140000"/>
              </a:lnSpc>
              <a:spcBef>
                <a:spcPts val="400"/>
              </a:spcBef>
            </a:pPr>
            <a:r>
              <a:rPr sz="969" b="1">
                <a:solidFill>
                  <a:srgbClr val="A855F7"/>
                </a:solidFill>
                <a:latin typeface="Calibri"/>
              </a:rPr>
              <a:t>• </a:t>
            </a:r>
            <a:r>
              <a:rPr sz="969">
                <a:solidFill>
                  <a:srgbClr val="1E1B4B"/>
                </a:solidFill>
                <a:latin typeface="Calibri"/>
              </a:rPr>
              <a:t>The brand promise is the experience, not the screen.</a:t>
            </a:r>
          </a:p>
        </p:txBody>
      </p:sp>
      <p:sp>
        <p:nvSpPr>
          <p:cNvPr id="24" name="TextBox 23"/>
          <p:cNvSpPr txBox="1"/>
          <p:nvPr/>
        </p:nvSpPr>
        <p:spPr>
          <a:xfrm>
            <a:off x="457200" y="4389120"/>
            <a:ext cx="10972800" cy="365760"/>
          </a:xfrm>
          <a:prstGeom prst="rect">
            <a:avLst/>
          </a:prstGeom>
          <a:noFill/>
        </p:spPr>
        <p:txBody>
          <a:bodyPr wrap="square" lIns="45720" rIns="45720" tIns="18288" bIns="18288" anchor="t">
            <a:spAutoFit/>
          </a:bodyPr>
          <a:lstStyle/>
          <a:p>
            <a:pPr algn="l">
              <a:lnSpc>
                <a:spcPct val="125000"/>
              </a:lnSpc>
            </a:pPr>
            <a:r>
              <a:rPr sz="1100" b="1" i="0">
                <a:solidFill>
                  <a:srgbClr val="1E1B4B"/>
                </a:solidFill>
                <a:latin typeface="Calibri"/>
              </a:rPr>
              <a:t>FIVE BIG BETS   |   The moves a top tier marketer makes.</a:t>
            </a:r>
          </a:p>
        </p:txBody>
      </p:sp>
      <p:sp>
        <p:nvSpPr>
          <p:cNvPr id="25" name="TextBox 24"/>
          <p:cNvSpPr txBox="1"/>
          <p:nvPr/>
        </p:nvSpPr>
        <p:spPr>
          <a:xfrm>
            <a:off x="457200" y="4681728"/>
            <a:ext cx="10972800" cy="274320"/>
          </a:xfrm>
          <a:prstGeom prst="rect">
            <a:avLst/>
          </a:prstGeom>
          <a:noFill/>
        </p:spPr>
        <p:txBody>
          <a:bodyPr wrap="square" lIns="45720" rIns="45720" tIns="18288" bIns="18288" anchor="t">
            <a:spAutoFit/>
          </a:bodyPr>
          <a:lstStyle/>
          <a:p>
            <a:pPr algn="l">
              <a:lnSpc>
                <a:spcPct val="125000"/>
              </a:lnSpc>
            </a:pPr>
            <a:r>
              <a:rPr sz="1000" b="0" i="1">
                <a:solidFill>
                  <a:srgbClr val="52597A"/>
                </a:solidFill>
                <a:latin typeface="Calibri"/>
              </a:rPr>
              <a:t>Each one is contrarian. Each one is doable inside the Phase 1 budget.</a:t>
            </a:r>
          </a:p>
        </p:txBody>
      </p:sp>
      <p:sp>
        <p:nvSpPr>
          <p:cNvPr id="26" name="Rounded Rectangle 25"/>
          <p:cNvSpPr/>
          <p:nvPr/>
        </p:nvSpPr>
        <p:spPr>
          <a:xfrm>
            <a:off x="457200" y="5166360"/>
            <a:ext cx="2145182" cy="13258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5166360"/>
            <a:ext cx="2145182" cy="640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330952"/>
            <a:ext cx="640080" cy="274320"/>
          </a:xfrm>
          <a:prstGeom prst="rect">
            <a:avLst/>
          </a:prstGeom>
          <a:noFill/>
        </p:spPr>
        <p:txBody>
          <a:bodyPr wrap="square" lIns="45720" rIns="45720" tIns="18288" bIns="18288" anchor="t">
            <a:spAutoFit/>
          </a:bodyPr>
          <a:lstStyle/>
          <a:p>
            <a:pPr algn="l">
              <a:lnSpc>
                <a:spcPct val="100000"/>
              </a:lnSpc>
            </a:pPr>
            <a:r>
              <a:rPr sz="1400" b="1" i="0">
                <a:solidFill>
                  <a:srgbClr val="14B8A6"/>
                </a:solidFill>
                <a:latin typeface="Calibri"/>
              </a:rPr>
              <a:t>01</a:t>
            </a:r>
          </a:p>
        </p:txBody>
      </p:sp>
      <p:sp>
        <p:nvSpPr>
          <p:cNvPr id="29" name="TextBox 28"/>
          <p:cNvSpPr txBox="1"/>
          <p:nvPr/>
        </p:nvSpPr>
        <p:spPr>
          <a:xfrm>
            <a:off x="640080" y="5605272"/>
            <a:ext cx="1870862" cy="365760"/>
          </a:xfrm>
          <a:prstGeom prst="rect">
            <a:avLst/>
          </a:prstGeom>
          <a:noFill/>
        </p:spPr>
        <p:txBody>
          <a:bodyPr wrap="square" lIns="45720" rIns="45720" tIns="18288" bIns="18288" anchor="t">
            <a:spAutoFit/>
          </a:bodyPr>
          <a:lstStyle/>
          <a:p>
            <a:pPr algn="l">
              <a:lnSpc>
                <a:spcPct val="105000"/>
              </a:lnSpc>
            </a:pPr>
            <a:r>
              <a:rPr sz="1100" b="1" i="0">
                <a:solidFill>
                  <a:srgbClr val="1E1B4B"/>
                </a:solidFill>
                <a:latin typeface="Calibri"/>
              </a:rPr>
              <a:t>SELL THE CONCERT.</a:t>
            </a:r>
          </a:p>
        </p:txBody>
      </p:sp>
      <p:sp>
        <p:nvSpPr>
          <p:cNvPr id="30" name="TextBox 29"/>
          <p:cNvSpPr txBox="1"/>
          <p:nvPr/>
        </p:nvSpPr>
        <p:spPr>
          <a:xfrm>
            <a:off x="640080" y="5943600"/>
            <a:ext cx="1870862" cy="548640"/>
          </a:xfrm>
          <a:prstGeom prst="rect">
            <a:avLst/>
          </a:prstGeom>
          <a:noFill/>
        </p:spPr>
        <p:txBody>
          <a:bodyPr wrap="square" lIns="45720" rIns="45720" tIns="18288" bIns="18288" anchor="t">
            <a:spAutoFit/>
          </a:bodyPr>
          <a:lstStyle/>
          <a:p>
            <a:pPr algn="l">
              <a:lnSpc>
                <a:spcPct val="130000"/>
              </a:lnSpc>
            </a:pPr>
            <a:r>
              <a:rPr sz="930" b="0" i="1">
                <a:solidFill>
                  <a:srgbClr val="1E1B4B"/>
                </a:solidFill>
                <a:latin typeface="Calibri"/>
              </a:rPr>
              <a:t>Headline event = top comedian or creator. Campus walk is the bonus.</a:t>
            </a:r>
          </a:p>
        </p:txBody>
      </p:sp>
      <p:sp>
        <p:nvSpPr>
          <p:cNvPr id="31" name="Rounded Rectangle 30"/>
          <p:cNvSpPr/>
          <p:nvPr/>
        </p:nvSpPr>
        <p:spPr>
          <a:xfrm>
            <a:off x="2739542" y="5166360"/>
            <a:ext cx="2145182" cy="13258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739542" y="5166360"/>
            <a:ext cx="2145182" cy="6400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922422" y="5330952"/>
            <a:ext cx="640080" cy="274320"/>
          </a:xfrm>
          <a:prstGeom prst="rect">
            <a:avLst/>
          </a:prstGeom>
          <a:noFill/>
        </p:spPr>
        <p:txBody>
          <a:bodyPr wrap="square" lIns="45720" rIns="45720" tIns="18288" bIns="18288" anchor="t">
            <a:spAutoFit/>
          </a:bodyPr>
          <a:lstStyle/>
          <a:p>
            <a:pPr algn="l">
              <a:lnSpc>
                <a:spcPct val="100000"/>
              </a:lnSpc>
            </a:pPr>
            <a:r>
              <a:rPr sz="1400" b="1" i="0">
                <a:solidFill>
                  <a:srgbClr val="06B6D4"/>
                </a:solidFill>
                <a:latin typeface="Calibri"/>
              </a:rPr>
              <a:t>02</a:t>
            </a:r>
          </a:p>
        </p:txBody>
      </p:sp>
      <p:sp>
        <p:nvSpPr>
          <p:cNvPr id="34" name="TextBox 33"/>
          <p:cNvSpPr txBox="1"/>
          <p:nvPr/>
        </p:nvSpPr>
        <p:spPr>
          <a:xfrm>
            <a:off x="2922422" y="5605272"/>
            <a:ext cx="1870862" cy="365760"/>
          </a:xfrm>
          <a:prstGeom prst="rect">
            <a:avLst/>
          </a:prstGeom>
          <a:noFill/>
        </p:spPr>
        <p:txBody>
          <a:bodyPr wrap="square" lIns="45720" rIns="45720" tIns="18288" bIns="18288" anchor="t">
            <a:spAutoFit/>
          </a:bodyPr>
          <a:lstStyle/>
          <a:p>
            <a:pPr algn="l">
              <a:lnSpc>
                <a:spcPct val="105000"/>
              </a:lnSpc>
            </a:pPr>
            <a:r>
              <a:rPr sz="1100" b="1" i="0">
                <a:solidFill>
                  <a:srgbClr val="1E1B4B"/>
                </a:solidFill>
                <a:latin typeface="Calibri"/>
              </a:rPr>
              <a:t>BRING THE FAMILY.</a:t>
            </a:r>
          </a:p>
        </p:txBody>
      </p:sp>
      <p:sp>
        <p:nvSpPr>
          <p:cNvPr id="35" name="TextBox 34"/>
          <p:cNvSpPr txBox="1"/>
          <p:nvPr/>
        </p:nvSpPr>
        <p:spPr>
          <a:xfrm>
            <a:off x="2922422" y="5943600"/>
            <a:ext cx="1870862" cy="548640"/>
          </a:xfrm>
          <a:prstGeom prst="rect">
            <a:avLst/>
          </a:prstGeom>
          <a:noFill/>
        </p:spPr>
        <p:txBody>
          <a:bodyPr wrap="square" lIns="45720" rIns="45720" tIns="18288" bIns="18288" anchor="t">
            <a:spAutoFit/>
          </a:bodyPr>
          <a:lstStyle/>
          <a:p>
            <a:pPr algn="l">
              <a:lnSpc>
                <a:spcPct val="130000"/>
              </a:lnSpc>
            </a:pPr>
            <a:r>
              <a:rPr sz="930" b="0" i="1">
                <a:solidFill>
                  <a:srgbClr val="1E1B4B"/>
                </a:solidFill>
                <a:latin typeface="Calibri"/>
              </a:rPr>
              <a:t>Each ticket includes one parent. The photograph is the product.</a:t>
            </a:r>
          </a:p>
        </p:txBody>
      </p:sp>
      <p:sp>
        <p:nvSpPr>
          <p:cNvPr id="36" name="Rounded Rectangle 35"/>
          <p:cNvSpPr/>
          <p:nvPr/>
        </p:nvSpPr>
        <p:spPr>
          <a:xfrm>
            <a:off x="5021884" y="5166360"/>
            <a:ext cx="2145182" cy="13258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1884" y="5166360"/>
            <a:ext cx="2145182" cy="6400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204764" y="5330952"/>
            <a:ext cx="640080" cy="274320"/>
          </a:xfrm>
          <a:prstGeom prst="rect">
            <a:avLst/>
          </a:prstGeom>
          <a:noFill/>
        </p:spPr>
        <p:txBody>
          <a:bodyPr wrap="square" lIns="45720" rIns="45720" tIns="18288" bIns="18288" anchor="t">
            <a:spAutoFit/>
          </a:bodyPr>
          <a:lstStyle/>
          <a:p>
            <a:pPr algn="l">
              <a:lnSpc>
                <a:spcPct val="100000"/>
              </a:lnSpc>
            </a:pPr>
            <a:r>
              <a:rPr sz="1400" b="1" i="0">
                <a:solidFill>
                  <a:srgbClr val="A855F7"/>
                </a:solidFill>
                <a:latin typeface="Calibri"/>
              </a:rPr>
              <a:t>03</a:t>
            </a:r>
          </a:p>
        </p:txBody>
      </p:sp>
      <p:sp>
        <p:nvSpPr>
          <p:cNvPr id="39" name="TextBox 38"/>
          <p:cNvSpPr txBox="1"/>
          <p:nvPr/>
        </p:nvSpPr>
        <p:spPr>
          <a:xfrm>
            <a:off x="5204764" y="5605272"/>
            <a:ext cx="1870862" cy="365760"/>
          </a:xfrm>
          <a:prstGeom prst="rect">
            <a:avLst/>
          </a:prstGeom>
          <a:noFill/>
        </p:spPr>
        <p:txBody>
          <a:bodyPr wrap="square" lIns="45720" rIns="45720" tIns="18288" bIns="18288" anchor="t">
            <a:spAutoFit/>
          </a:bodyPr>
          <a:lstStyle/>
          <a:p>
            <a:pPr algn="l">
              <a:lnSpc>
                <a:spcPct val="105000"/>
              </a:lnSpc>
            </a:pPr>
            <a:r>
              <a:rPr sz="1100" b="1" i="0">
                <a:solidFill>
                  <a:srgbClr val="1E1B4B"/>
                </a:solidFill>
                <a:latin typeface="Calibri"/>
              </a:rPr>
              <a:t>SPONSORS PAY 50%.</a:t>
            </a:r>
          </a:p>
        </p:txBody>
      </p:sp>
      <p:sp>
        <p:nvSpPr>
          <p:cNvPr id="40" name="TextBox 39"/>
          <p:cNvSpPr txBox="1"/>
          <p:nvPr/>
        </p:nvSpPr>
        <p:spPr>
          <a:xfrm>
            <a:off x="5204764" y="5943600"/>
            <a:ext cx="1870862" cy="548640"/>
          </a:xfrm>
          <a:prstGeom prst="rect">
            <a:avLst/>
          </a:prstGeom>
          <a:noFill/>
        </p:spPr>
        <p:txBody>
          <a:bodyPr wrap="square" lIns="45720" rIns="45720" tIns="18288" bIns="18288" anchor="t">
            <a:spAutoFit/>
          </a:bodyPr>
          <a:lstStyle/>
          <a:p>
            <a:pPr algn="l">
              <a:lnSpc>
                <a:spcPct val="130000"/>
              </a:lnSpc>
            </a:pPr>
            <a:r>
              <a:rPr sz="930" b="0" i="1">
                <a:solidFill>
                  <a:srgbClr val="1E1B4B"/>
                </a:solidFill>
                <a:latin typeface="Calibri"/>
              </a:rPr>
              <a:t>Boat, Cred, MakeMyTrip stalls. We bring 2.5L learner reach.</a:t>
            </a:r>
          </a:p>
        </p:txBody>
      </p:sp>
      <p:sp>
        <p:nvSpPr>
          <p:cNvPr id="41" name="Rounded Rectangle 40"/>
          <p:cNvSpPr/>
          <p:nvPr/>
        </p:nvSpPr>
        <p:spPr>
          <a:xfrm>
            <a:off x="7304227" y="5166360"/>
            <a:ext cx="2145182" cy="13258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304227" y="5166360"/>
            <a:ext cx="2145182" cy="640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87107" y="5330952"/>
            <a:ext cx="640080" cy="274320"/>
          </a:xfrm>
          <a:prstGeom prst="rect">
            <a:avLst/>
          </a:prstGeom>
          <a:noFill/>
        </p:spPr>
        <p:txBody>
          <a:bodyPr wrap="square" lIns="45720" rIns="45720" tIns="18288" bIns="18288" anchor="t">
            <a:spAutoFit/>
          </a:bodyPr>
          <a:lstStyle/>
          <a:p>
            <a:pPr algn="l">
              <a:lnSpc>
                <a:spcPct val="100000"/>
              </a:lnSpc>
            </a:pPr>
            <a:r>
              <a:rPr sz="1400" b="1" i="0">
                <a:solidFill>
                  <a:srgbClr val="14B8A6"/>
                </a:solidFill>
                <a:latin typeface="Calibri"/>
              </a:rPr>
              <a:t>04</a:t>
            </a:r>
          </a:p>
        </p:txBody>
      </p:sp>
      <p:sp>
        <p:nvSpPr>
          <p:cNvPr id="44" name="TextBox 43"/>
          <p:cNvSpPr txBox="1"/>
          <p:nvPr/>
        </p:nvSpPr>
        <p:spPr>
          <a:xfrm>
            <a:off x="7487107" y="5605272"/>
            <a:ext cx="1870862" cy="365760"/>
          </a:xfrm>
          <a:prstGeom prst="rect">
            <a:avLst/>
          </a:prstGeom>
          <a:noFill/>
        </p:spPr>
        <p:txBody>
          <a:bodyPr wrap="square" lIns="45720" rIns="45720" tIns="18288" bIns="18288" anchor="t">
            <a:spAutoFit/>
          </a:bodyPr>
          <a:lstStyle/>
          <a:p>
            <a:pPr algn="l">
              <a:lnSpc>
                <a:spcPct val="105000"/>
              </a:lnSpc>
            </a:pPr>
            <a:r>
              <a:rPr sz="1100" b="1" i="0">
                <a:solidFill>
                  <a:srgbClr val="1E1B4B"/>
                </a:solidFill>
                <a:latin typeface="Calibri"/>
              </a:rPr>
              <a:t>OPEN MIC AUDITION.</a:t>
            </a:r>
          </a:p>
        </p:txBody>
      </p:sp>
      <p:sp>
        <p:nvSpPr>
          <p:cNvPr id="45" name="TextBox 44"/>
          <p:cNvSpPr txBox="1"/>
          <p:nvPr/>
        </p:nvSpPr>
        <p:spPr>
          <a:xfrm>
            <a:off x="7487107" y="5943600"/>
            <a:ext cx="1870862" cy="548640"/>
          </a:xfrm>
          <a:prstGeom prst="rect">
            <a:avLst/>
          </a:prstGeom>
          <a:noFill/>
        </p:spPr>
        <p:txBody>
          <a:bodyPr wrap="square" lIns="45720" rIns="45720" tIns="18288" bIns="18288" anchor="t">
            <a:spAutoFit/>
          </a:bodyPr>
          <a:lstStyle/>
          <a:p>
            <a:pPr algn="l">
              <a:lnSpc>
                <a:spcPct val="130000"/>
              </a:lnSpc>
            </a:pPr>
            <a:r>
              <a:rPr sz="930" b="0" i="1">
                <a:solidFill>
                  <a:srgbClr val="1E1B4B"/>
                </a:solidFill>
                <a:latin typeface="Calibri"/>
              </a:rPr>
              <a:t>Five learners win on beSocial. They open for the headliner.</a:t>
            </a:r>
          </a:p>
        </p:txBody>
      </p:sp>
      <p:sp>
        <p:nvSpPr>
          <p:cNvPr id="46" name="Rounded Rectangle 45"/>
          <p:cNvSpPr/>
          <p:nvPr/>
        </p:nvSpPr>
        <p:spPr>
          <a:xfrm>
            <a:off x="9586569" y="5166360"/>
            <a:ext cx="2145182" cy="13258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9586569" y="5166360"/>
            <a:ext cx="2145182" cy="6400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769449" y="5330952"/>
            <a:ext cx="640080" cy="274320"/>
          </a:xfrm>
          <a:prstGeom prst="rect">
            <a:avLst/>
          </a:prstGeom>
          <a:noFill/>
        </p:spPr>
        <p:txBody>
          <a:bodyPr wrap="square" lIns="45720" rIns="45720" tIns="18288" bIns="18288" anchor="t">
            <a:spAutoFit/>
          </a:bodyPr>
          <a:lstStyle/>
          <a:p>
            <a:pPr algn="l">
              <a:lnSpc>
                <a:spcPct val="100000"/>
              </a:lnSpc>
            </a:pPr>
            <a:r>
              <a:rPr sz="1400" b="1" i="0">
                <a:solidFill>
                  <a:srgbClr val="06B6D4"/>
                </a:solidFill>
                <a:latin typeface="Calibri"/>
              </a:rPr>
              <a:t>05</a:t>
            </a:r>
          </a:p>
        </p:txBody>
      </p:sp>
      <p:sp>
        <p:nvSpPr>
          <p:cNvPr id="49" name="TextBox 48"/>
          <p:cNvSpPr txBox="1"/>
          <p:nvPr/>
        </p:nvSpPr>
        <p:spPr>
          <a:xfrm>
            <a:off x="9769449" y="5605272"/>
            <a:ext cx="1870862" cy="365760"/>
          </a:xfrm>
          <a:prstGeom prst="rect">
            <a:avLst/>
          </a:prstGeom>
          <a:noFill/>
        </p:spPr>
        <p:txBody>
          <a:bodyPr wrap="square" lIns="45720" rIns="45720" tIns="18288" bIns="18288" anchor="t">
            <a:spAutoFit/>
          </a:bodyPr>
          <a:lstStyle/>
          <a:p>
            <a:pPr algn="l">
              <a:lnSpc>
                <a:spcPct val="105000"/>
              </a:lnSpc>
            </a:pPr>
            <a:r>
              <a:rPr sz="1100" b="1" i="0">
                <a:solidFill>
                  <a:srgbClr val="1E1B4B"/>
                </a:solidFill>
                <a:latin typeface="Calibri"/>
              </a:rPr>
              <a:t>DOCUSERIES, NOT AD.</a:t>
            </a:r>
          </a:p>
        </p:txBody>
      </p:sp>
      <p:sp>
        <p:nvSpPr>
          <p:cNvPr id="50" name="TextBox 49"/>
          <p:cNvSpPr txBox="1"/>
          <p:nvPr/>
        </p:nvSpPr>
        <p:spPr>
          <a:xfrm>
            <a:off x="9769449" y="5943600"/>
            <a:ext cx="1870862" cy="548640"/>
          </a:xfrm>
          <a:prstGeom prst="rect">
            <a:avLst/>
          </a:prstGeom>
          <a:noFill/>
        </p:spPr>
        <p:txBody>
          <a:bodyPr wrap="square" lIns="45720" rIns="45720" tIns="18288" bIns="18288" anchor="t">
            <a:spAutoFit/>
          </a:bodyPr>
          <a:lstStyle/>
          <a:p>
            <a:pPr algn="l">
              <a:lnSpc>
                <a:spcPct val="130000"/>
              </a:lnSpc>
            </a:pPr>
            <a:r>
              <a:rPr sz="930" b="0" i="1">
                <a:solidFill>
                  <a:srgbClr val="1E1B4B"/>
                </a:solidFill>
                <a:latin typeface="Calibri"/>
              </a:rPr>
              <a:t>Creator partner films Cohort 0. Distribution is built 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TASK 1   |   AMITY IGNITE, COHORT 0   |   THE FORMAT</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Day = campus. Dusk = convocation. Night = concert.</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5 / 19</a:t>
            </a:r>
          </a:p>
        </p:txBody>
      </p:sp>
      <p:sp>
        <p:nvSpPr>
          <p:cNvPr id="8" name="TextBox 7"/>
          <p:cNvSpPr txBox="1"/>
          <p:nvPr/>
        </p:nvSpPr>
        <p:spPr>
          <a:xfrm>
            <a:off x="457200" y="1417320"/>
            <a:ext cx="11247120" cy="365760"/>
          </a:xfrm>
          <a:prstGeom prst="rect">
            <a:avLst/>
          </a:prstGeom>
          <a:noFill/>
        </p:spPr>
        <p:txBody>
          <a:bodyPr wrap="square" lIns="45720" rIns="45720" tIns="18288" bIns="18288" anchor="t">
            <a:spAutoFit/>
          </a:bodyPr>
          <a:lstStyle/>
          <a:p>
            <a:pPr algn="l">
              <a:lnSpc>
                <a:spcPct val="135000"/>
              </a:lnSpc>
            </a:pPr>
            <a:r>
              <a:rPr sz="1150" b="0" i="1">
                <a:solidFill>
                  <a:srgbClr val="52597A"/>
                </a:solidFill>
                <a:latin typeface="Calibri"/>
              </a:rPr>
              <a:t>100 learners. 100 family members. One Noida campus. One headliner. Pilot first. Prove. Then take it to 6 cities.</a:t>
            </a:r>
          </a:p>
        </p:txBody>
      </p:sp>
      <p:pic>
        <p:nvPicPr>
          <p:cNvPr id="9" name="Picture 8" descr="students_group.jpg"/>
          <p:cNvPicPr>
            <a:picLocks noChangeAspect="1"/>
          </p:cNvPicPr>
          <p:nvPr/>
        </p:nvPicPr>
        <p:blipFill>
          <a:blip r:embed="rId3"/>
          <a:stretch>
            <a:fillRect/>
          </a:stretch>
        </p:blipFill>
        <p:spPr>
          <a:xfrm>
            <a:off x="457200" y="1920240"/>
            <a:ext cx="3291840" cy="3520440"/>
          </a:xfrm>
          <a:prstGeom prst="rect">
            <a:avLst/>
          </a:prstGeom>
        </p:spPr>
      </p:pic>
      <p:sp>
        <p:nvSpPr>
          <p:cNvPr id="10" name="Rectangle 9"/>
          <p:cNvSpPr/>
          <p:nvPr/>
        </p:nvSpPr>
        <p:spPr>
          <a:xfrm>
            <a:off x="457200" y="5120640"/>
            <a:ext cx="3291840" cy="365760"/>
          </a:xfrm>
          <a:prstGeom prst="rect">
            <a:avLst/>
          </a:prstGeom>
          <a:solidFill>
            <a:srgbClr val="100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138928"/>
            <a:ext cx="3291840" cy="365760"/>
          </a:xfrm>
          <a:prstGeom prst="rect">
            <a:avLst/>
          </a:prstGeom>
          <a:noFill/>
        </p:spPr>
        <p:txBody>
          <a:bodyPr wrap="square" lIns="45720" rIns="45720" tIns="18288" bIns="18288" anchor="t">
            <a:spAutoFit/>
          </a:bodyPr>
          <a:lstStyle/>
          <a:p>
            <a:pPr algn="l">
              <a:lnSpc>
                <a:spcPct val="125000"/>
              </a:lnSpc>
            </a:pPr>
            <a:r>
              <a:rPr sz="900" b="1" i="0">
                <a:solidFill>
                  <a:srgbClr val="14B8A6"/>
                </a:solidFill>
                <a:latin typeface="Calibri"/>
              </a:rPr>
              <a:t>1 DAY   |   100 LEARNERS + 100 FAMILY   |   1 HEADLINER</a:t>
            </a:r>
          </a:p>
        </p:txBody>
      </p:sp>
      <p:sp>
        <p:nvSpPr>
          <p:cNvPr id="12" name="Rounded Rectangle 11"/>
          <p:cNvSpPr/>
          <p:nvPr/>
        </p:nvSpPr>
        <p:spPr>
          <a:xfrm>
            <a:off x="457200" y="5577840"/>
            <a:ext cx="3291840" cy="960120"/>
          </a:xfrm>
          <a:prstGeom prst="roundRect">
            <a:avLst>
              <a:gd name="adj" fmla="val 3000"/>
            </a:avLst>
          </a:prstGeom>
          <a:solidFill>
            <a:srgbClr val="100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5650992"/>
            <a:ext cx="3108960" cy="274320"/>
          </a:xfrm>
          <a:prstGeom prst="rect">
            <a:avLst/>
          </a:prstGeom>
          <a:noFill/>
        </p:spPr>
        <p:txBody>
          <a:bodyPr wrap="square" lIns="45720" rIns="45720" tIns="18288" bIns="18288" anchor="t">
            <a:spAutoFit/>
          </a:bodyPr>
          <a:lstStyle/>
          <a:p>
            <a:pPr algn="l">
              <a:lnSpc>
                <a:spcPct val="125000"/>
              </a:lnSpc>
            </a:pPr>
            <a:r>
              <a:rPr sz="900" b="1" i="0">
                <a:solidFill>
                  <a:srgbClr val="14B8A6"/>
                </a:solidFill>
                <a:latin typeface="Calibri"/>
              </a:rPr>
              <a:t>WHY THIS WORKS</a:t>
            </a:r>
          </a:p>
        </p:txBody>
      </p:sp>
      <p:sp>
        <p:nvSpPr>
          <p:cNvPr id="14" name="TextBox 13"/>
          <p:cNvSpPr txBox="1"/>
          <p:nvPr/>
        </p:nvSpPr>
        <p:spPr>
          <a:xfrm>
            <a:off x="594360" y="5870448"/>
            <a:ext cx="3108960" cy="594360"/>
          </a:xfrm>
          <a:prstGeom prst="rect">
            <a:avLst/>
          </a:prstGeom>
          <a:noFill/>
        </p:spPr>
        <p:txBody>
          <a:bodyPr wrap="square" lIns="45720" rIns="45720" tIns="18288" bIns="18288" anchor="t">
            <a:spAutoFit/>
          </a:bodyPr>
          <a:lstStyle/>
          <a:p>
            <a:pPr algn="l">
              <a:lnSpc>
                <a:spcPct val="135000"/>
              </a:lnSpc>
            </a:pPr>
            <a:r>
              <a:rPr sz="1000" b="0" i="1">
                <a:solidFill>
                  <a:srgbClr val="FFFFFF"/>
                </a:solidFill>
                <a:latin typeface="Calibri"/>
              </a:rPr>
              <a:t>Indian parents have never seen the campus.</a:t>
            </a:r>
          </a:p>
          <a:p>
            <a:pPr algn="l">
              <a:lnSpc>
                <a:spcPct val="135000"/>
              </a:lnSpc>
            </a:pPr>
            <a:r>
              <a:rPr sz="1000" b="0" i="1">
                <a:solidFill>
                  <a:srgbClr val="FFFFFF"/>
                </a:solidFill>
                <a:latin typeface="Calibri"/>
              </a:rPr>
              <a:t>We give them a photograph they will frame.</a:t>
            </a:r>
          </a:p>
        </p:txBody>
      </p:sp>
      <p:sp>
        <p:nvSpPr>
          <p:cNvPr id="15" name="Rounded Rectangle 14"/>
          <p:cNvSpPr/>
          <p:nvPr/>
        </p:nvSpPr>
        <p:spPr>
          <a:xfrm>
            <a:off x="3931920" y="1920240"/>
            <a:ext cx="7818120" cy="1078992"/>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931920" y="1920240"/>
            <a:ext cx="91440" cy="1078992"/>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60520" y="2039112"/>
            <a:ext cx="2011680" cy="274320"/>
          </a:xfrm>
          <a:prstGeom prst="rect">
            <a:avLst/>
          </a:prstGeom>
          <a:noFill/>
        </p:spPr>
        <p:txBody>
          <a:bodyPr wrap="square" lIns="45720" rIns="45720" tIns="18288" bIns="18288" anchor="t">
            <a:spAutoFit/>
          </a:bodyPr>
          <a:lstStyle/>
          <a:p>
            <a:pPr algn="l">
              <a:lnSpc>
                <a:spcPct val="125000"/>
              </a:lnSpc>
            </a:pPr>
            <a:r>
              <a:rPr sz="880" b="1" i="0">
                <a:solidFill>
                  <a:srgbClr val="14B8A6"/>
                </a:solidFill>
                <a:latin typeface="Calibri"/>
              </a:rPr>
              <a:t>DAY  10:00 to 16:00</a:t>
            </a:r>
          </a:p>
        </p:txBody>
      </p:sp>
      <p:sp>
        <p:nvSpPr>
          <p:cNvPr id="18" name="TextBox 17"/>
          <p:cNvSpPr txBox="1"/>
          <p:nvPr/>
        </p:nvSpPr>
        <p:spPr>
          <a:xfrm>
            <a:off x="4160520" y="2286000"/>
            <a:ext cx="2286000" cy="457200"/>
          </a:xfrm>
          <a:prstGeom prst="rect">
            <a:avLst/>
          </a:prstGeom>
          <a:noFill/>
        </p:spPr>
        <p:txBody>
          <a:bodyPr wrap="square" lIns="45720" rIns="45720" tIns="18288" bIns="18288" anchor="t">
            <a:spAutoFit/>
          </a:bodyPr>
          <a:lstStyle/>
          <a:p>
            <a:pPr algn="l">
              <a:lnSpc>
                <a:spcPct val="100000"/>
              </a:lnSpc>
            </a:pPr>
            <a:r>
              <a:rPr sz="1500" b="1" i="0">
                <a:solidFill>
                  <a:srgbClr val="1E1B4B"/>
                </a:solidFill>
                <a:latin typeface="Calibri"/>
              </a:rPr>
              <a:t>BELONG.</a:t>
            </a:r>
          </a:p>
        </p:txBody>
      </p:sp>
      <p:sp>
        <p:nvSpPr>
          <p:cNvPr id="19" name="TextBox 18"/>
          <p:cNvSpPr txBox="1"/>
          <p:nvPr/>
        </p:nvSpPr>
        <p:spPr>
          <a:xfrm>
            <a:off x="6537960" y="2039112"/>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Welcome by Amity Online team. Campus walkthrough.</a:t>
            </a:r>
          </a:p>
        </p:txBody>
      </p:sp>
      <p:sp>
        <p:nvSpPr>
          <p:cNvPr id="20" name="TextBox 19"/>
          <p:cNvSpPr txBox="1"/>
          <p:nvPr/>
        </p:nvSpPr>
        <p:spPr>
          <a:xfrm>
            <a:off x="6537960" y="2331720"/>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Family lunch with faculty and select alumni.</a:t>
            </a:r>
          </a:p>
        </p:txBody>
      </p:sp>
      <p:sp>
        <p:nvSpPr>
          <p:cNvPr id="21" name="TextBox 20"/>
          <p:cNvSpPr txBox="1"/>
          <p:nvPr/>
        </p:nvSpPr>
        <p:spPr>
          <a:xfrm>
            <a:off x="6537960" y="2624328"/>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Two short masterclasses (Career, Industry).</a:t>
            </a:r>
          </a:p>
        </p:txBody>
      </p:sp>
      <p:sp>
        <p:nvSpPr>
          <p:cNvPr id="22" name="Rounded Rectangle 21"/>
          <p:cNvSpPr/>
          <p:nvPr/>
        </p:nvSpPr>
        <p:spPr>
          <a:xfrm>
            <a:off x="3931920" y="3090672"/>
            <a:ext cx="7818120" cy="1078992"/>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931920" y="3090672"/>
            <a:ext cx="91440" cy="1078992"/>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160520" y="3209544"/>
            <a:ext cx="2011680" cy="274320"/>
          </a:xfrm>
          <a:prstGeom prst="rect">
            <a:avLst/>
          </a:prstGeom>
          <a:noFill/>
        </p:spPr>
        <p:txBody>
          <a:bodyPr wrap="square" lIns="45720" rIns="45720" tIns="18288" bIns="18288" anchor="t">
            <a:spAutoFit/>
          </a:bodyPr>
          <a:lstStyle/>
          <a:p>
            <a:pPr algn="l">
              <a:lnSpc>
                <a:spcPct val="125000"/>
              </a:lnSpc>
            </a:pPr>
            <a:r>
              <a:rPr sz="880" b="1" i="0">
                <a:solidFill>
                  <a:srgbClr val="06B6D4"/>
                </a:solidFill>
                <a:latin typeface="Calibri"/>
              </a:rPr>
              <a:t>DUSK  16:30 to 17:30</a:t>
            </a:r>
          </a:p>
        </p:txBody>
      </p:sp>
      <p:sp>
        <p:nvSpPr>
          <p:cNvPr id="25" name="TextBox 24"/>
          <p:cNvSpPr txBox="1"/>
          <p:nvPr/>
        </p:nvSpPr>
        <p:spPr>
          <a:xfrm>
            <a:off x="4160520" y="3456432"/>
            <a:ext cx="2286000" cy="457200"/>
          </a:xfrm>
          <a:prstGeom prst="rect">
            <a:avLst/>
          </a:prstGeom>
          <a:noFill/>
        </p:spPr>
        <p:txBody>
          <a:bodyPr wrap="square" lIns="45720" rIns="45720" tIns="18288" bIns="18288" anchor="t">
            <a:spAutoFit/>
          </a:bodyPr>
          <a:lstStyle/>
          <a:p>
            <a:pPr algn="l">
              <a:lnSpc>
                <a:spcPct val="100000"/>
              </a:lnSpc>
            </a:pPr>
            <a:r>
              <a:rPr sz="1500" b="1" i="0">
                <a:solidFill>
                  <a:srgbClr val="1E1B4B"/>
                </a:solidFill>
                <a:latin typeface="Calibri"/>
              </a:rPr>
              <a:t>MINI CONVOCATION.</a:t>
            </a:r>
          </a:p>
        </p:txBody>
      </p:sp>
      <p:sp>
        <p:nvSpPr>
          <p:cNvPr id="26" name="TextBox 25"/>
          <p:cNvSpPr txBox="1"/>
          <p:nvPr/>
        </p:nvSpPr>
        <p:spPr>
          <a:xfrm>
            <a:off x="6537960" y="3209544"/>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Stole, certificate, photo on the convocation stage.</a:t>
            </a:r>
          </a:p>
        </p:txBody>
      </p:sp>
      <p:sp>
        <p:nvSpPr>
          <p:cNvPr id="27" name="TextBox 26"/>
          <p:cNvSpPr txBox="1"/>
          <p:nvPr/>
        </p:nvSpPr>
        <p:spPr>
          <a:xfrm>
            <a:off x="6537960" y="3502152"/>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Family in frame. Pro photographer + 60s reel each.</a:t>
            </a:r>
          </a:p>
        </p:txBody>
      </p:sp>
      <p:sp>
        <p:nvSpPr>
          <p:cNvPr id="28" name="TextBox 27"/>
          <p:cNvSpPr txBox="1"/>
          <p:nvPr/>
        </p:nvSpPr>
        <p:spPr>
          <a:xfrm>
            <a:off x="6537960" y="3794760"/>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The graduation moment online learners never got.</a:t>
            </a:r>
          </a:p>
        </p:txBody>
      </p:sp>
      <p:sp>
        <p:nvSpPr>
          <p:cNvPr id="29" name="Rounded Rectangle 28"/>
          <p:cNvSpPr/>
          <p:nvPr/>
        </p:nvSpPr>
        <p:spPr>
          <a:xfrm>
            <a:off x="3931920" y="4261104"/>
            <a:ext cx="7818120" cy="1078992"/>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931920" y="4261104"/>
            <a:ext cx="91440" cy="1078992"/>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60520" y="4379976"/>
            <a:ext cx="2011680" cy="274320"/>
          </a:xfrm>
          <a:prstGeom prst="rect">
            <a:avLst/>
          </a:prstGeom>
          <a:noFill/>
        </p:spPr>
        <p:txBody>
          <a:bodyPr wrap="square" lIns="45720" rIns="45720" tIns="18288" bIns="18288" anchor="t">
            <a:spAutoFit/>
          </a:bodyPr>
          <a:lstStyle/>
          <a:p>
            <a:pPr algn="l">
              <a:lnSpc>
                <a:spcPct val="125000"/>
              </a:lnSpc>
            </a:pPr>
            <a:r>
              <a:rPr sz="880" b="1" i="0">
                <a:solidFill>
                  <a:srgbClr val="A855F7"/>
                </a:solidFill>
                <a:latin typeface="Calibri"/>
              </a:rPr>
              <a:t>NIGHT  18:00 to 21:00</a:t>
            </a:r>
          </a:p>
        </p:txBody>
      </p:sp>
      <p:sp>
        <p:nvSpPr>
          <p:cNvPr id="32" name="TextBox 31"/>
          <p:cNvSpPr txBox="1"/>
          <p:nvPr/>
        </p:nvSpPr>
        <p:spPr>
          <a:xfrm>
            <a:off x="4160520" y="4626864"/>
            <a:ext cx="2286000" cy="457200"/>
          </a:xfrm>
          <a:prstGeom prst="rect">
            <a:avLst/>
          </a:prstGeom>
          <a:noFill/>
        </p:spPr>
        <p:txBody>
          <a:bodyPr wrap="square" lIns="45720" rIns="45720" tIns="18288" bIns="18288" anchor="t">
            <a:spAutoFit/>
          </a:bodyPr>
          <a:lstStyle/>
          <a:p>
            <a:pPr algn="l">
              <a:lnSpc>
                <a:spcPct val="100000"/>
              </a:lnSpc>
            </a:pPr>
            <a:r>
              <a:rPr sz="1500" b="1" i="0">
                <a:solidFill>
                  <a:srgbClr val="1E1B4B"/>
                </a:solidFill>
                <a:latin typeface="Calibri"/>
              </a:rPr>
              <a:t>CONCERT.</a:t>
            </a:r>
          </a:p>
        </p:txBody>
      </p:sp>
      <p:sp>
        <p:nvSpPr>
          <p:cNvPr id="33" name="TextBox 32"/>
          <p:cNvSpPr txBox="1"/>
          <p:nvPr/>
        </p:nvSpPr>
        <p:spPr>
          <a:xfrm>
            <a:off x="6537960" y="4379976"/>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Headliner. Top comedian or creator (Rs 8 to 15 lakh).</a:t>
            </a:r>
          </a:p>
        </p:txBody>
      </p:sp>
      <p:sp>
        <p:nvSpPr>
          <p:cNvPr id="34" name="TextBox 33"/>
          <p:cNvSpPr txBox="1"/>
          <p:nvPr/>
        </p:nvSpPr>
        <p:spPr>
          <a:xfrm>
            <a:off x="6537960" y="4672584"/>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Five learner finalists open via beSocial audition.</a:t>
            </a:r>
          </a:p>
        </p:txBody>
      </p:sp>
      <p:sp>
        <p:nvSpPr>
          <p:cNvPr id="35" name="TextBox 34"/>
          <p:cNvSpPr txBox="1"/>
          <p:nvPr/>
        </p:nvSpPr>
        <p:spPr>
          <a:xfrm>
            <a:off x="6537960" y="4965192"/>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Brand stalls. Boat, Cred, MakeMyTrip. Sponsor offset.</a:t>
            </a:r>
          </a:p>
        </p:txBody>
      </p:sp>
      <p:sp>
        <p:nvSpPr>
          <p:cNvPr id="36" name="Rounded Rectangle 35"/>
          <p:cNvSpPr/>
          <p:nvPr/>
        </p:nvSpPr>
        <p:spPr>
          <a:xfrm>
            <a:off x="3931920" y="5431536"/>
            <a:ext cx="7818120" cy="1078992"/>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931920" y="5431536"/>
            <a:ext cx="91440" cy="1078992"/>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160520" y="5550408"/>
            <a:ext cx="2011680" cy="274320"/>
          </a:xfrm>
          <a:prstGeom prst="rect">
            <a:avLst/>
          </a:prstGeom>
          <a:noFill/>
        </p:spPr>
        <p:txBody>
          <a:bodyPr wrap="square" lIns="45720" rIns="45720" tIns="18288" bIns="18288" anchor="t">
            <a:spAutoFit/>
          </a:bodyPr>
          <a:lstStyle/>
          <a:p>
            <a:pPr algn="l">
              <a:lnSpc>
                <a:spcPct val="125000"/>
              </a:lnSpc>
            </a:pPr>
            <a:r>
              <a:rPr sz="880" b="1" i="0">
                <a:solidFill>
                  <a:srgbClr val="1E1B4B"/>
                </a:solidFill>
                <a:latin typeface="Calibri"/>
              </a:rPr>
              <a:t>AFTER  T+7 to T+30</a:t>
            </a:r>
          </a:p>
        </p:txBody>
      </p:sp>
      <p:sp>
        <p:nvSpPr>
          <p:cNvPr id="39" name="TextBox 38"/>
          <p:cNvSpPr txBox="1"/>
          <p:nvPr/>
        </p:nvSpPr>
        <p:spPr>
          <a:xfrm>
            <a:off x="4160520" y="5797296"/>
            <a:ext cx="2286000" cy="457200"/>
          </a:xfrm>
          <a:prstGeom prst="rect">
            <a:avLst/>
          </a:prstGeom>
          <a:noFill/>
        </p:spPr>
        <p:txBody>
          <a:bodyPr wrap="square" lIns="45720" rIns="45720" tIns="18288" bIns="18288" anchor="t">
            <a:spAutoFit/>
          </a:bodyPr>
          <a:lstStyle/>
          <a:p>
            <a:pPr algn="l">
              <a:lnSpc>
                <a:spcPct val="100000"/>
              </a:lnSpc>
            </a:pPr>
            <a:r>
              <a:rPr sz="1500" b="1" i="0">
                <a:solidFill>
                  <a:srgbClr val="1E1B4B"/>
                </a:solidFill>
                <a:latin typeface="Calibri"/>
              </a:rPr>
              <a:t>CONTENT FLYWHEEL.</a:t>
            </a:r>
          </a:p>
        </p:txBody>
      </p:sp>
      <p:sp>
        <p:nvSpPr>
          <p:cNvPr id="40" name="TextBox 39"/>
          <p:cNvSpPr txBox="1"/>
          <p:nvPr/>
        </p:nvSpPr>
        <p:spPr>
          <a:xfrm>
            <a:off x="6537960" y="5550408"/>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Creator partner films a 3 part docuseries.</a:t>
            </a:r>
          </a:p>
        </p:txBody>
      </p:sp>
      <p:sp>
        <p:nvSpPr>
          <p:cNvPr id="41" name="TextBox 40"/>
          <p:cNvSpPr txBox="1"/>
          <p:nvPr/>
        </p:nvSpPr>
        <p:spPr>
          <a:xfrm>
            <a:off x="6537960" y="5843016"/>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Each attendee posts their reel. Tagged #AmityIgnite.</a:t>
            </a:r>
          </a:p>
        </p:txBody>
      </p:sp>
      <p:sp>
        <p:nvSpPr>
          <p:cNvPr id="42" name="TextBox 41"/>
          <p:cNvSpPr txBox="1"/>
          <p:nvPr/>
        </p:nvSpPr>
        <p:spPr>
          <a:xfrm>
            <a:off x="6537960" y="6135624"/>
            <a:ext cx="5074920" cy="292608"/>
          </a:xfrm>
          <a:prstGeom prst="rect">
            <a:avLst/>
          </a:prstGeom>
          <a:noFill/>
        </p:spPr>
        <p:txBody>
          <a:bodyPr wrap="square" lIns="45720" rIns="45720" tIns="18288" bIns="18288" anchor="t">
            <a:spAutoFit/>
          </a:bodyPr>
          <a:lstStyle/>
          <a:p>
            <a:pPr algn="l">
              <a:lnSpc>
                <a:spcPct val="125000"/>
              </a:lnSpc>
            </a:pPr>
            <a:r>
              <a:rPr sz="950" b="0" i="0">
                <a:solidFill>
                  <a:srgbClr val="1E1B4B"/>
                </a:solidFill>
                <a:latin typeface="Calibri"/>
              </a:rPr>
              <a:t>• Press hook. India's first concert for online learners.</a:t>
            </a:r>
          </a:p>
        </p:txBody>
      </p:sp>
      <p:sp>
        <p:nvSpPr>
          <p:cNvPr id="43" name="Rounded Rectangle 42"/>
          <p:cNvSpPr/>
          <p:nvPr/>
        </p:nvSpPr>
        <p:spPr>
          <a:xfrm>
            <a:off x="3931920" y="5623560"/>
            <a:ext cx="7818120" cy="109728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114800" y="5687568"/>
            <a:ext cx="5486400" cy="274320"/>
          </a:xfrm>
          <a:prstGeom prst="rect">
            <a:avLst/>
          </a:prstGeom>
          <a:noFill/>
        </p:spPr>
        <p:txBody>
          <a:bodyPr wrap="square" lIns="45720" rIns="45720" tIns="18288" bIns="18288" anchor="t">
            <a:spAutoFit/>
          </a:bodyPr>
          <a:lstStyle/>
          <a:p>
            <a:pPr algn="l">
              <a:lnSpc>
                <a:spcPct val="125000"/>
              </a:lnSpc>
            </a:pPr>
            <a:r>
              <a:rPr sz="950" b="1" i="0">
                <a:solidFill>
                  <a:srgbClr val="14B8A6"/>
                </a:solidFill>
                <a:latin typeface="Calibri"/>
              </a:rPr>
              <a:t>BUDGET MATH   |   Cohort 0</a:t>
            </a:r>
          </a:p>
        </p:txBody>
      </p:sp>
      <p:sp>
        <p:nvSpPr>
          <p:cNvPr id="45" name="TextBox 44"/>
          <p:cNvSpPr txBox="1"/>
          <p:nvPr/>
        </p:nvSpPr>
        <p:spPr>
          <a:xfrm>
            <a:off x="4114800" y="5943600"/>
            <a:ext cx="7452360" cy="777240"/>
          </a:xfrm>
          <a:prstGeom prst="rect">
            <a:avLst/>
          </a:prstGeom>
          <a:noFill/>
        </p:spPr>
        <p:txBody>
          <a:bodyPr wrap="square" lIns="45720" rIns="45720" tIns="18288" bIns="18288" anchor="t">
            <a:spAutoFit/>
          </a:bodyPr>
          <a:lstStyle/>
          <a:p>
            <a:pPr algn="l">
              <a:lnSpc>
                <a:spcPct val="140000"/>
              </a:lnSpc>
            </a:pPr>
            <a:r>
              <a:rPr sz="1000" b="0" i="0">
                <a:solidFill>
                  <a:srgbClr val="1E1B4B"/>
                </a:solidFill>
                <a:latin typeface="Calibri"/>
              </a:rPr>
              <a:t>Production Rs 25L  +  Headliner Rs 12L  +  Photo / Video Rs 8L  +  Logistics Rs 10L   =   Rs 55L     Sponsor offset minus Rs 25L     Net Rs 30L for 100 learners and 5L plus earned reach.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TASK 1   |   TO EXISTING ONLINE LEARNERS</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The launch email.</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6 / 19</a:t>
            </a:r>
          </a:p>
        </p:txBody>
      </p:sp>
      <p:sp>
        <p:nvSpPr>
          <p:cNvPr id="8" name="Rounded Rectangle 7"/>
          <p:cNvSpPr/>
          <p:nvPr/>
        </p:nvSpPr>
        <p:spPr>
          <a:xfrm>
            <a:off x="457200" y="1371600"/>
            <a:ext cx="7772400" cy="51663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371600"/>
            <a:ext cx="7772400" cy="41148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444752"/>
            <a:ext cx="7772400" cy="274320"/>
          </a:xfrm>
          <a:prstGeom prst="rect">
            <a:avLst/>
          </a:prstGeom>
          <a:noFill/>
        </p:spPr>
        <p:txBody>
          <a:bodyPr wrap="square" lIns="45720" rIns="45720" tIns="18288" bIns="18288" anchor="t">
            <a:spAutoFit/>
          </a:bodyPr>
          <a:lstStyle/>
          <a:p>
            <a:pPr algn="l">
              <a:lnSpc>
                <a:spcPct val="125000"/>
              </a:lnSpc>
            </a:pPr>
            <a:r>
              <a:rPr sz="950" b="0" i="0">
                <a:solidFill>
                  <a:srgbClr val="52597A"/>
                </a:solidFill>
                <a:latin typeface="Calibri"/>
              </a:rPr>
              <a:t>From: Amity Online Marketing   online@amity.edu</a:t>
            </a:r>
          </a:p>
        </p:txBody>
      </p:sp>
      <p:sp>
        <p:nvSpPr>
          <p:cNvPr id="11" name="TextBox 10"/>
          <p:cNvSpPr txBox="1"/>
          <p:nvPr/>
        </p:nvSpPr>
        <p:spPr>
          <a:xfrm>
            <a:off x="731520" y="1920240"/>
            <a:ext cx="7223760" cy="365760"/>
          </a:xfrm>
          <a:prstGeom prst="rect">
            <a:avLst/>
          </a:prstGeom>
          <a:noFill/>
        </p:spPr>
        <p:txBody>
          <a:bodyPr wrap="square" lIns="45720" rIns="45720" tIns="18288" bIns="18288" anchor="t">
            <a:spAutoFit/>
          </a:bodyPr>
          <a:lstStyle/>
          <a:p>
            <a:pPr algn="l">
              <a:lnSpc>
                <a:spcPct val="125000"/>
              </a:lnSpc>
            </a:pPr>
            <a:r>
              <a:rPr sz="1400" b="1" i="0">
                <a:solidFill>
                  <a:srgbClr val="1E1B4B"/>
                </a:solidFill>
                <a:latin typeface="Calibri"/>
              </a:rPr>
              <a:t>Subject:   We're throwing a concert on the campus you've never seen.</a:t>
            </a:r>
          </a:p>
        </p:txBody>
      </p:sp>
      <p:sp>
        <p:nvSpPr>
          <p:cNvPr id="12" name="TextBox 11"/>
          <p:cNvSpPr txBox="1"/>
          <p:nvPr/>
        </p:nvSpPr>
        <p:spPr>
          <a:xfrm>
            <a:off x="731520" y="2286000"/>
            <a:ext cx="7223760" cy="274320"/>
          </a:xfrm>
          <a:prstGeom prst="rect">
            <a:avLst/>
          </a:prstGeom>
          <a:noFill/>
        </p:spPr>
        <p:txBody>
          <a:bodyPr wrap="square" lIns="45720" rIns="45720" tIns="18288" bIns="18288" anchor="t">
            <a:spAutoFit/>
          </a:bodyPr>
          <a:lstStyle/>
          <a:p>
            <a:pPr algn="l">
              <a:lnSpc>
                <a:spcPct val="125000"/>
              </a:lnSpc>
            </a:pPr>
            <a:r>
              <a:rPr sz="1030" b="0" i="1">
                <a:solidFill>
                  <a:srgbClr val="52597A"/>
                </a:solidFill>
                <a:latin typeface="Calibri"/>
              </a:rPr>
              <a:t>Preheader:   One night. Your favourite comic. Your family in the photo. Apply by 25 August.</a:t>
            </a:r>
          </a:p>
        </p:txBody>
      </p:sp>
      <p:sp>
        <p:nvSpPr>
          <p:cNvPr id="13" name="TextBox 12"/>
          <p:cNvSpPr txBox="1"/>
          <p:nvPr/>
        </p:nvSpPr>
        <p:spPr>
          <a:xfrm>
            <a:off x="731520" y="2697480"/>
            <a:ext cx="7223760" cy="365760"/>
          </a:xfrm>
          <a:prstGeom prst="rect">
            <a:avLst/>
          </a:prstGeom>
          <a:noFill/>
        </p:spPr>
        <p:txBody>
          <a:bodyPr wrap="square" lIns="45720" rIns="45720" tIns="18288" bIns="18288" anchor="t">
            <a:spAutoFit/>
          </a:bodyPr>
          <a:lstStyle/>
          <a:p>
            <a:pPr algn="l">
              <a:lnSpc>
                <a:spcPct val="140000"/>
              </a:lnSpc>
            </a:pPr>
            <a:r>
              <a:rPr sz="1030" b="0" i="0">
                <a:solidFill>
                  <a:srgbClr val="1E1B4B"/>
                </a:solidFill>
                <a:latin typeface="Calibri"/>
              </a:rPr>
              <a:t>Hi {{first_name}},</a:t>
            </a:r>
          </a:p>
        </p:txBody>
      </p:sp>
      <p:sp>
        <p:nvSpPr>
          <p:cNvPr id="14" name="TextBox 13"/>
          <p:cNvSpPr txBox="1"/>
          <p:nvPr/>
        </p:nvSpPr>
        <p:spPr>
          <a:xfrm>
            <a:off x="731520" y="2999232"/>
            <a:ext cx="7223760" cy="365760"/>
          </a:xfrm>
          <a:prstGeom prst="rect">
            <a:avLst/>
          </a:prstGeom>
          <a:noFill/>
        </p:spPr>
        <p:txBody>
          <a:bodyPr wrap="square" lIns="45720" rIns="45720" tIns="18288" bIns="18288" anchor="t">
            <a:spAutoFit/>
          </a:bodyPr>
          <a:lstStyle/>
          <a:p>
            <a:pPr algn="l">
              <a:lnSpc>
                <a:spcPct val="140000"/>
              </a:lnSpc>
            </a:pPr>
            <a:r>
              <a:rPr sz="1030" b="0" i="0">
                <a:solidFill>
                  <a:srgbClr val="1E1B4B"/>
                </a:solidFill>
                <a:latin typeface="Calibri"/>
              </a:rPr>
              <a:t>You picked Amity Online for the right reason. It fits work, family, and your commute. It does.</a:t>
            </a:r>
          </a:p>
        </p:txBody>
      </p:sp>
      <p:sp>
        <p:nvSpPr>
          <p:cNvPr id="15" name="TextBox 14"/>
          <p:cNvSpPr txBox="1"/>
          <p:nvPr/>
        </p:nvSpPr>
        <p:spPr>
          <a:xfrm>
            <a:off x="731520" y="3300984"/>
            <a:ext cx="7223760" cy="365760"/>
          </a:xfrm>
          <a:prstGeom prst="rect">
            <a:avLst/>
          </a:prstGeom>
          <a:noFill/>
        </p:spPr>
        <p:txBody>
          <a:bodyPr wrap="square" lIns="45720" rIns="45720" tIns="18288" bIns="18288" anchor="t">
            <a:spAutoFit/>
          </a:bodyPr>
          <a:lstStyle/>
          <a:p>
            <a:pPr algn="l">
              <a:lnSpc>
                <a:spcPct val="140000"/>
              </a:lnSpc>
            </a:pPr>
            <a:r>
              <a:rPr sz="1030" b="0" i="0">
                <a:solidFill>
                  <a:srgbClr val="1E1B4B"/>
                </a:solidFill>
                <a:latin typeface="Calibri"/>
              </a:rPr>
              <a:t>But there is one thing it never gave you. The night.</a:t>
            </a:r>
          </a:p>
        </p:txBody>
      </p:sp>
      <p:sp>
        <p:nvSpPr>
          <p:cNvPr id="16" name="TextBox 15"/>
          <p:cNvSpPr txBox="1"/>
          <p:nvPr/>
        </p:nvSpPr>
        <p:spPr>
          <a:xfrm>
            <a:off x="731520" y="3602736"/>
            <a:ext cx="7223760" cy="365760"/>
          </a:xfrm>
          <a:prstGeom prst="rect">
            <a:avLst/>
          </a:prstGeom>
          <a:noFill/>
        </p:spPr>
        <p:txBody>
          <a:bodyPr wrap="square" lIns="45720" rIns="45720" tIns="18288" bIns="18288" anchor="t">
            <a:spAutoFit/>
          </a:bodyPr>
          <a:lstStyle/>
          <a:p>
            <a:pPr algn="l">
              <a:lnSpc>
                <a:spcPct val="140000"/>
              </a:lnSpc>
            </a:pPr>
            <a:r>
              <a:rPr sz="1030" b="0" i="0">
                <a:solidFill>
                  <a:srgbClr val="1E1B4B"/>
                </a:solidFill>
                <a:latin typeface="Calibri"/>
              </a:rPr>
              <a:t>On 28 September we are running Amity Ignite, Cohort 0. One day on the Noida campus you have technically been a part of all along.</a:t>
            </a:r>
          </a:p>
        </p:txBody>
      </p:sp>
      <p:sp>
        <p:nvSpPr>
          <p:cNvPr id="17" name="TextBox 16"/>
          <p:cNvSpPr txBox="1"/>
          <p:nvPr/>
        </p:nvSpPr>
        <p:spPr>
          <a:xfrm>
            <a:off x="731520" y="3904488"/>
            <a:ext cx="7223760" cy="365760"/>
          </a:xfrm>
          <a:prstGeom prst="rect">
            <a:avLst/>
          </a:prstGeom>
          <a:noFill/>
        </p:spPr>
        <p:txBody>
          <a:bodyPr wrap="square" lIns="45720" rIns="45720" tIns="18288" bIns="18288" anchor="t">
            <a:spAutoFit/>
          </a:bodyPr>
          <a:lstStyle/>
          <a:p>
            <a:pPr algn="l">
              <a:lnSpc>
                <a:spcPct val="140000"/>
              </a:lnSpc>
            </a:pPr>
            <a:r>
              <a:rPr sz="1030" b="0" i="0">
                <a:solidFill>
                  <a:srgbClr val="1E1B4B"/>
                </a:solidFill>
                <a:latin typeface="Calibri"/>
              </a:rPr>
              <a:t>Day. Walk the campus with your family. Two short masterclasses.</a:t>
            </a:r>
          </a:p>
        </p:txBody>
      </p:sp>
      <p:sp>
        <p:nvSpPr>
          <p:cNvPr id="18" name="TextBox 17"/>
          <p:cNvSpPr txBox="1"/>
          <p:nvPr/>
        </p:nvSpPr>
        <p:spPr>
          <a:xfrm>
            <a:off x="731520" y="4160520"/>
            <a:ext cx="7223760" cy="365760"/>
          </a:xfrm>
          <a:prstGeom prst="rect">
            <a:avLst/>
          </a:prstGeom>
          <a:noFill/>
        </p:spPr>
        <p:txBody>
          <a:bodyPr wrap="square" lIns="45720" rIns="45720" tIns="18288" bIns="18288" anchor="t">
            <a:spAutoFit/>
          </a:bodyPr>
          <a:lstStyle/>
          <a:p>
            <a:pPr algn="l">
              <a:lnSpc>
                <a:spcPct val="140000"/>
              </a:lnSpc>
            </a:pPr>
            <a:r>
              <a:rPr sz="1030" b="0" i="0">
                <a:solidFill>
                  <a:srgbClr val="1E1B4B"/>
                </a:solidFill>
                <a:latin typeface="Calibri"/>
              </a:rPr>
              <a:t>Dusk. Stand on the convocation stage. Stole, certificate, family photograph.</a:t>
            </a:r>
          </a:p>
        </p:txBody>
      </p:sp>
      <p:sp>
        <p:nvSpPr>
          <p:cNvPr id="19" name="TextBox 18"/>
          <p:cNvSpPr txBox="1"/>
          <p:nvPr/>
        </p:nvSpPr>
        <p:spPr>
          <a:xfrm>
            <a:off x="731520" y="4416552"/>
            <a:ext cx="7223760" cy="365760"/>
          </a:xfrm>
          <a:prstGeom prst="rect">
            <a:avLst/>
          </a:prstGeom>
          <a:noFill/>
        </p:spPr>
        <p:txBody>
          <a:bodyPr wrap="square" lIns="45720" rIns="45720" tIns="18288" bIns="18288" anchor="t">
            <a:spAutoFit/>
          </a:bodyPr>
          <a:lstStyle/>
          <a:p>
            <a:pPr algn="l">
              <a:lnSpc>
                <a:spcPct val="140000"/>
              </a:lnSpc>
            </a:pPr>
            <a:r>
              <a:rPr sz="1030" b="0" i="0">
                <a:solidFill>
                  <a:srgbClr val="1E1B4B"/>
                </a:solidFill>
                <a:latin typeface="Calibri"/>
              </a:rPr>
              <a:t>Night. The concert. Live comedy headliner. Five Amity Online learners open the show.</a:t>
            </a:r>
          </a:p>
        </p:txBody>
      </p:sp>
      <p:sp>
        <p:nvSpPr>
          <p:cNvPr id="20" name="TextBox 19"/>
          <p:cNvSpPr txBox="1"/>
          <p:nvPr/>
        </p:nvSpPr>
        <p:spPr>
          <a:xfrm>
            <a:off x="731520" y="4718304"/>
            <a:ext cx="7223760" cy="365760"/>
          </a:xfrm>
          <a:prstGeom prst="rect">
            <a:avLst/>
          </a:prstGeom>
          <a:noFill/>
        </p:spPr>
        <p:txBody>
          <a:bodyPr wrap="square" lIns="45720" rIns="45720" tIns="18288" bIns="18288" anchor="t">
            <a:spAutoFit/>
          </a:bodyPr>
          <a:lstStyle/>
          <a:p>
            <a:pPr algn="l">
              <a:lnSpc>
                <a:spcPct val="140000"/>
              </a:lnSpc>
            </a:pPr>
            <a:r>
              <a:rPr sz="1030" b="0" i="0">
                <a:solidFill>
                  <a:srgbClr val="1E1B4B"/>
                </a:solidFill>
                <a:latin typeface="Calibri"/>
              </a:rPr>
              <a:t>Free for existing learners. One family member included. 100 seats.</a:t>
            </a:r>
          </a:p>
        </p:txBody>
      </p:sp>
      <p:sp>
        <p:nvSpPr>
          <p:cNvPr id="21" name="Rectangle 20"/>
          <p:cNvSpPr/>
          <p:nvPr/>
        </p:nvSpPr>
        <p:spPr>
          <a:xfrm>
            <a:off x="731520" y="5020056"/>
            <a:ext cx="2103120" cy="384048"/>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020056"/>
            <a:ext cx="2103120" cy="384048"/>
          </a:xfrm>
          <a:prstGeom prst="rect">
            <a:avLst/>
          </a:prstGeom>
          <a:noFill/>
        </p:spPr>
        <p:txBody>
          <a:bodyPr wrap="square" lIns="45720" rIns="45720" tIns="18288" bIns="18288" anchor="ctr">
            <a:spAutoFit/>
          </a:bodyPr>
          <a:lstStyle/>
          <a:p>
            <a:pPr algn="ctr">
              <a:lnSpc>
                <a:spcPct val="125000"/>
              </a:lnSpc>
            </a:pPr>
            <a:r>
              <a:rPr sz="1200" b="1" i="0">
                <a:solidFill>
                  <a:srgbClr val="FFFFFF"/>
                </a:solidFill>
                <a:latin typeface="Calibri"/>
              </a:rPr>
              <a:t>Reserve your seat</a:t>
            </a:r>
          </a:p>
        </p:txBody>
      </p:sp>
      <p:sp>
        <p:nvSpPr>
          <p:cNvPr id="23" name="TextBox 22"/>
          <p:cNvSpPr txBox="1"/>
          <p:nvPr/>
        </p:nvSpPr>
        <p:spPr>
          <a:xfrm>
            <a:off x="2971800" y="5093208"/>
            <a:ext cx="4572000" cy="274320"/>
          </a:xfrm>
          <a:prstGeom prst="rect">
            <a:avLst/>
          </a:prstGeom>
          <a:noFill/>
        </p:spPr>
        <p:txBody>
          <a:bodyPr wrap="square" lIns="45720" rIns="45720" tIns="18288" bIns="18288" anchor="t">
            <a:spAutoFit/>
          </a:bodyPr>
          <a:lstStyle/>
          <a:p>
            <a:pPr algn="l">
              <a:lnSpc>
                <a:spcPct val="125000"/>
              </a:lnSpc>
            </a:pPr>
            <a:r>
              <a:rPr sz="1000" b="0" i="1">
                <a:solidFill>
                  <a:srgbClr val="52597A"/>
                </a:solidFill>
                <a:latin typeface="Calibri"/>
              </a:rPr>
              <a:t>Takes 90 seconds.</a:t>
            </a:r>
          </a:p>
        </p:txBody>
      </p:sp>
      <p:sp>
        <p:nvSpPr>
          <p:cNvPr id="24" name="Rounded Rectangle 23"/>
          <p:cNvSpPr/>
          <p:nvPr/>
        </p:nvSpPr>
        <p:spPr>
          <a:xfrm>
            <a:off x="8412480" y="1371600"/>
            <a:ext cx="3337560" cy="516636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41080" y="1508760"/>
            <a:ext cx="3337560" cy="365760"/>
          </a:xfrm>
          <a:prstGeom prst="rect">
            <a:avLst/>
          </a:prstGeom>
          <a:noFill/>
        </p:spPr>
        <p:txBody>
          <a:bodyPr wrap="square" lIns="45720" rIns="45720" tIns="18288" bIns="18288" anchor="t">
            <a:spAutoFit/>
          </a:bodyPr>
          <a:lstStyle/>
          <a:p>
            <a:pPr algn="l">
              <a:lnSpc>
                <a:spcPct val="125000"/>
              </a:lnSpc>
            </a:pPr>
            <a:r>
              <a:rPr sz="1300" b="1" i="0">
                <a:solidFill>
                  <a:srgbClr val="1E1B4B"/>
                </a:solidFill>
                <a:latin typeface="Calibri"/>
              </a:rPr>
              <a:t>Why it works</a:t>
            </a:r>
          </a:p>
        </p:txBody>
      </p:sp>
      <p:sp>
        <p:nvSpPr>
          <p:cNvPr id="26" name="TextBox 25"/>
          <p:cNvSpPr txBox="1"/>
          <p:nvPr/>
        </p:nvSpPr>
        <p:spPr>
          <a:xfrm>
            <a:off x="8641080" y="1874519"/>
            <a:ext cx="297180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Subject leads with the surprise</a:t>
            </a:r>
          </a:p>
        </p:txBody>
      </p:sp>
      <p:sp>
        <p:nvSpPr>
          <p:cNvPr id="27" name="TextBox 26"/>
          <p:cNvSpPr txBox="1"/>
          <p:nvPr/>
        </p:nvSpPr>
        <p:spPr>
          <a:xfrm>
            <a:off x="8641080" y="2121407"/>
            <a:ext cx="2971800" cy="457200"/>
          </a:xfrm>
          <a:prstGeom prst="rect">
            <a:avLst/>
          </a:prstGeom>
          <a:noFill/>
        </p:spPr>
        <p:txBody>
          <a:bodyPr wrap="square" lIns="45720" rIns="45720" tIns="18288" bIns="18288" anchor="t">
            <a:spAutoFit/>
          </a:bodyPr>
          <a:lstStyle/>
          <a:p>
            <a:pPr algn="l">
              <a:lnSpc>
                <a:spcPct val="130000"/>
              </a:lnSpc>
            </a:pPr>
            <a:r>
              <a:rPr sz="950" b="0" i="0">
                <a:solidFill>
                  <a:srgbClr val="1E1B4B"/>
                </a:solidFill>
                <a:latin typeface="Calibri"/>
              </a:rPr>
              <a:t>Concert beats announcement. Curiosity beats CTA.</a:t>
            </a:r>
          </a:p>
        </p:txBody>
      </p:sp>
      <p:sp>
        <p:nvSpPr>
          <p:cNvPr id="28" name="TextBox 27"/>
          <p:cNvSpPr txBox="1"/>
          <p:nvPr/>
        </p:nvSpPr>
        <p:spPr>
          <a:xfrm>
            <a:off x="8641080" y="2587751"/>
            <a:ext cx="297180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Promise a feeling, not a feature</a:t>
            </a:r>
          </a:p>
        </p:txBody>
      </p:sp>
      <p:sp>
        <p:nvSpPr>
          <p:cNvPr id="29" name="TextBox 28"/>
          <p:cNvSpPr txBox="1"/>
          <p:nvPr/>
        </p:nvSpPr>
        <p:spPr>
          <a:xfrm>
            <a:off x="8641080" y="2834639"/>
            <a:ext cx="2971800" cy="457200"/>
          </a:xfrm>
          <a:prstGeom prst="rect">
            <a:avLst/>
          </a:prstGeom>
          <a:noFill/>
        </p:spPr>
        <p:txBody>
          <a:bodyPr wrap="square" lIns="45720" rIns="45720" tIns="18288" bIns="18288" anchor="t">
            <a:spAutoFit/>
          </a:bodyPr>
          <a:lstStyle/>
          <a:p>
            <a:pPr algn="l">
              <a:lnSpc>
                <a:spcPct val="130000"/>
              </a:lnSpc>
            </a:pPr>
            <a:r>
              <a:rPr sz="950" b="0" i="0">
                <a:solidFill>
                  <a:srgbClr val="1E1B4B"/>
                </a:solidFill>
                <a:latin typeface="Calibri"/>
              </a:rPr>
              <a:t>The stage. The stole. The family photograph.</a:t>
            </a:r>
          </a:p>
        </p:txBody>
      </p:sp>
      <p:sp>
        <p:nvSpPr>
          <p:cNvPr id="30" name="TextBox 29"/>
          <p:cNvSpPr txBox="1"/>
          <p:nvPr/>
        </p:nvSpPr>
        <p:spPr>
          <a:xfrm>
            <a:off x="8641080" y="3300983"/>
            <a:ext cx="297180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Sender is the team</a:t>
            </a:r>
          </a:p>
        </p:txBody>
      </p:sp>
      <p:sp>
        <p:nvSpPr>
          <p:cNvPr id="31" name="TextBox 30"/>
          <p:cNvSpPr txBox="1"/>
          <p:nvPr/>
        </p:nvSpPr>
        <p:spPr>
          <a:xfrm>
            <a:off x="8641080" y="3547871"/>
            <a:ext cx="2971800" cy="457200"/>
          </a:xfrm>
          <a:prstGeom prst="rect">
            <a:avLst/>
          </a:prstGeom>
          <a:noFill/>
        </p:spPr>
        <p:txBody>
          <a:bodyPr wrap="square" lIns="45720" rIns="45720" tIns="18288" bIns="18288" anchor="t">
            <a:spAutoFit/>
          </a:bodyPr>
          <a:lstStyle/>
          <a:p>
            <a:pPr algn="l">
              <a:lnSpc>
                <a:spcPct val="130000"/>
              </a:lnSpc>
            </a:pPr>
            <a:r>
              <a:rPr sz="950" b="0" i="0">
                <a:solidFill>
                  <a:srgbClr val="1E1B4B"/>
                </a:solidFill>
                <a:latin typeface="Calibri"/>
              </a:rPr>
              <a:t>No invented person. No celebrity stand in.</a:t>
            </a:r>
          </a:p>
        </p:txBody>
      </p:sp>
      <p:sp>
        <p:nvSpPr>
          <p:cNvPr id="32" name="TextBox 31"/>
          <p:cNvSpPr txBox="1"/>
          <p:nvPr/>
        </p:nvSpPr>
        <p:spPr>
          <a:xfrm>
            <a:off x="8641080" y="4014215"/>
            <a:ext cx="297180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One CTA</a:t>
            </a:r>
          </a:p>
        </p:txBody>
      </p:sp>
      <p:sp>
        <p:nvSpPr>
          <p:cNvPr id="33" name="TextBox 32"/>
          <p:cNvSpPr txBox="1"/>
          <p:nvPr/>
        </p:nvSpPr>
        <p:spPr>
          <a:xfrm>
            <a:off x="8641080" y="4261103"/>
            <a:ext cx="2971800" cy="457200"/>
          </a:xfrm>
          <a:prstGeom prst="rect">
            <a:avLst/>
          </a:prstGeom>
          <a:noFill/>
        </p:spPr>
        <p:txBody>
          <a:bodyPr wrap="square" lIns="45720" rIns="45720" tIns="18288" bIns="18288" anchor="t">
            <a:spAutoFit/>
          </a:bodyPr>
          <a:lstStyle/>
          <a:p>
            <a:pPr algn="l">
              <a:lnSpc>
                <a:spcPct val="130000"/>
              </a:lnSpc>
            </a:pPr>
            <a:r>
              <a:rPr sz="950" b="0" i="0">
                <a:solidFill>
                  <a:srgbClr val="1E1B4B"/>
                </a:solidFill>
                <a:latin typeface="Calibri"/>
              </a:rPr>
              <a:t>One blue button. No sidebar links. No countdown.</a:t>
            </a:r>
          </a:p>
        </p:txBody>
      </p:sp>
      <p:sp>
        <p:nvSpPr>
          <p:cNvPr id="34" name="TextBox 33"/>
          <p:cNvSpPr txBox="1"/>
          <p:nvPr/>
        </p:nvSpPr>
        <p:spPr>
          <a:xfrm>
            <a:off x="8641080" y="4727447"/>
            <a:ext cx="297180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Real scarcity</a:t>
            </a:r>
          </a:p>
        </p:txBody>
      </p:sp>
      <p:sp>
        <p:nvSpPr>
          <p:cNvPr id="35" name="TextBox 34"/>
          <p:cNvSpPr txBox="1"/>
          <p:nvPr/>
        </p:nvSpPr>
        <p:spPr>
          <a:xfrm>
            <a:off x="8641080" y="4974335"/>
            <a:ext cx="2971800" cy="457200"/>
          </a:xfrm>
          <a:prstGeom prst="rect">
            <a:avLst/>
          </a:prstGeom>
          <a:noFill/>
        </p:spPr>
        <p:txBody>
          <a:bodyPr wrap="square" lIns="45720" rIns="45720" tIns="18288" bIns="18288" anchor="t">
            <a:spAutoFit/>
          </a:bodyPr>
          <a:lstStyle/>
          <a:p>
            <a:pPr algn="l">
              <a:lnSpc>
                <a:spcPct val="130000"/>
              </a:lnSpc>
            </a:pPr>
            <a:r>
              <a:rPr sz="950" b="0" i="0">
                <a:solidFill>
                  <a:srgbClr val="1E1B4B"/>
                </a:solidFill>
                <a:latin typeface="Calibri"/>
              </a:rPr>
              <a:t>100 seats. 2,50,000 learners. The math is honest.</a:t>
            </a:r>
          </a:p>
        </p:txBody>
      </p:sp>
      <p:sp>
        <p:nvSpPr>
          <p:cNvPr id="36" name="TextBox 35"/>
          <p:cNvSpPr txBox="1"/>
          <p:nvPr/>
        </p:nvSpPr>
        <p:spPr>
          <a:xfrm>
            <a:off x="8641080" y="5440679"/>
            <a:ext cx="297180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Send window</a:t>
            </a:r>
          </a:p>
        </p:txBody>
      </p:sp>
      <p:sp>
        <p:nvSpPr>
          <p:cNvPr id="37" name="TextBox 36"/>
          <p:cNvSpPr txBox="1"/>
          <p:nvPr/>
        </p:nvSpPr>
        <p:spPr>
          <a:xfrm>
            <a:off x="8641080" y="5687567"/>
            <a:ext cx="2971800" cy="457200"/>
          </a:xfrm>
          <a:prstGeom prst="rect">
            <a:avLst/>
          </a:prstGeom>
          <a:noFill/>
        </p:spPr>
        <p:txBody>
          <a:bodyPr wrap="square" lIns="45720" rIns="45720" tIns="18288" bIns="18288" anchor="t">
            <a:spAutoFit/>
          </a:bodyPr>
          <a:lstStyle/>
          <a:p>
            <a:pPr algn="l">
              <a:lnSpc>
                <a:spcPct val="130000"/>
              </a:lnSpc>
            </a:pPr>
            <a:r>
              <a:rPr sz="950" b="0" i="0">
                <a:solidFill>
                  <a:srgbClr val="1E1B4B"/>
                </a:solidFill>
                <a:latin typeface="Calibri"/>
              </a:rPr>
              <a:t>Tuesday, 10:30 AM IST. We'll A B test subject 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TASK 1   |   FROM THE CHAIRMAN'S PROFILE</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The LinkedIn post.</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7 / 19</a:t>
            </a:r>
          </a:p>
        </p:txBody>
      </p:sp>
      <p:sp>
        <p:nvSpPr>
          <p:cNvPr id="8" name="Rounded Rectangle 7"/>
          <p:cNvSpPr/>
          <p:nvPr/>
        </p:nvSpPr>
        <p:spPr>
          <a:xfrm>
            <a:off x="457200" y="1417320"/>
            <a:ext cx="7132320" cy="52120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31520" y="1691640"/>
            <a:ext cx="640080" cy="640080"/>
          </a:xfrm>
          <a:prstGeom prst="ellipse">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640080" cy="640080"/>
          </a:xfrm>
          <a:prstGeom prst="rect">
            <a:avLst/>
          </a:prstGeom>
          <a:noFill/>
        </p:spPr>
        <p:txBody>
          <a:bodyPr wrap="square" lIns="45720" rIns="45720" tIns="18288" bIns="18288" anchor="ctr">
            <a:spAutoFit/>
          </a:bodyPr>
          <a:lstStyle/>
          <a:p>
            <a:pPr algn="ctr">
              <a:lnSpc>
                <a:spcPct val="125000"/>
              </a:lnSpc>
            </a:pPr>
            <a:r>
              <a:rPr sz="1800" b="1" i="0">
                <a:solidFill>
                  <a:srgbClr val="14B8A6"/>
                </a:solidFill>
                <a:latin typeface="Calibri"/>
              </a:rPr>
              <a:t>AC</a:t>
            </a:r>
          </a:p>
        </p:txBody>
      </p:sp>
      <p:sp>
        <p:nvSpPr>
          <p:cNvPr id="11" name="TextBox 10"/>
          <p:cNvSpPr txBox="1"/>
          <p:nvPr/>
        </p:nvSpPr>
        <p:spPr>
          <a:xfrm>
            <a:off x="1508760" y="1691640"/>
            <a:ext cx="7132320" cy="274320"/>
          </a:xfrm>
          <a:prstGeom prst="rect">
            <a:avLst/>
          </a:prstGeom>
          <a:noFill/>
        </p:spPr>
        <p:txBody>
          <a:bodyPr wrap="square" lIns="45720" rIns="45720" tIns="18288" bIns="18288" anchor="t">
            <a:spAutoFit/>
          </a:bodyPr>
          <a:lstStyle/>
          <a:p>
            <a:pPr algn="l">
              <a:lnSpc>
                <a:spcPct val="125000"/>
              </a:lnSpc>
            </a:pPr>
            <a:r>
              <a:rPr sz="1250" b="1" i="0">
                <a:solidFill>
                  <a:srgbClr val="1E1B4B"/>
                </a:solidFill>
                <a:latin typeface="Calibri"/>
              </a:rPr>
              <a:t>Mr. Ajit Chauhan</a:t>
            </a:r>
          </a:p>
        </p:txBody>
      </p:sp>
      <p:sp>
        <p:nvSpPr>
          <p:cNvPr id="12" name="TextBox 11"/>
          <p:cNvSpPr txBox="1"/>
          <p:nvPr/>
        </p:nvSpPr>
        <p:spPr>
          <a:xfrm>
            <a:off x="1508760" y="1920240"/>
            <a:ext cx="7132320" cy="274320"/>
          </a:xfrm>
          <a:prstGeom prst="rect">
            <a:avLst/>
          </a:prstGeom>
          <a:noFill/>
        </p:spPr>
        <p:txBody>
          <a:bodyPr wrap="square" lIns="45720" rIns="45720" tIns="18288" bIns="18288" anchor="t">
            <a:spAutoFit/>
          </a:bodyPr>
          <a:lstStyle/>
          <a:p>
            <a:pPr algn="l">
              <a:lnSpc>
                <a:spcPct val="125000"/>
              </a:lnSpc>
            </a:pPr>
            <a:r>
              <a:rPr sz="1000" b="0" i="0">
                <a:solidFill>
                  <a:srgbClr val="52597A"/>
                </a:solidFill>
                <a:latin typeface="Calibri"/>
              </a:rPr>
              <a:t>Chairman, Amity University Online</a:t>
            </a:r>
          </a:p>
        </p:txBody>
      </p:sp>
      <p:sp>
        <p:nvSpPr>
          <p:cNvPr id="13" name="TextBox 12"/>
          <p:cNvSpPr txBox="1"/>
          <p:nvPr/>
        </p:nvSpPr>
        <p:spPr>
          <a:xfrm>
            <a:off x="1508760" y="2130552"/>
            <a:ext cx="7132320" cy="228600"/>
          </a:xfrm>
          <a:prstGeom prst="rect">
            <a:avLst/>
          </a:prstGeom>
          <a:noFill/>
        </p:spPr>
        <p:txBody>
          <a:bodyPr wrap="square" lIns="45720" rIns="45720" tIns="18288" bIns="18288" anchor="t">
            <a:spAutoFit/>
          </a:bodyPr>
          <a:lstStyle/>
          <a:p>
            <a:pPr algn="l">
              <a:lnSpc>
                <a:spcPct val="125000"/>
              </a:lnSpc>
            </a:pPr>
            <a:r>
              <a:rPr sz="900" b="0" i="0">
                <a:solidFill>
                  <a:srgbClr val="52597A"/>
                </a:solidFill>
                <a:latin typeface="Calibri"/>
              </a:rPr>
              <a:t>1d   Public</a:t>
            </a:r>
          </a:p>
        </p:txBody>
      </p:sp>
      <p:sp>
        <p:nvSpPr>
          <p:cNvPr id="14" name="TextBox 13"/>
          <p:cNvSpPr txBox="1"/>
          <p:nvPr/>
        </p:nvSpPr>
        <p:spPr>
          <a:xfrm>
            <a:off x="731520" y="2560320"/>
            <a:ext cx="6675120" cy="3383280"/>
          </a:xfrm>
          <a:prstGeom prst="rect">
            <a:avLst/>
          </a:prstGeom>
          <a:noFill/>
        </p:spPr>
        <p:txBody>
          <a:bodyPr wrap="square" lIns="45720" rIns="45720" tIns="18288" bIns="18288" anchor="t">
            <a:spAutoFit/>
          </a:bodyPr>
          <a:lstStyle/>
          <a:p>
            <a:pPr algn="l">
              <a:lnSpc>
                <a:spcPct val="145000"/>
              </a:lnSpc>
            </a:pPr>
            <a:r>
              <a:rPr sz="1030" b="0" i="0">
                <a:solidFill>
                  <a:srgbClr val="1E1B4B"/>
                </a:solidFill>
                <a:latin typeface="Calibri"/>
              </a:rPr>
              <a:t>I keep meeting Amity Online learners at airports.</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Last week, one of them. A working professional from Bhubaneswar. Doing his MBA after his work day ends. He asked me one question.</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"Sir, will I ever come to the campus?"</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We launched Amity Online to make a high quality degree fit real lives. It does. But I went home and asked my team why our answer to that question is still 'only during exams'.</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So we are doing something we have never done before.</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We are throwing a concert.</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On 28 September our first cohort of online learners will walk the Noida campus with their families. They will stand on our convocation stage. They will watch one of India's best comedians perform. Five of them will open the show.</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Online gave us reach. This is how we add memory.</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If you're an Amity Online learner, your invite is in your inbox.</a:t>
            </a:r>
          </a:p>
          <a:p>
            <a:pPr algn="l">
              <a:lnSpc>
                <a:spcPct val="145000"/>
              </a:lnSpc>
            </a:pPr>
            <a:r>
              <a:rPr sz="1030" b="0" i="0">
                <a:solidFill>
                  <a:srgbClr val="1E1B4B"/>
                </a:solidFill>
                <a:latin typeface="Calibri"/>
              </a:rPr>
              <a:t/>
            </a:r>
          </a:p>
          <a:p>
            <a:pPr algn="l">
              <a:lnSpc>
                <a:spcPct val="145000"/>
              </a:lnSpc>
            </a:pPr>
            <a:r>
              <a:rPr sz="1030" b="0" i="0">
                <a:solidFill>
                  <a:srgbClr val="1E1B4B"/>
                </a:solidFill>
                <a:latin typeface="Calibri"/>
              </a:rPr>
              <a:t>#AmityIgnite   #AmityUniversityOnline</a:t>
            </a:r>
          </a:p>
        </p:txBody>
      </p:sp>
      <p:sp>
        <p:nvSpPr>
          <p:cNvPr id="15" name="Rectangle 14"/>
          <p:cNvSpPr/>
          <p:nvPr/>
        </p:nvSpPr>
        <p:spPr>
          <a:xfrm>
            <a:off x="502920" y="6172200"/>
            <a:ext cx="7040880" cy="18288"/>
          </a:xfrm>
          <a:prstGeom prst="rect">
            <a:avLst/>
          </a:prstGeom>
          <a:solidFill>
            <a:srgbClr val="DD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6217920"/>
            <a:ext cx="7132320" cy="274320"/>
          </a:xfrm>
          <a:prstGeom prst="rect">
            <a:avLst/>
          </a:prstGeom>
          <a:noFill/>
        </p:spPr>
        <p:txBody>
          <a:bodyPr wrap="square" lIns="45720" rIns="45720" tIns="18288" bIns="18288" anchor="t">
            <a:spAutoFit/>
          </a:bodyPr>
          <a:lstStyle/>
          <a:p>
            <a:pPr algn="l">
              <a:lnSpc>
                <a:spcPct val="125000"/>
              </a:lnSpc>
            </a:pPr>
            <a:r>
              <a:rPr sz="1000" b="1" i="0">
                <a:solidFill>
                  <a:srgbClr val="52597A"/>
                </a:solidFill>
                <a:latin typeface="Calibri"/>
              </a:rPr>
              <a:t>Like     Comment     Repost     Send</a:t>
            </a:r>
          </a:p>
        </p:txBody>
      </p:sp>
      <p:sp>
        <p:nvSpPr>
          <p:cNvPr id="17" name="Rounded Rectangle 16"/>
          <p:cNvSpPr/>
          <p:nvPr/>
        </p:nvSpPr>
        <p:spPr>
          <a:xfrm>
            <a:off x="7818120" y="1417320"/>
            <a:ext cx="3931920" cy="521208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1600200"/>
            <a:ext cx="3931920" cy="365760"/>
          </a:xfrm>
          <a:prstGeom prst="rect">
            <a:avLst/>
          </a:prstGeom>
          <a:noFill/>
        </p:spPr>
        <p:txBody>
          <a:bodyPr wrap="square" lIns="45720" rIns="45720" tIns="18288" bIns="18288" anchor="t">
            <a:spAutoFit/>
          </a:bodyPr>
          <a:lstStyle/>
          <a:p>
            <a:pPr algn="l">
              <a:lnSpc>
                <a:spcPct val="125000"/>
              </a:lnSpc>
            </a:pPr>
            <a:r>
              <a:rPr sz="1300" b="1" i="0">
                <a:solidFill>
                  <a:srgbClr val="1E1B4B"/>
                </a:solidFill>
                <a:latin typeface="Calibri"/>
              </a:rPr>
              <a:t>Why it works</a:t>
            </a:r>
          </a:p>
        </p:txBody>
      </p:sp>
      <p:sp>
        <p:nvSpPr>
          <p:cNvPr id="19" name="TextBox 18"/>
          <p:cNvSpPr txBox="1"/>
          <p:nvPr/>
        </p:nvSpPr>
        <p:spPr>
          <a:xfrm>
            <a:off x="8046720" y="1965960"/>
            <a:ext cx="3566160" cy="274320"/>
          </a:xfrm>
          <a:prstGeom prst="rect">
            <a:avLst/>
          </a:prstGeom>
          <a:noFill/>
        </p:spPr>
        <p:txBody>
          <a:bodyPr wrap="square" lIns="45720" rIns="45720" tIns="18288" bIns="18288" anchor="t">
            <a:spAutoFit/>
          </a:bodyPr>
          <a:lstStyle/>
          <a:p>
            <a:pPr algn="l">
              <a:lnSpc>
                <a:spcPct val="125000"/>
              </a:lnSpc>
            </a:pPr>
            <a:r>
              <a:rPr sz="1070" b="1" i="0">
                <a:solidFill>
                  <a:srgbClr val="14B8A6"/>
                </a:solidFill>
                <a:latin typeface="Calibri"/>
              </a:rPr>
              <a:t>The surprise sentence</a:t>
            </a:r>
          </a:p>
        </p:txBody>
      </p:sp>
      <p:sp>
        <p:nvSpPr>
          <p:cNvPr id="20" name="TextBox 19"/>
          <p:cNvSpPr txBox="1"/>
          <p:nvPr/>
        </p:nvSpPr>
        <p:spPr>
          <a:xfrm>
            <a:off x="8046720" y="2212848"/>
            <a:ext cx="3566160" cy="59436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'We are throwing a concert.' Hard to scroll past.</a:t>
            </a:r>
          </a:p>
        </p:txBody>
      </p:sp>
      <p:sp>
        <p:nvSpPr>
          <p:cNvPr id="21" name="TextBox 20"/>
          <p:cNvSpPr txBox="1"/>
          <p:nvPr/>
        </p:nvSpPr>
        <p:spPr>
          <a:xfrm>
            <a:off x="8046720" y="2834640"/>
            <a:ext cx="3566160" cy="274320"/>
          </a:xfrm>
          <a:prstGeom prst="rect">
            <a:avLst/>
          </a:prstGeom>
          <a:noFill/>
        </p:spPr>
        <p:txBody>
          <a:bodyPr wrap="square" lIns="45720" rIns="45720" tIns="18288" bIns="18288" anchor="t">
            <a:spAutoFit/>
          </a:bodyPr>
          <a:lstStyle/>
          <a:p>
            <a:pPr algn="l">
              <a:lnSpc>
                <a:spcPct val="125000"/>
              </a:lnSpc>
            </a:pPr>
            <a:r>
              <a:rPr sz="1070" b="1" i="0">
                <a:solidFill>
                  <a:srgbClr val="14B8A6"/>
                </a:solidFill>
                <a:latin typeface="Calibri"/>
              </a:rPr>
              <a:t>A leader admits the gap</a:t>
            </a:r>
          </a:p>
        </p:txBody>
      </p:sp>
      <p:sp>
        <p:nvSpPr>
          <p:cNvPr id="22" name="TextBox 21"/>
          <p:cNvSpPr txBox="1"/>
          <p:nvPr/>
        </p:nvSpPr>
        <p:spPr>
          <a:xfrm>
            <a:off x="8046720" y="3081528"/>
            <a:ext cx="3566160" cy="59436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I went home and asked my team. Honest leadership shares.</a:t>
            </a:r>
          </a:p>
        </p:txBody>
      </p:sp>
      <p:sp>
        <p:nvSpPr>
          <p:cNvPr id="23" name="TextBox 22"/>
          <p:cNvSpPr txBox="1"/>
          <p:nvPr/>
        </p:nvSpPr>
        <p:spPr>
          <a:xfrm>
            <a:off x="8046720" y="3703320"/>
            <a:ext cx="3566160" cy="274320"/>
          </a:xfrm>
          <a:prstGeom prst="rect">
            <a:avLst/>
          </a:prstGeom>
          <a:noFill/>
        </p:spPr>
        <p:txBody>
          <a:bodyPr wrap="square" lIns="45720" rIns="45720" tIns="18288" bIns="18288" anchor="t">
            <a:spAutoFit/>
          </a:bodyPr>
          <a:lstStyle/>
          <a:p>
            <a:pPr algn="l">
              <a:lnSpc>
                <a:spcPct val="125000"/>
              </a:lnSpc>
            </a:pPr>
            <a:r>
              <a:rPr sz="1070" b="1" i="0">
                <a:solidFill>
                  <a:srgbClr val="14B8A6"/>
                </a:solidFill>
                <a:latin typeface="Calibri"/>
              </a:rPr>
              <a:t>Story, not announcement</a:t>
            </a:r>
          </a:p>
        </p:txBody>
      </p:sp>
      <p:sp>
        <p:nvSpPr>
          <p:cNvPr id="24" name="TextBox 23"/>
          <p:cNvSpPr txBox="1"/>
          <p:nvPr/>
        </p:nvSpPr>
        <p:spPr>
          <a:xfrm>
            <a:off x="8046720" y="3950208"/>
            <a:ext cx="3566160" cy="59436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One specific learner. One city. The launch hides in para 5.</a:t>
            </a:r>
          </a:p>
        </p:txBody>
      </p:sp>
      <p:sp>
        <p:nvSpPr>
          <p:cNvPr id="25" name="TextBox 24"/>
          <p:cNvSpPr txBox="1"/>
          <p:nvPr/>
        </p:nvSpPr>
        <p:spPr>
          <a:xfrm>
            <a:off x="8046720" y="4572000"/>
            <a:ext cx="3566160" cy="274320"/>
          </a:xfrm>
          <a:prstGeom prst="rect">
            <a:avLst/>
          </a:prstGeom>
          <a:noFill/>
        </p:spPr>
        <p:txBody>
          <a:bodyPr wrap="square" lIns="45720" rIns="45720" tIns="18288" bIns="18288" anchor="t">
            <a:spAutoFit/>
          </a:bodyPr>
          <a:lstStyle/>
          <a:p>
            <a:pPr algn="l">
              <a:lnSpc>
                <a:spcPct val="125000"/>
              </a:lnSpc>
            </a:pPr>
            <a:r>
              <a:rPr sz="1070" b="1" i="0">
                <a:solidFill>
                  <a:srgbClr val="14B8A6"/>
                </a:solidFill>
                <a:latin typeface="Calibri"/>
              </a:rPr>
              <a:t>Earned, not paid</a:t>
            </a:r>
          </a:p>
        </p:txBody>
      </p:sp>
      <p:sp>
        <p:nvSpPr>
          <p:cNvPr id="26" name="TextBox 25"/>
          <p:cNvSpPr txBox="1"/>
          <p:nvPr/>
        </p:nvSpPr>
        <p:spPr>
          <a:xfrm>
            <a:off x="8046720" y="4818888"/>
            <a:ext cx="3566160" cy="59436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Few hundred employees and alumni share. Bigger than paid.</a:t>
            </a:r>
          </a:p>
        </p:txBody>
      </p:sp>
      <p:sp>
        <p:nvSpPr>
          <p:cNvPr id="27" name="TextBox 26"/>
          <p:cNvSpPr txBox="1"/>
          <p:nvPr/>
        </p:nvSpPr>
        <p:spPr>
          <a:xfrm>
            <a:off x="8046720" y="5440680"/>
            <a:ext cx="3566160" cy="274320"/>
          </a:xfrm>
          <a:prstGeom prst="rect">
            <a:avLst/>
          </a:prstGeom>
          <a:noFill/>
        </p:spPr>
        <p:txBody>
          <a:bodyPr wrap="square" lIns="45720" rIns="45720" tIns="18288" bIns="18288" anchor="t">
            <a:spAutoFit/>
          </a:bodyPr>
          <a:lstStyle/>
          <a:p>
            <a:pPr algn="l">
              <a:lnSpc>
                <a:spcPct val="125000"/>
              </a:lnSpc>
            </a:pPr>
            <a:r>
              <a:rPr sz="1070" b="1" i="0">
                <a:solidFill>
                  <a:srgbClr val="14B8A6"/>
                </a:solidFill>
                <a:latin typeface="Calibri"/>
              </a:rPr>
              <a:t>Posting craft</a:t>
            </a:r>
          </a:p>
        </p:txBody>
      </p:sp>
      <p:sp>
        <p:nvSpPr>
          <p:cNvPr id="28" name="TextBox 27"/>
          <p:cNvSpPr txBox="1"/>
          <p:nvPr/>
        </p:nvSpPr>
        <p:spPr>
          <a:xfrm>
            <a:off x="8046720" y="5687568"/>
            <a:ext cx="3566160" cy="59436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Hashtags below the fold. No external link. Line breaks.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TASK 1   |   BROCHURE OUTLINE</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The Ignite brochure. Eight pages, A5.</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8 / 19</a:t>
            </a:r>
          </a:p>
        </p:txBody>
      </p:sp>
      <p:sp>
        <p:nvSpPr>
          <p:cNvPr id="8" name="TextBox 7"/>
          <p:cNvSpPr txBox="1"/>
          <p:nvPr/>
        </p:nvSpPr>
        <p:spPr>
          <a:xfrm>
            <a:off x="457200" y="1417320"/>
            <a:ext cx="11247120" cy="365760"/>
          </a:xfrm>
          <a:prstGeom prst="rect">
            <a:avLst/>
          </a:prstGeom>
          <a:noFill/>
        </p:spPr>
        <p:txBody>
          <a:bodyPr wrap="square" lIns="45720" rIns="45720" tIns="18288" bIns="18288" anchor="t">
            <a:spAutoFit/>
          </a:bodyPr>
          <a:lstStyle/>
          <a:p>
            <a:pPr algn="l">
              <a:lnSpc>
                <a:spcPct val="135000"/>
              </a:lnSpc>
            </a:pPr>
            <a:r>
              <a:rPr sz="1100" b="0" i="1">
                <a:solidFill>
                  <a:srgbClr val="52597A"/>
                </a:solidFill>
                <a:latin typeface="Calibri"/>
              </a:rPr>
              <a:t>Saddle stitched. Around Rs 35 per copy at a 5,000 print run. Distributed digitally as a PDF. Physical copies only on the day.</a:t>
            </a:r>
          </a:p>
        </p:txBody>
      </p:sp>
      <p:sp>
        <p:nvSpPr>
          <p:cNvPr id="9" name="Rounded Rectangle 8"/>
          <p:cNvSpPr/>
          <p:nvPr/>
        </p:nvSpPr>
        <p:spPr>
          <a:xfrm>
            <a:off x="457200" y="1965960"/>
            <a:ext cx="2788920" cy="21945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65960"/>
            <a:ext cx="2788920" cy="3840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039112"/>
            <a:ext cx="278892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01  COVER</a:t>
            </a:r>
          </a:p>
        </p:txBody>
      </p:sp>
      <p:sp>
        <p:nvSpPr>
          <p:cNvPr id="12" name="Rectangle 11"/>
          <p:cNvSpPr/>
          <p:nvPr/>
        </p:nvSpPr>
        <p:spPr>
          <a:xfrm>
            <a:off x="685800" y="2514600"/>
            <a:ext cx="233172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520440"/>
            <a:ext cx="2331720" cy="594360"/>
          </a:xfrm>
          <a:prstGeom prst="rect">
            <a:avLst/>
          </a:prstGeom>
          <a:noFill/>
        </p:spPr>
        <p:txBody>
          <a:bodyPr wrap="square" lIns="45720" rIns="45720" tIns="18288" bIns="18288" anchor="t">
            <a:spAutoFit/>
          </a:bodyPr>
          <a:lstStyle/>
          <a:p>
            <a:pPr algn="l">
              <a:lnSpc>
                <a:spcPct val="135000"/>
              </a:lnSpc>
            </a:pPr>
            <a:r>
              <a:rPr sz="930" b="0" i="0">
                <a:solidFill>
                  <a:srgbClr val="1E1B4B"/>
                </a:solidFill>
                <a:latin typeface="Calibri"/>
              </a:rPr>
              <a:t>Navy. Gold flame.</a:t>
            </a:r>
          </a:p>
          <a:p>
            <a:pPr algn="l">
              <a:lnSpc>
                <a:spcPct val="135000"/>
              </a:lnSpc>
            </a:pPr>
            <a:r>
              <a:rPr sz="930" b="0" i="0">
                <a:solidFill>
                  <a:srgbClr val="1E1B4B"/>
                </a:solidFill>
                <a:latin typeface="Calibri"/>
              </a:rPr>
              <a:t>'You enrolled online.</a:t>
            </a:r>
          </a:p>
          <a:p>
            <a:pPr algn="l">
              <a:lnSpc>
                <a:spcPct val="135000"/>
              </a:lnSpc>
            </a:pPr>
            <a:r>
              <a:rPr sz="930" b="0" i="0">
                <a:solidFill>
                  <a:srgbClr val="1E1B4B"/>
                </a:solidFill>
                <a:latin typeface="Calibri"/>
              </a:rPr>
              <a:t>You graduate in person.'</a:t>
            </a:r>
          </a:p>
        </p:txBody>
      </p:sp>
      <p:sp>
        <p:nvSpPr>
          <p:cNvPr id="14" name="Rounded Rectangle 13"/>
          <p:cNvSpPr/>
          <p:nvPr/>
        </p:nvSpPr>
        <p:spPr>
          <a:xfrm>
            <a:off x="3364992" y="1965960"/>
            <a:ext cx="2788920" cy="21945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4992" y="1965960"/>
            <a:ext cx="2788920" cy="38404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47872" y="2039112"/>
            <a:ext cx="278892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02  LETTER</a:t>
            </a:r>
          </a:p>
        </p:txBody>
      </p:sp>
      <p:sp>
        <p:nvSpPr>
          <p:cNvPr id="17" name="Rectangle 16"/>
          <p:cNvSpPr/>
          <p:nvPr/>
        </p:nvSpPr>
        <p:spPr>
          <a:xfrm>
            <a:off x="3593592" y="2514600"/>
            <a:ext cx="233172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93592" y="3520440"/>
            <a:ext cx="2331720" cy="594360"/>
          </a:xfrm>
          <a:prstGeom prst="rect">
            <a:avLst/>
          </a:prstGeom>
          <a:noFill/>
        </p:spPr>
        <p:txBody>
          <a:bodyPr wrap="square" lIns="45720" rIns="45720" tIns="18288" bIns="18288" anchor="t">
            <a:spAutoFit/>
          </a:bodyPr>
          <a:lstStyle/>
          <a:p>
            <a:pPr algn="l">
              <a:lnSpc>
                <a:spcPct val="135000"/>
              </a:lnSpc>
            </a:pPr>
            <a:r>
              <a:rPr sz="930" b="0" i="0">
                <a:solidFill>
                  <a:srgbClr val="1E1B4B"/>
                </a:solidFill>
                <a:latin typeface="Calibri"/>
              </a:rPr>
              <a:t>Founder's letter.</a:t>
            </a:r>
          </a:p>
          <a:p>
            <a:pPr algn="l">
              <a:lnSpc>
                <a:spcPct val="135000"/>
              </a:lnSpc>
            </a:pPr>
            <a:r>
              <a:rPr sz="930" b="0" i="0">
                <a:solidFill>
                  <a:srgbClr val="1E1B4B"/>
                </a:solidFill>
                <a:latin typeface="Calibri"/>
              </a:rPr>
              <a:t>Mr. Ajit Chauhan.</a:t>
            </a:r>
          </a:p>
          <a:p>
            <a:pPr algn="l">
              <a:lnSpc>
                <a:spcPct val="135000"/>
              </a:lnSpc>
            </a:pPr>
            <a:r>
              <a:rPr sz="930" b="0" i="0">
                <a:solidFill>
                  <a:srgbClr val="1E1B4B"/>
                </a:solidFill>
                <a:latin typeface="Calibri"/>
              </a:rPr>
              <a:t>200 words. Hand signed.</a:t>
            </a:r>
          </a:p>
        </p:txBody>
      </p:sp>
      <p:sp>
        <p:nvSpPr>
          <p:cNvPr id="19" name="Rounded Rectangle 18"/>
          <p:cNvSpPr/>
          <p:nvPr/>
        </p:nvSpPr>
        <p:spPr>
          <a:xfrm>
            <a:off x="6272784" y="1965960"/>
            <a:ext cx="2788920" cy="21945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2784" y="1965960"/>
            <a:ext cx="2788920" cy="38404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55664" y="2039112"/>
            <a:ext cx="278892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03-04  THE NIGHT</a:t>
            </a:r>
          </a:p>
        </p:txBody>
      </p:sp>
      <p:sp>
        <p:nvSpPr>
          <p:cNvPr id="22" name="Rectangle 21"/>
          <p:cNvSpPr/>
          <p:nvPr/>
        </p:nvSpPr>
        <p:spPr>
          <a:xfrm>
            <a:off x="6501384" y="2514600"/>
            <a:ext cx="233172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1384" y="3520440"/>
            <a:ext cx="2331720" cy="594360"/>
          </a:xfrm>
          <a:prstGeom prst="rect">
            <a:avLst/>
          </a:prstGeom>
          <a:noFill/>
        </p:spPr>
        <p:txBody>
          <a:bodyPr wrap="square" lIns="45720" rIns="45720" tIns="18288" bIns="18288" anchor="t">
            <a:spAutoFit/>
          </a:bodyPr>
          <a:lstStyle/>
          <a:p>
            <a:pPr algn="l">
              <a:lnSpc>
                <a:spcPct val="135000"/>
              </a:lnSpc>
            </a:pPr>
            <a:r>
              <a:rPr sz="930" b="0" i="0">
                <a:solidFill>
                  <a:srgbClr val="1E1B4B"/>
                </a:solidFill>
                <a:latin typeface="Calibri"/>
              </a:rPr>
              <a:t>Headliner reveal.</a:t>
            </a:r>
          </a:p>
          <a:p>
            <a:pPr algn="l">
              <a:lnSpc>
                <a:spcPct val="135000"/>
              </a:lnSpc>
            </a:pPr>
            <a:r>
              <a:rPr sz="930" b="0" i="0">
                <a:solidFill>
                  <a:srgbClr val="1E1B4B"/>
                </a:solidFill>
                <a:latin typeface="Calibri"/>
              </a:rPr>
              <a:t>Open mic learners.</a:t>
            </a:r>
          </a:p>
          <a:p>
            <a:pPr algn="l">
              <a:lnSpc>
                <a:spcPct val="135000"/>
              </a:lnSpc>
            </a:pPr>
            <a:r>
              <a:rPr sz="930" b="0" i="0">
                <a:solidFill>
                  <a:srgbClr val="1E1B4B"/>
                </a:solidFill>
                <a:latin typeface="Calibri"/>
              </a:rPr>
              <a:t>Family on the stage.</a:t>
            </a:r>
          </a:p>
        </p:txBody>
      </p:sp>
      <p:sp>
        <p:nvSpPr>
          <p:cNvPr id="24" name="Rounded Rectangle 23"/>
          <p:cNvSpPr/>
          <p:nvPr/>
        </p:nvSpPr>
        <p:spPr>
          <a:xfrm>
            <a:off x="9180576" y="1965960"/>
            <a:ext cx="2788920" cy="21945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80576" y="1965960"/>
            <a:ext cx="2788920" cy="3840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63456" y="2039112"/>
            <a:ext cx="278892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05  ONE DAY</a:t>
            </a:r>
          </a:p>
        </p:txBody>
      </p:sp>
      <p:sp>
        <p:nvSpPr>
          <p:cNvPr id="27" name="Rectangle 26"/>
          <p:cNvSpPr/>
          <p:nvPr/>
        </p:nvSpPr>
        <p:spPr>
          <a:xfrm>
            <a:off x="9409176" y="2514600"/>
            <a:ext cx="233172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409176" y="3520440"/>
            <a:ext cx="2331720" cy="594360"/>
          </a:xfrm>
          <a:prstGeom prst="rect">
            <a:avLst/>
          </a:prstGeom>
          <a:noFill/>
        </p:spPr>
        <p:txBody>
          <a:bodyPr wrap="square" lIns="45720" rIns="45720" tIns="18288" bIns="18288" anchor="t">
            <a:spAutoFit/>
          </a:bodyPr>
          <a:lstStyle/>
          <a:p>
            <a:pPr algn="l">
              <a:lnSpc>
                <a:spcPct val="135000"/>
              </a:lnSpc>
            </a:pPr>
            <a:r>
              <a:rPr sz="930" b="0" i="0">
                <a:solidFill>
                  <a:srgbClr val="1E1B4B"/>
                </a:solidFill>
                <a:latin typeface="Calibri"/>
              </a:rPr>
              <a:t>Visual timeline.</a:t>
            </a:r>
          </a:p>
          <a:p>
            <a:pPr algn="l">
              <a:lnSpc>
                <a:spcPct val="135000"/>
              </a:lnSpc>
            </a:pPr>
            <a:r>
              <a:rPr sz="930" b="0" i="0">
                <a:solidFill>
                  <a:srgbClr val="1E1B4B"/>
                </a:solidFill>
                <a:latin typeface="Calibri"/>
              </a:rPr>
              <a:t>Day. Dusk. Night. After.</a:t>
            </a:r>
          </a:p>
          <a:p>
            <a:pPr algn="l">
              <a:lnSpc>
                <a:spcPct val="135000"/>
              </a:lnSpc>
            </a:pPr>
            <a:r>
              <a:rPr sz="930" b="0" i="0">
                <a:solidFill>
                  <a:srgbClr val="1E1B4B"/>
                </a:solidFill>
                <a:latin typeface="Calibri"/>
              </a:rPr>
              <a:t>Icons, no paragraphs.</a:t>
            </a:r>
          </a:p>
        </p:txBody>
      </p:sp>
      <p:sp>
        <p:nvSpPr>
          <p:cNvPr id="29" name="Rounded Rectangle 28"/>
          <p:cNvSpPr/>
          <p:nvPr/>
        </p:nvSpPr>
        <p:spPr>
          <a:xfrm>
            <a:off x="457200" y="4297680"/>
            <a:ext cx="2788920" cy="21945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4297680"/>
            <a:ext cx="2788920" cy="38404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4370832"/>
            <a:ext cx="278892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06  VALIDATION</a:t>
            </a:r>
          </a:p>
        </p:txBody>
      </p:sp>
      <p:sp>
        <p:nvSpPr>
          <p:cNvPr id="32" name="Rectangle 31"/>
          <p:cNvSpPr/>
          <p:nvPr/>
        </p:nvSpPr>
        <p:spPr>
          <a:xfrm>
            <a:off x="685800" y="4846320"/>
            <a:ext cx="233172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5852160"/>
            <a:ext cx="2331720" cy="594360"/>
          </a:xfrm>
          <a:prstGeom prst="rect">
            <a:avLst/>
          </a:prstGeom>
          <a:noFill/>
        </p:spPr>
        <p:txBody>
          <a:bodyPr wrap="square" lIns="45720" rIns="45720" tIns="18288" bIns="18288" anchor="t">
            <a:spAutoFit/>
          </a:bodyPr>
          <a:lstStyle/>
          <a:p>
            <a:pPr algn="l">
              <a:lnSpc>
                <a:spcPct val="135000"/>
              </a:lnSpc>
            </a:pPr>
            <a:r>
              <a:rPr sz="930" b="0" i="0">
                <a:solidFill>
                  <a:srgbClr val="1E1B4B"/>
                </a:solidFill>
                <a:latin typeface="Calibri"/>
              </a:rPr>
              <a:t>NAAC A+. UGC. WASC.</a:t>
            </a:r>
          </a:p>
          <a:p>
            <a:pPr algn="l">
              <a:lnSpc>
                <a:spcPct val="135000"/>
              </a:lnSpc>
            </a:pPr>
            <a:r>
              <a:rPr sz="930" b="0" i="0">
                <a:solidFill>
                  <a:srgbClr val="1E1B4B"/>
                </a:solidFill>
                <a:latin typeface="Calibri"/>
              </a:rPr>
              <a:t>QAA. WES. AICTE.</a:t>
            </a:r>
          </a:p>
          <a:p>
            <a:pPr algn="l">
              <a:lnSpc>
                <a:spcPct val="135000"/>
              </a:lnSpc>
            </a:pPr>
            <a:r>
              <a:rPr sz="930" b="0" i="0">
                <a:solidFill>
                  <a:srgbClr val="1E1B4B"/>
                </a:solidFill>
                <a:latin typeface="Calibri"/>
              </a:rPr>
              <a:t>QS Asia Pacific Top 10 MBA.</a:t>
            </a:r>
          </a:p>
        </p:txBody>
      </p:sp>
      <p:sp>
        <p:nvSpPr>
          <p:cNvPr id="34" name="Rounded Rectangle 33"/>
          <p:cNvSpPr/>
          <p:nvPr/>
        </p:nvSpPr>
        <p:spPr>
          <a:xfrm>
            <a:off x="3364992" y="4297680"/>
            <a:ext cx="2788920" cy="21945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64992" y="4297680"/>
            <a:ext cx="2788920" cy="38404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547872" y="4370832"/>
            <a:ext cx="278892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07  NUMBERS</a:t>
            </a:r>
          </a:p>
        </p:txBody>
      </p:sp>
      <p:sp>
        <p:nvSpPr>
          <p:cNvPr id="37" name="Rectangle 36"/>
          <p:cNvSpPr/>
          <p:nvPr/>
        </p:nvSpPr>
        <p:spPr>
          <a:xfrm>
            <a:off x="3593592" y="4846320"/>
            <a:ext cx="233172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93592" y="5852160"/>
            <a:ext cx="2331720" cy="594360"/>
          </a:xfrm>
          <a:prstGeom prst="rect">
            <a:avLst/>
          </a:prstGeom>
          <a:noFill/>
        </p:spPr>
        <p:txBody>
          <a:bodyPr wrap="square" lIns="45720" rIns="45720" tIns="18288" bIns="18288" anchor="t">
            <a:spAutoFit/>
          </a:bodyPr>
          <a:lstStyle/>
          <a:p>
            <a:pPr algn="l">
              <a:lnSpc>
                <a:spcPct val="135000"/>
              </a:lnSpc>
            </a:pPr>
            <a:r>
              <a:rPr sz="930" b="0" i="0">
                <a:solidFill>
                  <a:srgbClr val="1E1B4B"/>
                </a:solidFill>
                <a:latin typeface="Calibri"/>
              </a:rPr>
              <a:t>2,50,000+ learners.</a:t>
            </a:r>
          </a:p>
          <a:p>
            <a:pPr algn="l">
              <a:lnSpc>
                <a:spcPct val="135000"/>
              </a:lnSpc>
            </a:pPr>
            <a:r>
              <a:rPr sz="930" b="0" i="0">
                <a:solidFill>
                  <a:srgbClr val="1E1B4B"/>
                </a:solidFill>
                <a:latin typeface="Calibri"/>
              </a:rPr>
              <a:t>450+ hiring partners.</a:t>
            </a:r>
          </a:p>
          <a:p>
            <a:pPr algn="l">
              <a:lnSpc>
                <a:spcPct val="135000"/>
              </a:lnSpc>
            </a:pPr>
            <a:r>
              <a:rPr sz="930" b="0" i="0">
                <a:solidFill>
                  <a:srgbClr val="1E1B4B"/>
                </a:solidFill>
                <a:latin typeface="Calibri"/>
              </a:rPr>
              <a:t>40+ programmes.</a:t>
            </a:r>
          </a:p>
        </p:txBody>
      </p:sp>
      <p:sp>
        <p:nvSpPr>
          <p:cNvPr id="39" name="Rounded Rectangle 38"/>
          <p:cNvSpPr/>
          <p:nvPr/>
        </p:nvSpPr>
        <p:spPr>
          <a:xfrm>
            <a:off x="6272784" y="4297680"/>
            <a:ext cx="2788920" cy="21945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72784" y="4297680"/>
            <a:ext cx="2788920" cy="38404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55664" y="4370832"/>
            <a:ext cx="278892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08  FAQ</a:t>
            </a:r>
          </a:p>
        </p:txBody>
      </p:sp>
      <p:sp>
        <p:nvSpPr>
          <p:cNvPr id="42" name="Rectangle 41"/>
          <p:cNvSpPr/>
          <p:nvPr/>
        </p:nvSpPr>
        <p:spPr>
          <a:xfrm>
            <a:off x="6501384" y="4846320"/>
            <a:ext cx="233172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501384" y="5852160"/>
            <a:ext cx="2331720" cy="594360"/>
          </a:xfrm>
          <a:prstGeom prst="rect">
            <a:avLst/>
          </a:prstGeom>
          <a:noFill/>
        </p:spPr>
        <p:txBody>
          <a:bodyPr wrap="square" lIns="45720" rIns="45720" tIns="18288" bIns="18288" anchor="t">
            <a:spAutoFit/>
          </a:bodyPr>
          <a:lstStyle/>
          <a:p>
            <a:pPr algn="l">
              <a:lnSpc>
                <a:spcPct val="135000"/>
              </a:lnSpc>
            </a:pPr>
            <a:r>
              <a:rPr sz="930" b="0" i="0">
                <a:solidFill>
                  <a:srgbClr val="1E1B4B"/>
                </a:solidFill>
                <a:latin typeface="Calibri"/>
              </a:rPr>
              <a:t>Six real questions.</a:t>
            </a:r>
          </a:p>
          <a:p>
            <a:pPr algn="l">
              <a:lnSpc>
                <a:spcPct val="135000"/>
              </a:lnSpc>
            </a:pPr>
            <a:r>
              <a:rPr sz="930" b="0" i="0">
                <a:solidFill>
                  <a:srgbClr val="1E1B4B"/>
                </a:solidFill>
                <a:latin typeface="Calibri"/>
              </a:rPr>
              <a:t>What about my family?</a:t>
            </a:r>
          </a:p>
          <a:p>
            <a:pPr algn="l">
              <a:lnSpc>
                <a:spcPct val="135000"/>
              </a:lnSpc>
            </a:pPr>
            <a:r>
              <a:rPr sz="930" b="0" i="0">
                <a:solidFill>
                  <a:srgbClr val="1E1B4B"/>
                </a:solidFill>
                <a:latin typeface="Calibri"/>
              </a:rPr>
              <a:t>Is the night included?</a:t>
            </a:r>
          </a:p>
        </p:txBody>
      </p:sp>
      <p:sp>
        <p:nvSpPr>
          <p:cNvPr id="44" name="Rounded Rectangle 43"/>
          <p:cNvSpPr/>
          <p:nvPr/>
        </p:nvSpPr>
        <p:spPr>
          <a:xfrm>
            <a:off x="9180576" y="4297680"/>
            <a:ext cx="2788920" cy="219456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180576" y="4297680"/>
            <a:ext cx="2788920" cy="38404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363456" y="4370832"/>
            <a:ext cx="278892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09  BACK</a:t>
            </a:r>
          </a:p>
        </p:txBody>
      </p:sp>
      <p:sp>
        <p:nvSpPr>
          <p:cNvPr id="47" name="Rectangle 46"/>
          <p:cNvSpPr/>
          <p:nvPr/>
        </p:nvSpPr>
        <p:spPr>
          <a:xfrm>
            <a:off x="9409176" y="4846320"/>
            <a:ext cx="233172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409176" y="5852160"/>
            <a:ext cx="2331720" cy="594360"/>
          </a:xfrm>
          <a:prstGeom prst="rect">
            <a:avLst/>
          </a:prstGeom>
          <a:noFill/>
        </p:spPr>
        <p:txBody>
          <a:bodyPr wrap="square" lIns="45720" rIns="45720" tIns="18288" bIns="18288" anchor="t">
            <a:spAutoFit/>
          </a:bodyPr>
          <a:lstStyle/>
          <a:p>
            <a:pPr algn="l">
              <a:lnSpc>
                <a:spcPct val="135000"/>
              </a:lnSpc>
            </a:pPr>
            <a:r>
              <a:rPr sz="930" b="0" i="0">
                <a:solidFill>
                  <a:srgbClr val="1E1B4B"/>
                </a:solidFill>
                <a:latin typeface="Calibri"/>
              </a:rPr>
              <a:t>QR code to register.</a:t>
            </a:r>
          </a:p>
          <a:p>
            <a:pPr algn="l">
              <a:lnSpc>
                <a:spcPct val="135000"/>
              </a:lnSpc>
            </a:pPr>
            <a:r>
              <a:rPr sz="930" b="0" i="0">
                <a:solidFill>
                  <a:srgbClr val="1E1B4B"/>
                </a:solidFill>
                <a:latin typeface="Calibri"/>
              </a:rPr>
              <a:t>'One night. The rest of</a:t>
            </a:r>
          </a:p>
          <a:p>
            <a:pPr algn="l">
              <a:lnSpc>
                <a:spcPct val="135000"/>
              </a:lnSpc>
            </a:pPr>
            <a:r>
              <a:rPr sz="930" b="0" i="0">
                <a:solidFill>
                  <a:srgbClr val="1E1B4B"/>
                </a:solidFill>
                <a:latin typeface="Calibri"/>
              </a:rPr>
              <a:t>your career.'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nline_class.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00E2E">
              <a:alpha val="7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463040"/>
            <a:ext cx="5486400" cy="3200400"/>
          </a:xfrm>
          <a:prstGeom prst="rect">
            <a:avLst/>
          </a:prstGeom>
          <a:noFill/>
        </p:spPr>
        <p:txBody>
          <a:bodyPr wrap="square" lIns="45720" rIns="45720" tIns="18288" bIns="18288" anchor="t">
            <a:spAutoFit/>
          </a:bodyPr>
          <a:lstStyle/>
          <a:p>
            <a:pPr algn="l">
              <a:lnSpc>
                <a:spcPct val="90000"/>
              </a:lnSpc>
            </a:pPr>
            <a:r>
              <a:rPr sz="11000" b="1" i="0">
                <a:solidFill>
                  <a:srgbClr val="14B8A6"/>
                </a:solidFill>
                <a:latin typeface="Calibri"/>
              </a:rPr>
              <a:t>Task</a:t>
            </a:r>
          </a:p>
          <a:p>
            <a:pPr algn="l">
              <a:lnSpc>
                <a:spcPct val="90000"/>
              </a:lnSpc>
            </a:pPr>
            <a:r>
              <a:rPr sz="11000" b="1" i="0">
                <a:solidFill>
                  <a:srgbClr val="14B8A6"/>
                </a:solidFill>
                <a:latin typeface="Calibri"/>
              </a:rPr>
              <a:t>02</a:t>
            </a:r>
          </a:p>
        </p:txBody>
      </p:sp>
      <p:sp>
        <p:nvSpPr>
          <p:cNvPr id="6" name="TextBox 5"/>
          <p:cNvSpPr txBox="1"/>
          <p:nvPr/>
        </p:nvSpPr>
        <p:spPr>
          <a:xfrm>
            <a:off x="685800" y="4434840"/>
            <a:ext cx="10058400" cy="914400"/>
          </a:xfrm>
          <a:prstGeom prst="rect">
            <a:avLst/>
          </a:prstGeom>
          <a:noFill/>
        </p:spPr>
        <p:txBody>
          <a:bodyPr wrap="square" lIns="45720" rIns="45720" tIns="18288" bIns="18288" anchor="t">
            <a:spAutoFit/>
          </a:bodyPr>
          <a:lstStyle/>
          <a:p>
            <a:pPr algn="l">
              <a:lnSpc>
                <a:spcPct val="105000"/>
              </a:lnSpc>
            </a:pPr>
            <a:r>
              <a:rPr sz="3000" b="1" i="0">
                <a:solidFill>
                  <a:srgbClr val="FFFFFF"/>
                </a:solidFill>
                <a:latin typeface="Calibri"/>
              </a:rPr>
              <a:t>Twelve months. One feeling per quarter.</a:t>
            </a:r>
          </a:p>
        </p:txBody>
      </p:sp>
      <p:sp>
        <p:nvSpPr>
          <p:cNvPr id="7" name="TextBox 6"/>
          <p:cNvSpPr txBox="1"/>
          <p:nvPr/>
        </p:nvSpPr>
        <p:spPr>
          <a:xfrm>
            <a:off x="685800" y="5532120"/>
            <a:ext cx="10058400" cy="731520"/>
          </a:xfrm>
          <a:prstGeom prst="rect">
            <a:avLst/>
          </a:prstGeom>
          <a:noFill/>
        </p:spPr>
        <p:txBody>
          <a:bodyPr wrap="square" lIns="45720" rIns="45720" tIns="18288" bIns="18288" anchor="t">
            <a:spAutoFit/>
          </a:bodyPr>
          <a:lstStyle/>
          <a:p>
            <a:pPr algn="l">
              <a:lnSpc>
                <a:spcPct val="130000"/>
              </a:lnSpc>
            </a:pPr>
            <a:r>
              <a:rPr sz="1400" b="0" i="1">
                <a:solidFill>
                  <a:srgbClr val="C4B5FD"/>
                </a:solidFill>
                <a:latin typeface="Calibri"/>
              </a:rPr>
              <a:t>From onboarding ritual to advocacy engine. Built so every learner has at least three I felt seen moments per year.</a:t>
            </a:r>
          </a:p>
        </p:txBody>
      </p:sp>
      <p:sp>
        <p:nvSpPr>
          <p:cNvPr id="8" name="Rounded Rectangle 7"/>
          <p:cNvSpPr/>
          <p:nvPr/>
        </p:nvSpPr>
        <p:spPr>
          <a:xfrm>
            <a:off x="10340961" y="228600"/>
            <a:ext cx="1548982" cy="58521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mity_online_logo.png"/>
          <p:cNvPicPr>
            <a:picLocks noChangeAspect="1"/>
          </p:cNvPicPr>
          <p:nvPr/>
        </p:nvPicPr>
        <p:blipFill>
          <a:blip r:embed="rId3"/>
          <a:stretch>
            <a:fillRect/>
          </a:stretch>
        </p:blipFill>
        <p:spPr>
          <a:xfrm>
            <a:off x="10450689" y="292608"/>
            <a:ext cx="1329526" cy="457200"/>
          </a:xfrm>
          <a:prstGeom prst="rect">
            <a:avLst/>
          </a:prstGeom>
        </p:spPr>
      </p:pic>
      <p:sp>
        <p:nvSpPr>
          <p:cNvPr id="10" name="TextBox 9"/>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C4B5FD"/>
                </a:solidFill>
                <a:latin typeface="Calibri"/>
              </a:rPr>
              <a:t/>
            </a:r>
          </a:p>
        </p:txBody>
      </p:sp>
      <p:sp>
        <p:nvSpPr>
          <p:cNvPr id="11" name="TextBox 10"/>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C4B5FD"/>
                </a:solidFill>
                <a:latin typeface="Calibri"/>
              </a:rPr>
              <a:t>9 / 19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TASK 2   |   YEARLY ENGAGEMENT ROADMAP</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A 12 month roadmap. One feeling per quarter.</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10 / 19</a:t>
            </a:r>
          </a:p>
        </p:txBody>
      </p:sp>
      <p:sp>
        <p:nvSpPr>
          <p:cNvPr id="8" name="TextBox 7"/>
          <p:cNvSpPr txBox="1"/>
          <p:nvPr/>
        </p:nvSpPr>
        <p:spPr>
          <a:xfrm>
            <a:off x="457200" y="1417320"/>
            <a:ext cx="11247120" cy="365760"/>
          </a:xfrm>
          <a:prstGeom prst="rect">
            <a:avLst/>
          </a:prstGeom>
          <a:noFill/>
        </p:spPr>
        <p:txBody>
          <a:bodyPr wrap="square" lIns="45720" rIns="45720" tIns="18288" bIns="18288" anchor="t">
            <a:spAutoFit/>
          </a:bodyPr>
          <a:lstStyle/>
          <a:p>
            <a:pPr algn="l">
              <a:lnSpc>
                <a:spcPct val="135000"/>
              </a:lnSpc>
            </a:pPr>
            <a:r>
              <a:rPr sz="1150" b="0" i="1">
                <a:solidFill>
                  <a:srgbClr val="52597A"/>
                </a:solidFill>
                <a:latin typeface="Calibri"/>
              </a:rPr>
              <a:t>We build belonging first. Then capability. Then advocacy. Then a future cohort engine.</a:t>
            </a:r>
          </a:p>
        </p:txBody>
      </p:sp>
      <p:sp>
        <p:nvSpPr>
          <p:cNvPr id="9" name="Rectangle 8"/>
          <p:cNvSpPr/>
          <p:nvPr/>
        </p:nvSpPr>
        <p:spPr>
          <a:xfrm>
            <a:off x="457200" y="1965960"/>
            <a:ext cx="2377440" cy="640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 y="2029968"/>
            <a:ext cx="2377440" cy="3273552"/>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30552"/>
            <a:ext cx="237744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Q1</a:t>
            </a:r>
          </a:p>
        </p:txBody>
      </p:sp>
      <p:sp>
        <p:nvSpPr>
          <p:cNvPr id="12" name="TextBox 11"/>
          <p:cNvSpPr txBox="1"/>
          <p:nvPr/>
        </p:nvSpPr>
        <p:spPr>
          <a:xfrm>
            <a:off x="685800" y="2377440"/>
            <a:ext cx="2011680" cy="411480"/>
          </a:xfrm>
          <a:prstGeom prst="rect">
            <a:avLst/>
          </a:prstGeom>
          <a:noFill/>
        </p:spPr>
        <p:txBody>
          <a:bodyPr wrap="square" lIns="45720" rIns="45720" tIns="18288" bIns="18288" anchor="t">
            <a:spAutoFit/>
          </a:bodyPr>
          <a:lstStyle/>
          <a:p>
            <a:pPr algn="l">
              <a:lnSpc>
                <a:spcPct val="100000"/>
              </a:lnSpc>
            </a:pPr>
            <a:r>
              <a:rPr sz="1800" b="1" i="0">
                <a:solidFill>
                  <a:srgbClr val="1E1B4B"/>
                </a:solidFill>
                <a:latin typeface="Calibri"/>
              </a:rPr>
              <a:t>BELONG.</a:t>
            </a:r>
          </a:p>
        </p:txBody>
      </p:sp>
      <p:sp>
        <p:nvSpPr>
          <p:cNvPr id="13" name="TextBox 12"/>
          <p:cNvSpPr txBox="1"/>
          <p:nvPr/>
        </p:nvSpPr>
        <p:spPr>
          <a:xfrm>
            <a:off x="685800" y="2807208"/>
            <a:ext cx="2011680" cy="502920"/>
          </a:xfrm>
          <a:prstGeom prst="rect">
            <a:avLst/>
          </a:prstGeom>
          <a:noFill/>
        </p:spPr>
        <p:txBody>
          <a:bodyPr wrap="square" lIns="45720" rIns="45720" tIns="18288" bIns="18288" anchor="t">
            <a:spAutoFit/>
          </a:bodyPr>
          <a:lstStyle/>
          <a:p>
            <a:pPr algn="l">
              <a:lnSpc>
                <a:spcPct val="130000"/>
              </a:lnSpc>
            </a:pPr>
            <a:r>
              <a:rPr sz="1030" b="0" i="1">
                <a:solidFill>
                  <a:srgbClr val="52597A"/>
                </a:solidFill>
                <a:latin typeface="Calibri"/>
              </a:rPr>
              <a:t>Make every learner feel seen.</a:t>
            </a:r>
          </a:p>
        </p:txBody>
      </p:sp>
      <p:sp>
        <p:nvSpPr>
          <p:cNvPr id="14" name="TextBox 13"/>
          <p:cNvSpPr txBox="1"/>
          <p:nvPr/>
        </p:nvSpPr>
        <p:spPr>
          <a:xfrm>
            <a:off x="685800" y="3383280"/>
            <a:ext cx="2011680" cy="1828800"/>
          </a:xfrm>
          <a:prstGeom prst="rect">
            <a:avLst/>
          </a:prstGeom>
          <a:noFill/>
        </p:spPr>
        <p:txBody>
          <a:bodyPr wrap="square" lIns="45720" rIns="45720" tIns="18288" bIns="18288">
            <a:spAutoFit/>
          </a:bodyPr>
          <a:lstStyle/>
          <a:p>
            <a:pPr algn="l">
              <a:lnSpc>
                <a:spcPct val="140000"/>
              </a:lnSpc>
              <a:spcBef>
                <a:spcPts val="400"/>
              </a:spcBef>
            </a:pPr>
            <a:r>
              <a:rPr sz="950" b="1">
                <a:solidFill>
                  <a:srgbClr val="14B8A6"/>
                </a:solidFill>
                <a:latin typeface="Calibri"/>
              </a:rPr>
              <a:t>• </a:t>
            </a:r>
            <a:r>
              <a:rPr sz="950">
                <a:solidFill>
                  <a:srgbClr val="141B2D"/>
                </a:solidFill>
                <a:latin typeface="Calibri"/>
              </a:rPr>
              <a:t>Welcome kit and 30 day onboarding.</a:t>
            </a:r>
          </a:p>
          <a:p>
            <a:pPr algn="l">
              <a:lnSpc>
                <a:spcPct val="140000"/>
              </a:lnSpc>
              <a:spcBef>
                <a:spcPts val="400"/>
              </a:spcBef>
            </a:pPr>
            <a:r>
              <a:rPr sz="950" b="1">
                <a:solidFill>
                  <a:srgbClr val="14B8A6"/>
                </a:solidFill>
                <a:latin typeface="Calibri"/>
              </a:rPr>
              <a:t>• </a:t>
            </a:r>
            <a:r>
              <a:rPr sz="950">
                <a:solidFill>
                  <a:srgbClr val="141B2D"/>
                </a:solidFill>
                <a:latin typeface="Calibri"/>
              </a:rPr>
              <a:t>Weekly Sunday Sit Down (Live AMA).</a:t>
            </a:r>
          </a:p>
          <a:p>
            <a:pPr algn="l">
              <a:lnSpc>
                <a:spcPct val="140000"/>
              </a:lnSpc>
              <a:spcBef>
                <a:spcPts val="400"/>
              </a:spcBef>
            </a:pPr>
            <a:r>
              <a:rPr sz="950" b="1">
                <a:solidFill>
                  <a:srgbClr val="14B8A6"/>
                </a:solidFill>
                <a:latin typeface="Calibri"/>
              </a:rPr>
              <a:t>• </a:t>
            </a:r>
            <a:r>
              <a:rPr sz="950">
                <a:solidFill>
                  <a:srgbClr val="141B2D"/>
                </a:solidFill>
                <a:latin typeface="Calibri"/>
              </a:rPr>
              <a:t>First city meetups in 6 cities.</a:t>
            </a:r>
          </a:p>
          <a:p>
            <a:pPr algn="l">
              <a:lnSpc>
                <a:spcPct val="140000"/>
              </a:lnSpc>
              <a:spcBef>
                <a:spcPts val="400"/>
              </a:spcBef>
            </a:pPr>
            <a:r>
              <a:rPr sz="950" b="1">
                <a:solidFill>
                  <a:srgbClr val="14B8A6"/>
                </a:solidFill>
                <a:latin typeface="Calibri"/>
              </a:rPr>
              <a:t>• </a:t>
            </a:r>
            <a:r>
              <a:rPr sz="950">
                <a:solidFill>
                  <a:srgbClr val="141B2D"/>
                </a:solidFill>
                <a:latin typeface="Calibri"/>
              </a:rPr>
              <a:t>Anchor: Active Learner Score launches.</a:t>
            </a:r>
          </a:p>
        </p:txBody>
      </p:sp>
      <p:sp>
        <p:nvSpPr>
          <p:cNvPr id="15" name="Rectangle 14"/>
          <p:cNvSpPr/>
          <p:nvPr/>
        </p:nvSpPr>
        <p:spPr>
          <a:xfrm>
            <a:off x="3520440" y="1965960"/>
            <a:ext cx="2377440" cy="6400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3520440" y="2029968"/>
            <a:ext cx="2377440" cy="3273552"/>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40" y="2130552"/>
            <a:ext cx="2377440" cy="274320"/>
          </a:xfrm>
          <a:prstGeom prst="rect">
            <a:avLst/>
          </a:prstGeom>
          <a:noFill/>
        </p:spPr>
        <p:txBody>
          <a:bodyPr wrap="square" lIns="45720" rIns="45720" tIns="18288" bIns="18288" anchor="t">
            <a:spAutoFit/>
          </a:bodyPr>
          <a:lstStyle/>
          <a:p>
            <a:pPr algn="l">
              <a:lnSpc>
                <a:spcPct val="125000"/>
              </a:lnSpc>
            </a:pPr>
            <a:r>
              <a:rPr sz="1050" b="1" i="0">
                <a:solidFill>
                  <a:srgbClr val="06B6D4"/>
                </a:solidFill>
                <a:latin typeface="Calibri"/>
              </a:rPr>
              <a:t>Q2</a:t>
            </a:r>
          </a:p>
        </p:txBody>
      </p:sp>
      <p:sp>
        <p:nvSpPr>
          <p:cNvPr id="18" name="TextBox 17"/>
          <p:cNvSpPr txBox="1"/>
          <p:nvPr/>
        </p:nvSpPr>
        <p:spPr>
          <a:xfrm>
            <a:off x="3749040" y="2377440"/>
            <a:ext cx="2011680" cy="411480"/>
          </a:xfrm>
          <a:prstGeom prst="rect">
            <a:avLst/>
          </a:prstGeom>
          <a:noFill/>
        </p:spPr>
        <p:txBody>
          <a:bodyPr wrap="square" lIns="45720" rIns="45720" tIns="18288" bIns="18288" anchor="t">
            <a:spAutoFit/>
          </a:bodyPr>
          <a:lstStyle/>
          <a:p>
            <a:pPr algn="l">
              <a:lnSpc>
                <a:spcPct val="100000"/>
              </a:lnSpc>
            </a:pPr>
            <a:r>
              <a:rPr sz="1800" b="1" i="0">
                <a:solidFill>
                  <a:srgbClr val="1E1B4B"/>
                </a:solidFill>
                <a:latin typeface="Calibri"/>
              </a:rPr>
              <a:t>BUILD.</a:t>
            </a:r>
          </a:p>
        </p:txBody>
      </p:sp>
      <p:sp>
        <p:nvSpPr>
          <p:cNvPr id="19" name="TextBox 18"/>
          <p:cNvSpPr txBox="1"/>
          <p:nvPr/>
        </p:nvSpPr>
        <p:spPr>
          <a:xfrm>
            <a:off x="3749040" y="2807208"/>
            <a:ext cx="2011680" cy="502920"/>
          </a:xfrm>
          <a:prstGeom prst="rect">
            <a:avLst/>
          </a:prstGeom>
          <a:noFill/>
        </p:spPr>
        <p:txBody>
          <a:bodyPr wrap="square" lIns="45720" rIns="45720" tIns="18288" bIns="18288" anchor="t">
            <a:spAutoFit/>
          </a:bodyPr>
          <a:lstStyle/>
          <a:p>
            <a:pPr algn="l">
              <a:lnSpc>
                <a:spcPct val="130000"/>
              </a:lnSpc>
            </a:pPr>
            <a:r>
              <a:rPr sz="1030" b="0" i="1">
                <a:solidFill>
                  <a:srgbClr val="52597A"/>
                </a:solidFill>
                <a:latin typeface="Calibri"/>
              </a:rPr>
              <a:t>Give them practice and proof.</a:t>
            </a:r>
          </a:p>
        </p:txBody>
      </p:sp>
      <p:sp>
        <p:nvSpPr>
          <p:cNvPr id="20" name="TextBox 19"/>
          <p:cNvSpPr txBox="1"/>
          <p:nvPr/>
        </p:nvSpPr>
        <p:spPr>
          <a:xfrm>
            <a:off x="3749040" y="3383280"/>
            <a:ext cx="2011680" cy="1828800"/>
          </a:xfrm>
          <a:prstGeom prst="rect">
            <a:avLst/>
          </a:prstGeom>
          <a:noFill/>
        </p:spPr>
        <p:txBody>
          <a:bodyPr wrap="square" lIns="45720" rIns="45720" tIns="18288" bIns="18288">
            <a:spAutoFit/>
          </a:bodyPr>
          <a:lstStyle/>
          <a:p>
            <a:pPr algn="l">
              <a:lnSpc>
                <a:spcPct val="140000"/>
              </a:lnSpc>
              <a:spcBef>
                <a:spcPts val="400"/>
              </a:spcBef>
            </a:pPr>
            <a:r>
              <a:rPr sz="950" b="1">
                <a:solidFill>
                  <a:srgbClr val="06B6D4"/>
                </a:solidFill>
                <a:latin typeface="Calibri"/>
              </a:rPr>
              <a:t>• </a:t>
            </a:r>
            <a:r>
              <a:rPr sz="950">
                <a:solidFill>
                  <a:srgbClr val="141B2D"/>
                </a:solidFill>
                <a:latin typeface="Calibri"/>
              </a:rPr>
              <a:t>Industry sprints. Real briefs from partners.</a:t>
            </a:r>
          </a:p>
          <a:p>
            <a:pPr algn="l">
              <a:lnSpc>
                <a:spcPct val="140000"/>
              </a:lnSpc>
              <a:spcBef>
                <a:spcPts val="400"/>
              </a:spcBef>
            </a:pPr>
            <a:r>
              <a:rPr sz="950" b="1">
                <a:solidFill>
                  <a:srgbClr val="06B6D4"/>
                </a:solidFill>
                <a:latin typeface="Calibri"/>
              </a:rPr>
              <a:t>• </a:t>
            </a:r>
            <a:r>
              <a:rPr sz="950">
                <a:solidFill>
                  <a:srgbClr val="141B2D"/>
                </a:solidFill>
                <a:latin typeface="Calibri"/>
              </a:rPr>
              <a:t>Capstone showcase + learner LinkedIn awards.</a:t>
            </a:r>
          </a:p>
          <a:p>
            <a:pPr algn="l">
              <a:lnSpc>
                <a:spcPct val="140000"/>
              </a:lnSpc>
              <a:spcBef>
                <a:spcPts val="400"/>
              </a:spcBef>
            </a:pPr>
            <a:r>
              <a:rPr sz="950" b="1">
                <a:solidFill>
                  <a:srgbClr val="06B6D4"/>
                </a:solidFill>
                <a:latin typeface="Calibri"/>
              </a:rPr>
              <a:t>• </a:t>
            </a:r>
            <a:r>
              <a:rPr sz="950">
                <a:solidFill>
                  <a:srgbClr val="141B2D"/>
                </a:solidFill>
                <a:latin typeface="Calibri"/>
              </a:rPr>
              <a:t>First Amity Ignite cohort runs.</a:t>
            </a:r>
          </a:p>
          <a:p>
            <a:pPr algn="l">
              <a:lnSpc>
                <a:spcPct val="140000"/>
              </a:lnSpc>
              <a:spcBef>
                <a:spcPts val="400"/>
              </a:spcBef>
            </a:pPr>
            <a:r>
              <a:rPr sz="950" b="1">
                <a:solidFill>
                  <a:srgbClr val="06B6D4"/>
                </a:solidFill>
                <a:latin typeface="Calibri"/>
              </a:rPr>
              <a:t>• </a:t>
            </a:r>
            <a:r>
              <a:rPr sz="950">
                <a:solidFill>
                  <a:srgbClr val="141B2D"/>
                </a:solidFill>
                <a:latin typeface="Calibri"/>
              </a:rPr>
              <a:t>Anchor: 70% complete a sprint.</a:t>
            </a:r>
          </a:p>
        </p:txBody>
      </p:sp>
      <p:sp>
        <p:nvSpPr>
          <p:cNvPr id="21" name="Rectangle 20"/>
          <p:cNvSpPr/>
          <p:nvPr/>
        </p:nvSpPr>
        <p:spPr>
          <a:xfrm>
            <a:off x="6583680" y="1965960"/>
            <a:ext cx="2377440" cy="6400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83680" y="2029968"/>
            <a:ext cx="2377440" cy="3273552"/>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12280" y="2130552"/>
            <a:ext cx="2377440" cy="274320"/>
          </a:xfrm>
          <a:prstGeom prst="rect">
            <a:avLst/>
          </a:prstGeom>
          <a:noFill/>
        </p:spPr>
        <p:txBody>
          <a:bodyPr wrap="square" lIns="45720" rIns="45720" tIns="18288" bIns="18288" anchor="t">
            <a:spAutoFit/>
          </a:bodyPr>
          <a:lstStyle/>
          <a:p>
            <a:pPr algn="l">
              <a:lnSpc>
                <a:spcPct val="125000"/>
              </a:lnSpc>
            </a:pPr>
            <a:r>
              <a:rPr sz="1050" b="1" i="0">
                <a:solidFill>
                  <a:srgbClr val="A855F7"/>
                </a:solidFill>
                <a:latin typeface="Calibri"/>
              </a:rPr>
              <a:t>Q3</a:t>
            </a:r>
          </a:p>
        </p:txBody>
      </p:sp>
      <p:sp>
        <p:nvSpPr>
          <p:cNvPr id="24" name="TextBox 23"/>
          <p:cNvSpPr txBox="1"/>
          <p:nvPr/>
        </p:nvSpPr>
        <p:spPr>
          <a:xfrm>
            <a:off x="6812280" y="2377440"/>
            <a:ext cx="2011680" cy="411480"/>
          </a:xfrm>
          <a:prstGeom prst="rect">
            <a:avLst/>
          </a:prstGeom>
          <a:noFill/>
        </p:spPr>
        <p:txBody>
          <a:bodyPr wrap="square" lIns="45720" rIns="45720" tIns="18288" bIns="18288" anchor="t">
            <a:spAutoFit/>
          </a:bodyPr>
          <a:lstStyle/>
          <a:p>
            <a:pPr algn="l">
              <a:lnSpc>
                <a:spcPct val="100000"/>
              </a:lnSpc>
            </a:pPr>
            <a:r>
              <a:rPr sz="1800" b="1" i="0">
                <a:solidFill>
                  <a:srgbClr val="1E1B4B"/>
                </a:solidFill>
                <a:latin typeface="Calibri"/>
              </a:rPr>
              <a:t>BROADCAST.</a:t>
            </a:r>
          </a:p>
        </p:txBody>
      </p:sp>
      <p:sp>
        <p:nvSpPr>
          <p:cNvPr id="25" name="TextBox 24"/>
          <p:cNvSpPr txBox="1"/>
          <p:nvPr/>
        </p:nvSpPr>
        <p:spPr>
          <a:xfrm>
            <a:off x="6812280" y="2807208"/>
            <a:ext cx="2011680" cy="502920"/>
          </a:xfrm>
          <a:prstGeom prst="rect">
            <a:avLst/>
          </a:prstGeom>
          <a:noFill/>
        </p:spPr>
        <p:txBody>
          <a:bodyPr wrap="square" lIns="45720" rIns="45720" tIns="18288" bIns="18288" anchor="t">
            <a:spAutoFit/>
          </a:bodyPr>
          <a:lstStyle/>
          <a:p>
            <a:pPr algn="l">
              <a:lnSpc>
                <a:spcPct val="130000"/>
              </a:lnSpc>
            </a:pPr>
            <a:r>
              <a:rPr sz="1030" b="0" i="1">
                <a:solidFill>
                  <a:srgbClr val="52597A"/>
                </a:solidFill>
                <a:latin typeface="Calibri"/>
              </a:rPr>
              <a:t>Turn outcomes into pull.</a:t>
            </a:r>
          </a:p>
        </p:txBody>
      </p:sp>
      <p:sp>
        <p:nvSpPr>
          <p:cNvPr id="26" name="TextBox 25"/>
          <p:cNvSpPr txBox="1"/>
          <p:nvPr/>
        </p:nvSpPr>
        <p:spPr>
          <a:xfrm>
            <a:off x="6812280" y="3383280"/>
            <a:ext cx="2011680" cy="1828800"/>
          </a:xfrm>
          <a:prstGeom prst="rect">
            <a:avLst/>
          </a:prstGeom>
          <a:noFill/>
        </p:spPr>
        <p:txBody>
          <a:bodyPr wrap="square" lIns="45720" rIns="45720" tIns="18288" bIns="18288">
            <a:spAutoFit/>
          </a:bodyPr>
          <a:lstStyle/>
          <a:p>
            <a:pPr algn="l">
              <a:lnSpc>
                <a:spcPct val="140000"/>
              </a:lnSpc>
              <a:spcBef>
                <a:spcPts val="400"/>
              </a:spcBef>
            </a:pPr>
            <a:r>
              <a:rPr sz="950" b="1">
                <a:solidFill>
                  <a:srgbClr val="A855F7"/>
                </a:solidFill>
                <a:latin typeface="Calibri"/>
              </a:rPr>
              <a:t>• </a:t>
            </a:r>
            <a:r>
              <a:rPr sz="950">
                <a:solidFill>
                  <a:srgbClr val="141B2D"/>
                </a:solidFill>
                <a:latin typeface="Calibri"/>
              </a:rPr>
              <a:t>Outcome stories campaign. Real learners.</a:t>
            </a:r>
          </a:p>
          <a:p>
            <a:pPr algn="l">
              <a:lnSpc>
                <a:spcPct val="140000"/>
              </a:lnSpc>
              <a:spcBef>
                <a:spcPts val="400"/>
              </a:spcBef>
            </a:pPr>
            <a:r>
              <a:rPr sz="950" b="1">
                <a:solidFill>
                  <a:srgbClr val="A855F7"/>
                </a:solidFill>
                <a:latin typeface="Calibri"/>
              </a:rPr>
              <a:t>• </a:t>
            </a:r>
            <a:r>
              <a:rPr sz="950">
                <a:solidFill>
                  <a:srgbClr val="141B2D"/>
                </a:solidFill>
                <a:latin typeface="Calibri"/>
              </a:rPr>
              <a:t>Referral program 1.0 (2 sided).</a:t>
            </a:r>
          </a:p>
          <a:p>
            <a:pPr algn="l">
              <a:lnSpc>
                <a:spcPct val="140000"/>
              </a:lnSpc>
              <a:spcBef>
                <a:spcPts val="400"/>
              </a:spcBef>
            </a:pPr>
            <a:r>
              <a:rPr sz="950" b="1">
                <a:solidFill>
                  <a:srgbClr val="A855F7"/>
                </a:solidFill>
                <a:latin typeface="Calibri"/>
              </a:rPr>
              <a:t>• </a:t>
            </a:r>
            <a:r>
              <a:rPr sz="950">
                <a:solidFill>
                  <a:srgbClr val="141B2D"/>
                </a:solidFill>
                <a:latin typeface="Calibri"/>
              </a:rPr>
              <a:t>Alumni Mentor Network goes live.</a:t>
            </a:r>
          </a:p>
          <a:p>
            <a:pPr algn="l">
              <a:lnSpc>
                <a:spcPct val="140000"/>
              </a:lnSpc>
              <a:spcBef>
                <a:spcPts val="400"/>
              </a:spcBef>
            </a:pPr>
            <a:r>
              <a:rPr sz="950" b="1">
                <a:solidFill>
                  <a:srgbClr val="A855F7"/>
                </a:solidFill>
                <a:latin typeface="Calibri"/>
              </a:rPr>
              <a:t>• </a:t>
            </a:r>
            <a:r>
              <a:rPr sz="950">
                <a:solidFill>
                  <a:srgbClr val="141B2D"/>
                </a:solidFill>
                <a:latin typeface="Calibri"/>
              </a:rPr>
              <a:t>Anchor: 5%+ enrolments via referral.</a:t>
            </a:r>
          </a:p>
        </p:txBody>
      </p:sp>
      <p:sp>
        <p:nvSpPr>
          <p:cNvPr id="27" name="Rectangle 26"/>
          <p:cNvSpPr/>
          <p:nvPr/>
        </p:nvSpPr>
        <p:spPr>
          <a:xfrm>
            <a:off x="9646920" y="1965960"/>
            <a:ext cx="2377440" cy="64008"/>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646920" y="2029968"/>
            <a:ext cx="2377440" cy="3273552"/>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0" y="2130552"/>
            <a:ext cx="2377440" cy="274320"/>
          </a:xfrm>
          <a:prstGeom prst="rect">
            <a:avLst/>
          </a:prstGeom>
          <a:noFill/>
        </p:spPr>
        <p:txBody>
          <a:bodyPr wrap="square" lIns="45720" rIns="45720" tIns="18288" bIns="18288" anchor="t">
            <a:spAutoFit/>
          </a:bodyPr>
          <a:lstStyle/>
          <a:p>
            <a:pPr algn="l">
              <a:lnSpc>
                <a:spcPct val="125000"/>
              </a:lnSpc>
            </a:pPr>
            <a:r>
              <a:rPr sz="1050" b="1" i="0">
                <a:solidFill>
                  <a:srgbClr val="1E1B4B"/>
                </a:solidFill>
                <a:latin typeface="Calibri"/>
              </a:rPr>
              <a:t>Q4</a:t>
            </a:r>
          </a:p>
        </p:txBody>
      </p:sp>
      <p:sp>
        <p:nvSpPr>
          <p:cNvPr id="30" name="TextBox 29"/>
          <p:cNvSpPr txBox="1"/>
          <p:nvPr/>
        </p:nvSpPr>
        <p:spPr>
          <a:xfrm>
            <a:off x="9875520" y="2377440"/>
            <a:ext cx="2011680" cy="411480"/>
          </a:xfrm>
          <a:prstGeom prst="rect">
            <a:avLst/>
          </a:prstGeom>
          <a:noFill/>
        </p:spPr>
        <p:txBody>
          <a:bodyPr wrap="square" lIns="45720" rIns="45720" tIns="18288" bIns="18288" anchor="t">
            <a:spAutoFit/>
          </a:bodyPr>
          <a:lstStyle/>
          <a:p>
            <a:pPr algn="l">
              <a:lnSpc>
                <a:spcPct val="100000"/>
              </a:lnSpc>
            </a:pPr>
            <a:r>
              <a:rPr sz="1800" b="1" i="0">
                <a:solidFill>
                  <a:srgbClr val="1E1B4B"/>
                </a:solidFill>
                <a:latin typeface="Calibri"/>
              </a:rPr>
              <a:t>BEYOND.</a:t>
            </a:r>
          </a:p>
        </p:txBody>
      </p:sp>
      <p:sp>
        <p:nvSpPr>
          <p:cNvPr id="31" name="TextBox 30"/>
          <p:cNvSpPr txBox="1"/>
          <p:nvPr/>
        </p:nvSpPr>
        <p:spPr>
          <a:xfrm>
            <a:off x="9875520" y="2807208"/>
            <a:ext cx="2011680" cy="502920"/>
          </a:xfrm>
          <a:prstGeom prst="rect">
            <a:avLst/>
          </a:prstGeom>
          <a:noFill/>
        </p:spPr>
        <p:txBody>
          <a:bodyPr wrap="square" lIns="45720" rIns="45720" tIns="18288" bIns="18288" anchor="t">
            <a:spAutoFit/>
          </a:bodyPr>
          <a:lstStyle/>
          <a:p>
            <a:pPr algn="l">
              <a:lnSpc>
                <a:spcPct val="130000"/>
              </a:lnSpc>
            </a:pPr>
            <a:r>
              <a:rPr sz="1030" b="0" i="1">
                <a:solidFill>
                  <a:srgbClr val="52597A"/>
                </a:solidFill>
                <a:latin typeface="Calibri"/>
              </a:rPr>
              <a:t>Make the next cohort easier.</a:t>
            </a:r>
          </a:p>
        </p:txBody>
      </p:sp>
      <p:sp>
        <p:nvSpPr>
          <p:cNvPr id="32" name="TextBox 31"/>
          <p:cNvSpPr txBox="1"/>
          <p:nvPr/>
        </p:nvSpPr>
        <p:spPr>
          <a:xfrm>
            <a:off x="9875520" y="3383280"/>
            <a:ext cx="2011680" cy="1828800"/>
          </a:xfrm>
          <a:prstGeom prst="rect">
            <a:avLst/>
          </a:prstGeom>
          <a:noFill/>
        </p:spPr>
        <p:txBody>
          <a:bodyPr wrap="square" lIns="45720" rIns="45720" tIns="18288" bIns="18288">
            <a:spAutoFit/>
          </a:bodyPr>
          <a:lstStyle/>
          <a:p>
            <a:pPr algn="l">
              <a:lnSpc>
                <a:spcPct val="140000"/>
              </a:lnSpc>
              <a:spcBef>
                <a:spcPts val="400"/>
              </a:spcBef>
            </a:pPr>
            <a:r>
              <a:rPr sz="950" b="1">
                <a:solidFill>
                  <a:srgbClr val="1E1B4B"/>
                </a:solidFill>
                <a:latin typeface="Calibri"/>
              </a:rPr>
              <a:t>• </a:t>
            </a:r>
            <a:r>
              <a:rPr sz="950">
                <a:solidFill>
                  <a:srgbClr val="141B2D"/>
                </a:solidFill>
                <a:latin typeface="Calibri"/>
              </a:rPr>
              <a:t>Cohort 1 of Ignite, expanded.</a:t>
            </a:r>
          </a:p>
          <a:p>
            <a:pPr algn="l">
              <a:lnSpc>
                <a:spcPct val="140000"/>
              </a:lnSpc>
              <a:spcBef>
                <a:spcPts val="400"/>
              </a:spcBef>
            </a:pPr>
            <a:r>
              <a:rPr sz="950" b="1">
                <a:solidFill>
                  <a:srgbClr val="1E1B4B"/>
                </a:solidFill>
                <a:latin typeface="Calibri"/>
              </a:rPr>
              <a:t>• </a:t>
            </a:r>
            <a:r>
              <a:rPr sz="950">
                <a:solidFill>
                  <a:srgbClr val="141B2D"/>
                </a:solidFill>
                <a:latin typeface="Calibri"/>
              </a:rPr>
              <a:t>Annual Outcome Report (public).</a:t>
            </a:r>
          </a:p>
          <a:p>
            <a:pPr algn="l">
              <a:lnSpc>
                <a:spcPct val="140000"/>
              </a:lnSpc>
              <a:spcBef>
                <a:spcPts val="400"/>
              </a:spcBef>
            </a:pPr>
            <a:r>
              <a:rPr sz="950" b="1">
                <a:solidFill>
                  <a:srgbClr val="1E1B4B"/>
                </a:solidFill>
                <a:latin typeface="Calibri"/>
              </a:rPr>
              <a:t>• </a:t>
            </a:r>
            <a:r>
              <a:rPr sz="950">
                <a:solidFill>
                  <a:srgbClr val="141B2D"/>
                </a:solidFill>
                <a:latin typeface="Calibri"/>
              </a:rPr>
              <a:t>Top 100 advocate program.</a:t>
            </a:r>
          </a:p>
          <a:p>
            <a:pPr algn="l">
              <a:lnSpc>
                <a:spcPct val="140000"/>
              </a:lnSpc>
              <a:spcBef>
                <a:spcPts val="400"/>
              </a:spcBef>
            </a:pPr>
            <a:r>
              <a:rPr sz="950" b="1">
                <a:solidFill>
                  <a:srgbClr val="1E1B4B"/>
                </a:solidFill>
                <a:latin typeface="Calibri"/>
              </a:rPr>
              <a:t>• </a:t>
            </a:r>
            <a:r>
              <a:rPr sz="950">
                <a:solidFill>
                  <a:srgbClr val="141B2D"/>
                </a:solidFill>
                <a:latin typeface="Calibri"/>
              </a:rPr>
              <a:t>Anchor: Net Promoter Score above 45.</a:t>
            </a:r>
          </a:p>
        </p:txBody>
      </p:sp>
      <p:sp>
        <p:nvSpPr>
          <p:cNvPr id="33" name="Rounded Rectangle 32"/>
          <p:cNvSpPr/>
          <p:nvPr/>
        </p:nvSpPr>
        <p:spPr>
          <a:xfrm>
            <a:off x="457200" y="5532120"/>
            <a:ext cx="11274552" cy="86868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 y="5623560"/>
            <a:ext cx="7315200" cy="274320"/>
          </a:xfrm>
          <a:prstGeom prst="rect">
            <a:avLst/>
          </a:prstGeom>
          <a:noFill/>
        </p:spPr>
        <p:txBody>
          <a:bodyPr wrap="square" lIns="45720" rIns="45720" tIns="18288" bIns="18288" anchor="t">
            <a:spAutoFit/>
          </a:bodyPr>
          <a:lstStyle/>
          <a:p>
            <a:pPr algn="l">
              <a:lnSpc>
                <a:spcPct val="125000"/>
              </a:lnSpc>
            </a:pPr>
            <a:r>
              <a:rPr sz="950" b="1" i="0">
                <a:solidFill>
                  <a:srgbClr val="14B8A6"/>
                </a:solidFill>
                <a:latin typeface="Calibri"/>
              </a:rPr>
              <a:t>WHAT WE WILL TRACK   |   Modelled, validated quarterly.</a:t>
            </a:r>
          </a:p>
        </p:txBody>
      </p:sp>
      <p:sp>
        <p:nvSpPr>
          <p:cNvPr id="35" name="TextBox 34"/>
          <p:cNvSpPr txBox="1"/>
          <p:nvPr/>
        </p:nvSpPr>
        <p:spPr>
          <a:xfrm>
            <a:off x="640080" y="5943600"/>
            <a:ext cx="219456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Active Learner Score</a:t>
            </a:r>
          </a:p>
        </p:txBody>
      </p:sp>
      <p:sp>
        <p:nvSpPr>
          <p:cNvPr id="36" name="TextBox 35"/>
          <p:cNvSpPr txBox="1"/>
          <p:nvPr/>
        </p:nvSpPr>
        <p:spPr>
          <a:xfrm>
            <a:off x="640080" y="6190488"/>
            <a:ext cx="2194560" cy="274320"/>
          </a:xfrm>
          <a:prstGeom prst="rect">
            <a:avLst/>
          </a:prstGeom>
          <a:noFill/>
        </p:spPr>
        <p:txBody>
          <a:bodyPr wrap="square" lIns="45720" rIns="45720" tIns="18288" bIns="18288" anchor="t">
            <a:spAutoFit/>
          </a:bodyPr>
          <a:lstStyle/>
          <a:p>
            <a:pPr algn="l">
              <a:lnSpc>
                <a:spcPct val="125000"/>
              </a:lnSpc>
            </a:pPr>
            <a:r>
              <a:rPr sz="1000" b="0" i="1">
                <a:solidFill>
                  <a:srgbClr val="1E1B4B"/>
                </a:solidFill>
                <a:latin typeface="Calibri"/>
              </a:rPr>
              <a:t>55+ by Q4</a:t>
            </a:r>
          </a:p>
        </p:txBody>
      </p:sp>
      <p:sp>
        <p:nvSpPr>
          <p:cNvPr id="37" name="TextBox 36"/>
          <p:cNvSpPr txBox="1"/>
          <p:nvPr/>
        </p:nvSpPr>
        <p:spPr>
          <a:xfrm>
            <a:off x="2880360" y="5943600"/>
            <a:ext cx="219456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Course completion</a:t>
            </a:r>
          </a:p>
        </p:txBody>
      </p:sp>
      <p:sp>
        <p:nvSpPr>
          <p:cNvPr id="38" name="TextBox 37"/>
          <p:cNvSpPr txBox="1"/>
          <p:nvPr/>
        </p:nvSpPr>
        <p:spPr>
          <a:xfrm>
            <a:off x="2880360" y="6190488"/>
            <a:ext cx="2194560" cy="274320"/>
          </a:xfrm>
          <a:prstGeom prst="rect">
            <a:avLst/>
          </a:prstGeom>
          <a:noFill/>
        </p:spPr>
        <p:txBody>
          <a:bodyPr wrap="square" lIns="45720" rIns="45720" tIns="18288" bIns="18288" anchor="t">
            <a:spAutoFit/>
          </a:bodyPr>
          <a:lstStyle/>
          <a:p>
            <a:pPr algn="l">
              <a:lnSpc>
                <a:spcPct val="125000"/>
              </a:lnSpc>
            </a:pPr>
            <a:r>
              <a:rPr sz="1000" b="0" i="1">
                <a:solidFill>
                  <a:srgbClr val="1E1B4B"/>
                </a:solidFill>
                <a:latin typeface="Calibri"/>
              </a:rPr>
              <a:t>65% → 75%</a:t>
            </a:r>
          </a:p>
        </p:txBody>
      </p:sp>
      <p:sp>
        <p:nvSpPr>
          <p:cNvPr id="39" name="TextBox 38"/>
          <p:cNvSpPr txBox="1"/>
          <p:nvPr/>
        </p:nvSpPr>
        <p:spPr>
          <a:xfrm>
            <a:off x="5120640" y="5943600"/>
            <a:ext cx="219456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Net Promoter Score</a:t>
            </a:r>
          </a:p>
        </p:txBody>
      </p:sp>
      <p:sp>
        <p:nvSpPr>
          <p:cNvPr id="40" name="TextBox 39"/>
          <p:cNvSpPr txBox="1"/>
          <p:nvPr/>
        </p:nvSpPr>
        <p:spPr>
          <a:xfrm>
            <a:off x="5120640" y="6190488"/>
            <a:ext cx="2194560" cy="274320"/>
          </a:xfrm>
          <a:prstGeom prst="rect">
            <a:avLst/>
          </a:prstGeom>
          <a:noFill/>
        </p:spPr>
        <p:txBody>
          <a:bodyPr wrap="square" lIns="45720" rIns="45720" tIns="18288" bIns="18288" anchor="t">
            <a:spAutoFit/>
          </a:bodyPr>
          <a:lstStyle/>
          <a:p>
            <a:pPr algn="l">
              <a:lnSpc>
                <a:spcPct val="125000"/>
              </a:lnSpc>
            </a:pPr>
            <a:r>
              <a:rPr sz="1000" b="0" i="1">
                <a:solidFill>
                  <a:srgbClr val="1E1B4B"/>
                </a:solidFill>
                <a:latin typeface="Calibri"/>
              </a:rPr>
              <a:t>30 → 45</a:t>
            </a:r>
          </a:p>
        </p:txBody>
      </p:sp>
      <p:sp>
        <p:nvSpPr>
          <p:cNvPr id="41" name="TextBox 40"/>
          <p:cNvSpPr txBox="1"/>
          <p:nvPr/>
        </p:nvSpPr>
        <p:spPr>
          <a:xfrm>
            <a:off x="7360920" y="5943600"/>
            <a:ext cx="219456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Referral mix</a:t>
            </a:r>
          </a:p>
        </p:txBody>
      </p:sp>
      <p:sp>
        <p:nvSpPr>
          <p:cNvPr id="42" name="TextBox 41"/>
          <p:cNvSpPr txBox="1"/>
          <p:nvPr/>
        </p:nvSpPr>
        <p:spPr>
          <a:xfrm>
            <a:off x="7360920" y="6190488"/>
            <a:ext cx="2194560" cy="274320"/>
          </a:xfrm>
          <a:prstGeom prst="rect">
            <a:avLst/>
          </a:prstGeom>
          <a:noFill/>
        </p:spPr>
        <p:txBody>
          <a:bodyPr wrap="square" lIns="45720" rIns="45720" tIns="18288" bIns="18288" anchor="t">
            <a:spAutoFit/>
          </a:bodyPr>
          <a:lstStyle/>
          <a:p>
            <a:pPr algn="l">
              <a:lnSpc>
                <a:spcPct val="125000"/>
              </a:lnSpc>
            </a:pPr>
            <a:r>
              <a:rPr sz="1000" b="0" i="1">
                <a:solidFill>
                  <a:srgbClr val="1E1B4B"/>
                </a:solidFill>
                <a:latin typeface="Calibri"/>
              </a:rPr>
              <a:t>0% → 5%+</a:t>
            </a:r>
          </a:p>
        </p:txBody>
      </p:sp>
      <p:sp>
        <p:nvSpPr>
          <p:cNvPr id="43" name="TextBox 42"/>
          <p:cNvSpPr txBox="1"/>
          <p:nvPr/>
        </p:nvSpPr>
        <p:spPr>
          <a:xfrm>
            <a:off x="9601200" y="5943600"/>
            <a:ext cx="219456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Cost / engaged learner</a:t>
            </a:r>
          </a:p>
        </p:txBody>
      </p:sp>
      <p:sp>
        <p:nvSpPr>
          <p:cNvPr id="44" name="TextBox 43"/>
          <p:cNvSpPr txBox="1"/>
          <p:nvPr/>
        </p:nvSpPr>
        <p:spPr>
          <a:xfrm>
            <a:off x="9601200" y="6190488"/>
            <a:ext cx="2194560" cy="274320"/>
          </a:xfrm>
          <a:prstGeom prst="rect">
            <a:avLst/>
          </a:prstGeom>
          <a:noFill/>
        </p:spPr>
        <p:txBody>
          <a:bodyPr wrap="square" lIns="45720" rIns="45720" tIns="18288" bIns="18288" anchor="t">
            <a:spAutoFit/>
          </a:bodyPr>
          <a:lstStyle/>
          <a:p>
            <a:pPr algn="l">
              <a:lnSpc>
                <a:spcPct val="125000"/>
              </a:lnSpc>
            </a:pPr>
            <a:r>
              <a:rPr sz="1000" b="0" i="1">
                <a:solidFill>
                  <a:srgbClr val="1E1B4B"/>
                </a:solidFill>
                <a:latin typeface="Calibri"/>
              </a:rPr>
              <a:t>Reduce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TASK 2   |   NEW INITIATIVES</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Five new initiatives. Owned, costed, killable.</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11 / 19</a:t>
            </a:r>
          </a:p>
        </p:txBody>
      </p:sp>
      <p:sp>
        <p:nvSpPr>
          <p:cNvPr id="8" name="TextBox 7"/>
          <p:cNvSpPr txBox="1"/>
          <p:nvPr/>
        </p:nvSpPr>
        <p:spPr>
          <a:xfrm>
            <a:off x="457200" y="1417320"/>
            <a:ext cx="11247120" cy="365760"/>
          </a:xfrm>
          <a:prstGeom prst="rect">
            <a:avLst/>
          </a:prstGeom>
          <a:noFill/>
        </p:spPr>
        <p:txBody>
          <a:bodyPr wrap="square" lIns="45720" rIns="45720" tIns="18288" bIns="18288" anchor="t">
            <a:spAutoFit/>
          </a:bodyPr>
          <a:lstStyle/>
          <a:p>
            <a:pPr algn="l">
              <a:lnSpc>
                <a:spcPct val="135000"/>
              </a:lnSpc>
            </a:pPr>
            <a:r>
              <a:rPr sz="1150" b="0" i="1">
                <a:solidFill>
                  <a:srgbClr val="52597A"/>
                </a:solidFill>
                <a:latin typeface="Calibri"/>
              </a:rPr>
              <a:t>Each initiative has an owner, a target metric, and a kill rule. If a pilot fails, we stop. We don't double down on hope.</a:t>
            </a:r>
          </a:p>
        </p:txBody>
      </p:sp>
      <p:sp>
        <p:nvSpPr>
          <p:cNvPr id="9" name="Rounded Rectangle 8"/>
          <p:cNvSpPr/>
          <p:nvPr/>
        </p:nvSpPr>
        <p:spPr>
          <a:xfrm>
            <a:off x="457200" y="1965960"/>
            <a:ext cx="11274552" cy="77724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65960"/>
            <a:ext cx="91440" cy="7772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30552"/>
            <a:ext cx="548640" cy="457200"/>
          </a:xfrm>
          <a:prstGeom prst="rect">
            <a:avLst/>
          </a:prstGeom>
          <a:noFill/>
        </p:spPr>
        <p:txBody>
          <a:bodyPr wrap="square" lIns="45720" rIns="45720" tIns="18288" bIns="18288" anchor="t">
            <a:spAutoFit/>
          </a:bodyPr>
          <a:lstStyle/>
          <a:p>
            <a:pPr algn="l">
              <a:lnSpc>
                <a:spcPct val="100000"/>
              </a:lnSpc>
            </a:pPr>
            <a:r>
              <a:rPr sz="1800" b="1" i="0">
                <a:solidFill>
                  <a:srgbClr val="14B8A6"/>
                </a:solidFill>
                <a:latin typeface="Calibri"/>
              </a:rPr>
              <a:t>01</a:t>
            </a:r>
          </a:p>
        </p:txBody>
      </p:sp>
      <p:sp>
        <p:nvSpPr>
          <p:cNvPr id="12" name="TextBox 11"/>
          <p:cNvSpPr txBox="1"/>
          <p:nvPr/>
        </p:nvSpPr>
        <p:spPr>
          <a:xfrm>
            <a:off x="1280160" y="2075688"/>
            <a:ext cx="4754880" cy="365760"/>
          </a:xfrm>
          <a:prstGeom prst="rect">
            <a:avLst/>
          </a:prstGeom>
          <a:noFill/>
        </p:spPr>
        <p:txBody>
          <a:bodyPr wrap="square" lIns="45720" rIns="45720" tIns="18288" bIns="18288" anchor="t">
            <a:spAutoFit/>
          </a:bodyPr>
          <a:lstStyle/>
          <a:p>
            <a:pPr algn="l">
              <a:lnSpc>
                <a:spcPct val="100000"/>
              </a:lnSpc>
            </a:pPr>
            <a:r>
              <a:rPr sz="1350" b="1" i="0">
                <a:solidFill>
                  <a:srgbClr val="1E1B4B"/>
                </a:solidFill>
                <a:latin typeface="Calibri"/>
              </a:rPr>
              <a:t>City Meetups</a:t>
            </a:r>
          </a:p>
        </p:txBody>
      </p:sp>
      <p:sp>
        <p:nvSpPr>
          <p:cNvPr id="13" name="TextBox 12"/>
          <p:cNvSpPr txBox="1"/>
          <p:nvPr/>
        </p:nvSpPr>
        <p:spPr>
          <a:xfrm>
            <a:off x="1280160" y="2395728"/>
            <a:ext cx="4754880" cy="365760"/>
          </a:xfrm>
          <a:prstGeom prst="rect">
            <a:avLst/>
          </a:prstGeom>
          <a:noFill/>
        </p:spPr>
        <p:txBody>
          <a:bodyPr wrap="square" lIns="45720" rIns="45720" tIns="18288" bIns="18288" anchor="t">
            <a:spAutoFit/>
          </a:bodyPr>
          <a:lstStyle/>
          <a:p>
            <a:pPr algn="l">
              <a:lnSpc>
                <a:spcPct val="125000"/>
              </a:lnSpc>
            </a:pPr>
            <a:r>
              <a:rPr sz="1000" b="0" i="1">
                <a:solidFill>
                  <a:srgbClr val="52597A"/>
                </a:solidFill>
                <a:latin typeface="Calibri"/>
              </a:rPr>
              <a:t>Six cities. Sat brunch. Hosted by a local alum.</a:t>
            </a:r>
          </a:p>
        </p:txBody>
      </p:sp>
      <p:sp>
        <p:nvSpPr>
          <p:cNvPr id="14" name="TextBox 13"/>
          <p:cNvSpPr txBox="1"/>
          <p:nvPr/>
        </p:nvSpPr>
        <p:spPr>
          <a:xfrm>
            <a:off x="6126480" y="207568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14B8A6"/>
                </a:solidFill>
                <a:latin typeface="Calibri"/>
              </a:rPr>
              <a:t>BUDGET</a:t>
            </a:r>
          </a:p>
        </p:txBody>
      </p:sp>
      <p:sp>
        <p:nvSpPr>
          <p:cNvPr id="15" name="TextBox 14"/>
          <p:cNvSpPr txBox="1"/>
          <p:nvPr/>
        </p:nvSpPr>
        <p:spPr>
          <a:xfrm>
            <a:off x="6126480" y="233172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~Rs 18 lakh</a:t>
            </a:r>
          </a:p>
        </p:txBody>
      </p:sp>
      <p:sp>
        <p:nvSpPr>
          <p:cNvPr id="16" name="TextBox 15"/>
          <p:cNvSpPr txBox="1"/>
          <p:nvPr/>
        </p:nvSpPr>
        <p:spPr>
          <a:xfrm>
            <a:off x="7955280" y="207568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1E1B4B"/>
                </a:solidFill>
                <a:latin typeface="Calibri"/>
              </a:rPr>
              <a:t>OWNER</a:t>
            </a:r>
          </a:p>
        </p:txBody>
      </p:sp>
      <p:sp>
        <p:nvSpPr>
          <p:cNvPr id="17" name="TextBox 16"/>
          <p:cNvSpPr txBox="1"/>
          <p:nvPr/>
        </p:nvSpPr>
        <p:spPr>
          <a:xfrm>
            <a:off x="7955280" y="233172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Community Lead.</a:t>
            </a:r>
          </a:p>
        </p:txBody>
      </p:sp>
      <p:sp>
        <p:nvSpPr>
          <p:cNvPr id="18" name="TextBox 17"/>
          <p:cNvSpPr txBox="1"/>
          <p:nvPr/>
        </p:nvSpPr>
        <p:spPr>
          <a:xfrm>
            <a:off x="9784080" y="207568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A855F7"/>
                </a:solidFill>
                <a:latin typeface="Calibri"/>
              </a:rPr>
              <a:t>KILL CRITERIA</a:t>
            </a:r>
          </a:p>
        </p:txBody>
      </p:sp>
      <p:sp>
        <p:nvSpPr>
          <p:cNvPr id="19" name="TextBox 18"/>
          <p:cNvSpPr txBox="1"/>
          <p:nvPr/>
        </p:nvSpPr>
        <p:spPr>
          <a:xfrm>
            <a:off x="9784080" y="233172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NSAT &lt; 4.2 after 2 cities.</a:t>
            </a:r>
          </a:p>
        </p:txBody>
      </p:sp>
      <p:sp>
        <p:nvSpPr>
          <p:cNvPr id="20" name="Rounded Rectangle 19"/>
          <p:cNvSpPr/>
          <p:nvPr/>
        </p:nvSpPr>
        <p:spPr>
          <a:xfrm>
            <a:off x="457200" y="2834640"/>
            <a:ext cx="11274552" cy="77724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2834640"/>
            <a:ext cx="91440" cy="7772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2999232"/>
            <a:ext cx="548640" cy="457200"/>
          </a:xfrm>
          <a:prstGeom prst="rect">
            <a:avLst/>
          </a:prstGeom>
          <a:noFill/>
        </p:spPr>
        <p:txBody>
          <a:bodyPr wrap="square" lIns="45720" rIns="45720" tIns="18288" bIns="18288" anchor="t">
            <a:spAutoFit/>
          </a:bodyPr>
          <a:lstStyle/>
          <a:p>
            <a:pPr algn="l">
              <a:lnSpc>
                <a:spcPct val="100000"/>
              </a:lnSpc>
            </a:pPr>
            <a:r>
              <a:rPr sz="1800" b="1" i="0">
                <a:solidFill>
                  <a:srgbClr val="06B6D4"/>
                </a:solidFill>
                <a:latin typeface="Calibri"/>
              </a:rPr>
              <a:t>02</a:t>
            </a:r>
          </a:p>
        </p:txBody>
      </p:sp>
      <p:sp>
        <p:nvSpPr>
          <p:cNvPr id="23" name="TextBox 22"/>
          <p:cNvSpPr txBox="1"/>
          <p:nvPr/>
        </p:nvSpPr>
        <p:spPr>
          <a:xfrm>
            <a:off x="1280160" y="2944368"/>
            <a:ext cx="4754880" cy="365760"/>
          </a:xfrm>
          <a:prstGeom prst="rect">
            <a:avLst/>
          </a:prstGeom>
          <a:noFill/>
        </p:spPr>
        <p:txBody>
          <a:bodyPr wrap="square" lIns="45720" rIns="45720" tIns="18288" bIns="18288" anchor="t">
            <a:spAutoFit/>
          </a:bodyPr>
          <a:lstStyle/>
          <a:p>
            <a:pPr algn="l">
              <a:lnSpc>
                <a:spcPct val="100000"/>
              </a:lnSpc>
            </a:pPr>
            <a:r>
              <a:rPr sz="1350" b="1" i="0">
                <a:solidFill>
                  <a:srgbClr val="1E1B4B"/>
                </a:solidFill>
                <a:latin typeface="Calibri"/>
              </a:rPr>
              <a:t>Sunday Sit Down</a:t>
            </a:r>
          </a:p>
        </p:txBody>
      </p:sp>
      <p:sp>
        <p:nvSpPr>
          <p:cNvPr id="24" name="TextBox 23"/>
          <p:cNvSpPr txBox="1"/>
          <p:nvPr/>
        </p:nvSpPr>
        <p:spPr>
          <a:xfrm>
            <a:off x="1280160" y="3264408"/>
            <a:ext cx="4754880" cy="365760"/>
          </a:xfrm>
          <a:prstGeom prst="rect">
            <a:avLst/>
          </a:prstGeom>
          <a:noFill/>
        </p:spPr>
        <p:txBody>
          <a:bodyPr wrap="square" lIns="45720" rIns="45720" tIns="18288" bIns="18288" anchor="t">
            <a:spAutoFit/>
          </a:bodyPr>
          <a:lstStyle/>
          <a:p>
            <a:pPr algn="l">
              <a:lnSpc>
                <a:spcPct val="125000"/>
              </a:lnSpc>
            </a:pPr>
            <a:r>
              <a:rPr sz="1000" b="0" i="1">
                <a:solidFill>
                  <a:srgbClr val="52597A"/>
                </a:solidFill>
                <a:latin typeface="Calibri"/>
              </a:rPr>
              <a:t>Weekly 45 minute live AMA on beSocial.</a:t>
            </a:r>
          </a:p>
        </p:txBody>
      </p:sp>
      <p:sp>
        <p:nvSpPr>
          <p:cNvPr id="25" name="TextBox 24"/>
          <p:cNvSpPr txBox="1"/>
          <p:nvPr/>
        </p:nvSpPr>
        <p:spPr>
          <a:xfrm>
            <a:off x="6126480" y="294436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06B6D4"/>
                </a:solidFill>
                <a:latin typeface="Calibri"/>
              </a:rPr>
              <a:t>BUDGET</a:t>
            </a:r>
          </a:p>
        </p:txBody>
      </p:sp>
      <p:sp>
        <p:nvSpPr>
          <p:cNvPr id="26" name="TextBox 25"/>
          <p:cNvSpPr txBox="1"/>
          <p:nvPr/>
        </p:nvSpPr>
        <p:spPr>
          <a:xfrm>
            <a:off x="6126480" y="320040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~Rs 6 lakh</a:t>
            </a:r>
          </a:p>
        </p:txBody>
      </p:sp>
      <p:sp>
        <p:nvSpPr>
          <p:cNvPr id="27" name="TextBox 26"/>
          <p:cNvSpPr txBox="1"/>
          <p:nvPr/>
        </p:nvSpPr>
        <p:spPr>
          <a:xfrm>
            <a:off x="7955280" y="294436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1E1B4B"/>
                </a:solidFill>
                <a:latin typeface="Calibri"/>
              </a:rPr>
              <a:t>OWNER</a:t>
            </a:r>
          </a:p>
        </p:txBody>
      </p:sp>
      <p:sp>
        <p:nvSpPr>
          <p:cNvPr id="28" name="TextBox 27"/>
          <p:cNvSpPr txBox="1"/>
          <p:nvPr/>
        </p:nvSpPr>
        <p:spPr>
          <a:xfrm>
            <a:off x="7955280" y="320040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Content Lead.</a:t>
            </a:r>
          </a:p>
        </p:txBody>
      </p:sp>
      <p:sp>
        <p:nvSpPr>
          <p:cNvPr id="29" name="TextBox 28"/>
          <p:cNvSpPr txBox="1"/>
          <p:nvPr/>
        </p:nvSpPr>
        <p:spPr>
          <a:xfrm>
            <a:off x="9784080" y="294436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A855F7"/>
                </a:solidFill>
                <a:latin typeface="Calibri"/>
              </a:rPr>
              <a:t>KILL CRITERIA</a:t>
            </a:r>
          </a:p>
        </p:txBody>
      </p:sp>
      <p:sp>
        <p:nvSpPr>
          <p:cNvPr id="30" name="TextBox 29"/>
          <p:cNvSpPr txBox="1"/>
          <p:nvPr/>
        </p:nvSpPr>
        <p:spPr>
          <a:xfrm>
            <a:off x="9784080" y="320040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avg live attendance &lt; 800.</a:t>
            </a:r>
          </a:p>
        </p:txBody>
      </p:sp>
      <p:sp>
        <p:nvSpPr>
          <p:cNvPr id="31" name="Rounded Rectangle 30"/>
          <p:cNvSpPr/>
          <p:nvPr/>
        </p:nvSpPr>
        <p:spPr>
          <a:xfrm>
            <a:off x="457200" y="3703320"/>
            <a:ext cx="11274552" cy="77724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3703320"/>
            <a:ext cx="91440" cy="77724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3867912"/>
            <a:ext cx="548640" cy="457200"/>
          </a:xfrm>
          <a:prstGeom prst="rect">
            <a:avLst/>
          </a:prstGeom>
          <a:noFill/>
        </p:spPr>
        <p:txBody>
          <a:bodyPr wrap="square" lIns="45720" rIns="45720" tIns="18288" bIns="18288" anchor="t">
            <a:spAutoFit/>
          </a:bodyPr>
          <a:lstStyle/>
          <a:p>
            <a:pPr algn="l">
              <a:lnSpc>
                <a:spcPct val="100000"/>
              </a:lnSpc>
            </a:pPr>
            <a:r>
              <a:rPr sz="1800" b="1" i="0">
                <a:solidFill>
                  <a:srgbClr val="A855F7"/>
                </a:solidFill>
                <a:latin typeface="Calibri"/>
              </a:rPr>
              <a:t>03</a:t>
            </a:r>
          </a:p>
        </p:txBody>
      </p:sp>
      <p:sp>
        <p:nvSpPr>
          <p:cNvPr id="34" name="TextBox 33"/>
          <p:cNvSpPr txBox="1"/>
          <p:nvPr/>
        </p:nvSpPr>
        <p:spPr>
          <a:xfrm>
            <a:off x="1280160" y="3813048"/>
            <a:ext cx="4754880" cy="365760"/>
          </a:xfrm>
          <a:prstGeom prst="rect">
            <a:avLst/>
          </a:prstGeom>
          <a:noFill/>
        </p:spPr>
        <p:txBody>
          <a:bodyPr wrap="square" lIns="45720" rIns="45720" tIns="18288" bIns="18288" anchor="t">
            <a:spAutoFit/>
          </a:bodyPr>
          <a:lstStyle/>
          <a:p>
            <a:pPr algn="l">
              <a:lnSpc>
                <a:spcPct val="100000"/>
              </a:lnSpc>
            </a:pPr>
            <a:r>
              <a:rPr sz="1350" b="1" i="0">
                <a:solidFill>
                  <a:srgbClr val="1E1B4B"/>
                </a:solidFill>
                <a:latin typeface="Calibri"/>
              </a:rPr>
              <a:t>Industry Sprints</a:t>
            </a:r>
          </a:p>
        </p:txBody>
      </p:sp>
      <p:sp>
        <p:nvSpPr>
          <p:cNvPr id="35" name="TextBox 34"/>
          <p:cNvSpPr txBox="1"/>
          <p:nvPr/>
        </p:nvSpPr>
        <p:spPr>
          <a:xfrm>
            <a:off x="1280160" y="4133088"/>
            <a:ext cx="4754880" cy="365760"/>
          </a:xfrm>
          <a:prstGeom prst="rect">
            <a:avLst/>
          </a:prstGeom>
          <a:noFill/>
        </p:spPr>
        <p:txBody>
          <a:bodyPr wrap="square" lIns="45720" rIns="45720" tIns="18288" bIns="18288" anchor="t">
            <a:spAutoFit/>
          </a:bodyPr>
          <a:lstStyle/>
          <a:p>
            <a:pPr algn="l">
              <a:lnSpc>
                <a:spcPct val="125000"/>
              </a:lnSpc>
            </a:pPr>
            <a:r>
              <a:rPr sz="1000" b="0" i="1">
                <a:solidFill>
                  <a:srgbClr val="52597A"/>
                </a:solidFill>
                <a:latin typeface="Calibri"/>
              </a:rPr>
              <a:t>10 day briefs from hiring partners. Top work showcased.</a:t>
            </a:r>
          </a:p>
        </p:txBody>
      </p:sp>
      <p:sp>
        <p:nvSpPr>
          <p:cNvPr id="36" name="TextBox 35"/>
          <p:cNvSpPr txBox="1"/>
          <p:nvPr/>
        </p:nvSpPr>
        <p:spPr>
          <a:xfrm>
            <a:off x="6126480" y="381304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A855F7"/>
                </a:solidFill>
                <a:latin typeface="Calibri"/>
              </a:rPr>
              <a:t>BUDGET</a:t>
            </a:r>
          </a:p>
        </p:txBody>
      </p:sp>
      <p:sp>
        <p:nvSpPr>
          <p:cNvPr id="37" name="TextBox 36"/>
          <p:cNvSpPr txBox="1"/>
          <p:nvPr/>
        </p:nvSpPr>
        <p:spPr>
          <a:xfrm>
            <a:off x="6126480" y="406908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~Rs 22 lakh</a:t>
            </a:r>
          </a:p>
        </p:txBody>
      </p:sp>
      <p:sp>
        <p:nvSpPr>
          <p:cNvPr id="38" name="TextBox 37"/>
          <p:cNvSpPr txBox="1"/>
          <p:nvPr/>
        </p:nvSpPr>
        <p:spPr>
          <a:xfrm>
            <a:off x="7955280" y="381304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1E1B4B"/>
                </a:solidFill>
                <a:latin typeface="Calibri"/>
              </a:rPr>
              <a:t>OWNER</a:t>
            </a:r>
          </a:p>
        </p:txBody>
      </p:sp>
      <p:sp>
        <p:nvSpPr>
          <p:cNvPr id="39" name="TextBox 38"/>
          <p:cNvSpPr txBox="1"/>
          <p:nvPr/>
        </p:nvSpPr>
        <p:spPr>
          <a:xfrm>
            <a:off x="7955280" y="406908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Programs Lead.</a:t>
            </a:r>
          </a:p>
        </p:txBody>
      </p:sp>
      <p:sp>
        <p:nvSpPr>
          <p:cNvPr id="40" name="TextBox 39"/>
          <p:cNvSpPr txBox="1"/>
          <p:nvPr/>
        </p:nvSpPr>
        <p:spPr>
          <a:xfrm>
            <a:off x="9784080" y="381304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A855F7"/>
                </a:solidFill>
                <a:latin typeface="Calibri"/>
              </a:rPr>
              <a:t>KILL CRITERIA</a:t>
            </a:r>
          </a:p>
        </p:txBody>
      </p:sp>
      <p:sp>
        <p:nvSpPr>
          <p:cNvPr id="41" name="TextBox 40"/>
          <p:cNvSpPr txBox="1"/>
          <p:nvPr/>
        </p:nvSpPr>
        <p:spPr>
          <a:xfrm>
            <a:off x="9784080" y="406908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completion &lt; 60%.</a:t>
            </a:r>
          </a:p>
        </p:txBody>
      </p:sp>
      <p:sp>
        <p:nvSpPr>
          <p:cNvPr id="42" name="Rounded Rectangle 41"/>
          <p:cNvSpPr/>
          <p:nvPr/>
        </p:nvSpPr>
        <p:spPr>
          <a:xfrm>
            <a:off x="457200" y="4572000"/>
            <a:ext cx="11274552" cy="77724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572000"/>
            <a:ext cx="91440" cy="7772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736592"/>
            <a:ext cx="548640" cy="457200"/>
          </a:xfrm>
          <a:prstGeom prst="rect">
            <a:avLst/>
          </a:prstGeom>
          <a:noFill/>
        </p:spPr>
        <p:txBody>
          <a:bodyPr wrap="square" lIns="45720" rIns="45720" tIns="18288" bIns="18288" anchor="t">
            <a:spAutoFit/>
          </a:bodyPr>
          <a:lstStyle/>
          <a:p>
            <a:pPr algn="l">
              <a:lnSpc>
                <a:spcPct val="100000"/>
              </a:lnSpc>
            </a:pPr>
            <a:r>
              <a:rPr sz="1800" b="1" i="0">
                <a:solidFill>
                  <a:srgbClr val="14B8A6"/>
                </a:solidFill>
                <a:latin typeface="Calibri"/>
              </a:rPr>
              <a:t>04</a:t>
            </a:r>
          </a:p>
        </p:txBody>
      </p:sp>
      <p:sp>
        <p:nvSpPr>
          <p:cNvPr id="45" name="TextBox 44"/>
          <p:cNvSpPr txBox="1"/>
          <p:nvPr/>
        </p:nvSpPr>
        <p:spPr>
          <a:xfrm>
            <a:off x="1280160" y="4681728"/>
            <a:ext cx="4754880" cy="365760"/>
          </a:xfrm>
          <a:prstGeom prst="rect">
            <a:avLst/>
          </a:prstGeom>
          <a:noFill/>
        </p:spPr>
        <p:txBody>
          <a:bodyPr wrap="square" lIns="45720" rIns="45720" tIns="18288" bIns="18288" anchor="t">
            <a:spAutoFit/>
          </a:bodyPr>
          <a:lstStyle/>
          <a:p>
            <a:pPr algn="l">
              <a:lnSpc>
                <a:spcPct val="100000"/>
              </a:lnSpc>
            </a:pPr>
            <a:r>
              <a:rPr sz="1350" b="1" i="0">
                <a:solidFill>
                  <a:srgbClr val="1E1B4B"/>
                </a:solidFill>
                <a:latin typeface="Calibri"/>
              </a:rPr>
              <a:t>Alumni Mentor Network</a:t>
            </a:r>
          </a:p>
        </p:txBody>
      </p:sp>
      <p:sp>
        <p:nvSpPr>
          <p:cNvPr id="46" name="TextBox 45"/>
          <p:cNvSpPr txBox="1"/>
          <p:nvPr/>
        </p:nvSpPr>
        <p:spPr>
          <a:xfrm>
            <a:off x="1280160" y="5001768"/>
            <a:ext cx="4754880" cy="365760"/>
          </a:xfrm>
          <a:prstGeom prst="rect">
            <a:avLst/>
          </a:prstGeom>
          <a:noFill/>
        </p:spPr>
        <p:txBody>
          <a:bodyPr wrap="square" lIns="45720" rIns="45720" tIns="18288" bIns="18288" anchor="t">
            <a:spAutoFit/>
          </a:bodyPr>
          <a:lstStyle/>
          <a:p>
            <a:pPr algn="l">
              <a:lnSpc>
                <a:spcPct val="125000"/>
              </a:lnSpc>
            </a:pPr>
            <a:r>
              <a:rPr sz="1000" b="0" i="1">
                <a:solidFill>
                  <a:srgbClr val="52597A"/>
                </a:solidFill>
                <a:latin typeface="Calibri"/>
              </a:rPr>
              <a:t>1 mentor per learner who opts in. 12 month program.</a:t>
            </a:r>
          </a:p>
        </p:txBody>
      </p:sp>
      <p:sp>
        <p:nvSpPr>
          <p:cNvPr id="47" name="TextBox 46"/>
          <p:cNvSpPr txBox="1"/>
          <p:nvPr/>
        </p:nvSpPr>
        <p:spPr>
          <a:xfrm>
            <a:off x="6126480" y="468172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14B8A6"/>
                </a:solidFill>
                <a:latin typeface="Calibri"/>
              </a:rPr>
              <a:t>BUDGET</a:t>
            </a:r>
          </a:p>
        </p:txBody>
      </p:sp>
      <p:sp>
        <p:nvSpPr>
          <p:cNvPr id="48" name="TextBox 47"/>
          <p:cNvSpPr txBox="1"/>
          <p:nvPr/>
        </p:nvSpPr>
        <p:spPr>
          <a:xfrm>
            <a:off x="6126480" y="493776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~Rs 14 lakh</a:t>
            </a:r>
          </a:p>
        </p:txBody>
      </p:sp>
      <p:sp>
        <p:nvSpPr>
          <p:cNvPr id="49" name="TextBox 48"/>
          <p:cNvSpPr txBox="1"/>
          <p:nvPr/>
        </p:nvSpPr>
        <p:spPr>
          <a:xfrm>
            <a:off x="7955280" y="468172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1E1B4B"/>
                </a:solidFill>
                <a:latin typeface="Calibri"/>
              </a:rPr>
              <a:t>OWNER</a:t>
            </a:r>
          </a:p>
        </p:txBody>
      </p:sp>
      <p:sp>
        <p:nvSpPr>
          <p:cNvPr id="50" name="TextBox 49"/>
          <p:cNvSpPr txBox="1"/>
          <p:nvPr/>
        </p:nvSpPr>
        <p:spPr>
          <a:xfrm>
            <a:off x="7955280" y="493776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Alumni Lead.</a:t>
            </a:r>
          </a:p>
        </p:txBody>
      </p:sp>
      <p:sp>
        <p:nvSpPr>
          <p:cNvPr id="51" name="TextBox 50"/>
          <p:cNvSpPr txBox="1"/>
          <p:nvPr/>
        </p:nvSpPr>
        <p:spPr>
          <a:xfrm>
            <a:off x="9784080" y="468172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A855F7"/>
                </a:solidFill>
                <a:latin typeface="Calibri"/>
              </a:rPr>
              <a:t>KILL CRITERIA</a:t>
            </a:r>
          </a:p>
        </p:txBody>
      </p:sp>
      <p:sp>
        <p:nvSpPr>
          <p:cNvPr id="52" name="TextBox 51"/>
          <p:cNvSpPr txBox="1"/>
          <p:nvPr/>
        </p:nvSpPr>
        <p:spPr>
          <a:xfrm>
            <a:off x="9784080" y="493776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mentor NPS &lt; 40.</a:t>
            </a:r>
          </a:p>
        </p:txBody>
      </p:sp>
      <p:sp>
        <p:nvSpPr>
          <p:cNvPr id="53" name="Rounded Rectangle 52"/>
          <p:cNvSpPr/>
          <p:nvPr/>
        </p:nvSpPr>
        <p:spPr>
          <a:xfrm>
            <a:off x="457200" y="5440680"/>
            <a:ext cx="11274552" cy="77724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457200" y="5440680"/>
            <a:ext cx="91440" cy="77724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080" y="5605272"/>
            <a:ext cx="548640" cy="457200"/>
          </a:xfrm>
          <a:prstGeom prst="rect">
            <a:avLst/>
          </a:prstGeom>
          <a:noFill/>
        </p:spPr>
        <p:txBody>
          <a:bodyPr wrap="square" lIns="45720" rIns="45720" tIns="18288" bIns="18288" anchor="t">
            <a:spAutoFit/>
          </a:bodyPr>
          <a:lstStyle/>
          <a:p>
            <a:pPr algn="l">
              <a:lnSpc>
                <a:spcPct val="100000"/>
              </a:lnSpc>
            </a:pPr>
            <a:r>
              <a:rPr sz="1800" b="1" i="0">
                <a:solidFill>
                  <a:srgbClr val="06B6D4"/>
                </a:solidFill>
                <a:latin typeface="Calibri"/>
              </a:rPr>
              <a:t>05</a:t>
            </a:r>
          </a:p>
        </p:txBody>
      </p:sp>
      <p:sp>
        <p:nvSpPr>
          <p:cNvPr id="56" name="TextBox 55"/>
          <p:cNvSpPr txBox="1"/>
          <p:nvPr/>
        </p:nvSpPr>
        <p:spPr>
          <a:xfrm>
            <a:off x="1280160" y="5550408"/>
            <a:ext cx="4754880" cy="365760"/>
          </a:xfrm>
          <a:prstGeom prst="rect">
            <a:avLst/>
          </a:prstGeom>
          <a:noFill/>
        </p:spPr>
        <p:txBody>
          <a:bodyPr wrap="square" lIns="45720" rIns="45720" tIns="18288" bIns="18288" anchor="t">
            <a:spAutoFit/>
          </a:bodyPr>
          <a:lstStyle/>
          <a:p>
            <a:pPr algn="l">
              <a:lnSpc>
                <a:spcPct val="100000"/>
              </a:lnSpc>
            </a:pPr>
            <a:r>
              <a:rPr sz="1350" b="1" i="0">
                <a:solidFill>
                  <a:srgbClr val="1E1B4B"/>
                </a:solidFill>
                <a:latin typeface="Calibri"/>
              </a:rPr>
              <a:t>Outcome Stories</a:t>
            </a:r>
          </a:p>
        </p:txBody>
      </p:sp>
      <p:sp>
        <p:nvSpPr>
          <p:cNvPr id="57" name="TextBox 56"/>
          <p:cNvSpPr txBox="1"/>
          <p:nvPr/>
        </p:nvSpPr>
        <p:spPr>
          <a:xfrm>
            <a:off x="1280160" y="5870448"/>
            <a:ext cx="4754880" cy="365760"/>
          </a:xfrm>
          <a:prstGeom prst="rect">
            <a:avLst/>
          </a:prstGeom>
          <a:noFill/>
        </p:spPr>
        <p:txBody>
          <a:bodyPr wrap="square" lIns="45720" rIns="45720" tIns="18288" bIns="18288" anchor="t">
            <a:spAutoFit/>
          </a:bodyPr>
          <a:lstStyle/>
          <a:p>
            <a:pPr algn="l">
              <a:lnSpc>
                <a:spcPct val="125000"/>
              </a:lnSpc>
            </a:pPr>
            <a:r>
              <a:rPr sz="1000" b="0" i="1">
                <a:solidFill>
                  <a:srgbClr val="52597A"/>
                </a:solidFill>
                <a:latin typeface="Calibri"/>
              </a:rPr>
              <a:t>30 second reels. 1 learner per week. Real, uncoached.</a:t>
            </a:r>
          </a:p>
        </p:txBody>
      </p:sp>
      <p:sp>
        <p:nvSpPr>
          <p:cNvPr id="58" name="TextBox 57"/>
          <p:cNvSpPr txBox="1"/>
          <p:nvPr/>
        </p:nvSpPr>
        <p:spPr>
          <a:xfrm>
            <a:off x="6126480" y="555040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06B6D4"/>
                </a:solidFill>
                <a:latin typeface="Calibri"/>
              </a:rPr>
              <a:t>BUDGET</a:t>
            </a:r>
          </a:p>
        </p:txBody>
      </p:sp>
      <p:sp>
        <p:nvSpPr>
          <p:cNvPr id="59" name="TextBox 58"/>
          <p:cNvSpPr txBox="1"/>
          <p:nvPr/>
        </p:nvSpPr>
        <p:spPr>
          <a:xfrm>
            <a:off x="6126480" y="580644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~Rs 10 lakh</a:t>
            </a:r>
          </a:p>
        </p:txBody>
      </p:sp>
      <p:sp>
        <p:nvSpPr>
          <p:cNvPr id="60" name="TextBox 59"/>
          <p:cNvSpPr txBox="1"/>
          <p:nvPr/>
        </p:nvSpPr>
        <p:spPr>
          <a:xfrm>
            <a:off x="7955280" y="555040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1E1B4B"/>
                </a:solidFill>
                <a:latin typeface="Calibri"/>
              </a:rPr>
              <a:t>OWNER</a:t>
            </a:r>
          </a:p>
        </p:txBody>
      </p:sp>
      <p:sp>
        <p:nvSpPr>
          <p:cNvPr id="61" name="TextBox 60"/>
          <p:cNvSpPr txBox="1"/>
          <p:nvPr/>
        </p:nvSpPr>
        <p:spPr>
          <a:xfrm>
            <a:off x="7955280" y="580644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Brand Lead.</a:t>
            </a:r>
          </a:p>
        </p:txBody>
      </p:sp>
      <p:sp>
        <p:nvSpPr>
          <p:cNvPr id="62" name="TextBox 61"/>
          <p:cNvSpPr txBox="1"/>
          <p:nvPr/>
        </p:nvSpPr>
        <p:spPr>
          <a:xfrm>
            <a:off x="9784080" y="5550408"/>
            <a:ext cx="1828800" cy="274320"/>
          </a:xfrm>
          <a:prstGeom prst="rect">
            <a:avLst/>
          </a:prstGeom>
          <a:noFill/>
        </p:spPr>
        <p:txBody>
          <a:bodyPr wrap="square" lIns="45720" rIns="45720" tIns="18288" bIns="18288" anchor="t">
            <a:spAutoFit/>
          </a:bodyPr>
          <a:lstStyle/>
          <a:p>
            <a:pPr algn="l">
              <a:lnSpc>
                <a:spcPct val="125000"/>
              </a:lnSpc>
            </a:pPr>
            <a:r>
              <a:rPr sz="850" b="1" i="0">
                <a:solidFill>
                  <a:srgbClr val="A855F7"/>
                </a:solidFill>
                <a:latin typeface="Calibri"/>
              </a:rPr>
              <a:t>KILL CRITERIA</a:t>
            </a:r>
          </a:p>
        </p:txBody>
      </p:sp>
      <p:sp>
        <p:nvSpPr>
          <p:cNvPr id="63" name="TextBox 62"/>
          <p:cNvSpPr txBox="1"/>
          <p:nvPr/>
        </p:nvSpPr>
        <p:spPr>
          <a:xfrm>
            <a:off x="9784080" y="5806440"/>
            <a:ext cx="1828800" cy="457200"/>
          </a:xfrm>
          <a:prstGeom prst="rect">
            <a:avLst/>
          </a:prstGeom>
          <a:noFill/>
        </p:spPr>
        <p:txBody>
          <a:bodyPr wrap="square" lIns="45720" rIns="45720" tIns="18288" bIns="18288" anchor="t">
            <a:spAutoFit/>
          </a:bodyPr>
          <a:lstStyle/>
          <a:p>
            <a:pPr algn="l">
              <a:lnSpc>
                <a:spcPct val="125000"/>
              </a:lnSpc>
            </a:pPr>
            <a:r>
              <a:rPr sz="1000" b="0" i="0">
                <a:solidFill>
                  <a:srgbClr val="1E1B4B"/>
                </a:solidFill>
                <a:latin typeface="Calibri"/>
              </a:rPr>
              <a:t>save rate &lt; 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TASK 2   |   ENGAGEMENT SYSTEM</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Community. Advocacy. Referrals. The long arc.</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12 / 19</a:t>
            </a:r>
          </a:p>
        </p:txBody>
      </p:sp>
      <p:sp>
        <p:nvSpPr>
          <p:cNvPr id="8" name="TextBox 7"/>
          <p:cNvSpPr txBox="1"/>
          <p:nvPr/>
        </p:nvSpPr>
        <p:spPr>
          <a:xfrm>
            <a:off x="457200" y="1417320"/>
            <a:ext cx="11247120" cy="365760"/>
          </a:xfrm>
          <a:prstGeom prst="rect">
            <a:avLst/>
          </a:prstGeom>
          <a:noFill/>
        </p:spPr>
        <p:txBody>
          <a:bodyPr wrap="square" lIns="45720" rIns="45720" tIns="18288" bIns="18288" anchor="t">
            <a:spAutoFit/>
          </a:bodyPr>
          <a:lstStyle/>
          <a:p>
            <a:pPr algn="l">
              <a:lnSpc>
                <a:spcPct val="135000"/>
              </a:lnSpc>
            </a:pPr>
            <a:r>
              <a:rPr sz="1150" b="0" i="1">
                <a:solidFill>
                  <a:srgbClr val="52597A"/>
                </a:solidFill>
                <a:latin typeface="Calibri"/>
              </a:rPr>
              <a:t>Strangers become a community. Community becomes advocates. Advocates become a growth channel.</a:t>
            </a:r>
          </a:p>
        </p:txBody>
      </p:sp>
      <p:sp>
        <p:nvSpPr>
          <p:cNvPr id="9" name="Rounded Rectangle 8"/>
          <p:cNvSpPr/>
          <p:nvPr/>
        </p:nvSpPr>
        <p:spPr>
          <a:xfrm>
            <a:off x="457200" y="1874519"/>
            <a:ext cx="3566160" cy="461772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tudents_group.jpg"/>
          <p:cNvPicPr>
            <a:picLocks noChangeAspect="1"/>
          </p:cNvPicPr>
          <p:nvPr/>
        </p:nvPicPr>
        <p:blipFill>
          <a:blip r:embed="rId3"/>
          <a:stretch>
            <a:fillRect/>
          </a:stretch>
        </p:blipFill>
        <p:spPr>
          <a:xfrm>
            <a:off x="685800" y="2103119"/>
            <a:ext cx="3108960" cy="1417320"/>
          </a:xfrm>
          <a:prstGeom prst="rect">
            <a:avLst/>
          </a:prstGeom>
        </p:spPr>
      </p:pic>
      <p:sp>
        <p:nvSpPr>
          <p:cNvPr id="11" name="Rectangle 10"/>
          <p:cNvSpPr/>
          <p:nvPr/>
        </p:nvSpPr>
        <p:spPr>
          <a:xfrm>
            <a:off x="685800" y="3566159"/>
            <a:ext cx="3108960" cy="457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675887"/>
            <a:ext cx="356616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COMMUNITY</a:t>
            </a:r>
          </a:p>
        </p:txBody>
      </p:sp>
      <p:sp>
        <p:nvSpPr>
          <p:cNvPr id="13" name="TextBox 12"/>
          <p:cNvSpPr txBox="1"/>
          <p:nvPr/>
        </p:nvSpPr>
        <p:spPr>
          <a:xfrm>
            <a:off x="685800" y="3950207"/>
            <a:ext cx="3200400" cy="457200"/>
          </a:xfrm>
          <a:prstGeom prst="rect">
            <a:avLst/>
          </a:prstGeom>
          <a:noFill/>
        </p:spPr>
        <p:txBody>
          <a:bodyPr wrap="square" lIns="45720" rIns="45720" tIns="18288" bIns="18288" anchor="t">
            <a:spAutoFit/>
          </a:bodyPr>
          <a:lstStyle/>
          <a:p>
            <a:pPr algn="l">
              <a:lnSpc>
                <a:spcPct val="110000"/>
              </a:lnSpc>
            </a:pPr>
            <a:r>
              <a:rPr sz="1400" b="1" i="0">
                <a:solidFill>
                  <a:srgbClr val="1E1B4B"/>
                </a:solidFill>
                <a:latin typeface="Calibri"/>
              </a:rPr>
              <a:t>Belong before learn.</a:t>
            </a:r>
          </a:p>
        </p:txBody>
      </p:sp>
      <p:sp>
        <p:nvSpPr>
          <p:cNvPr id="14" name="TextBox 13"/>
          <p:cNvSpPr txBox="1"/>
          <p:nvPr/>
        </p:nvSpPr>
        <p:spPr>
          <a:xfrm>
            <a:off x="685800" y="4571999"/>
            <a:ext cx="3200400" cy="1828800"/>
          </a:xfrm>
          <a:prstGeom prst="rect">
            <a:avLst/>
          </a:prstGeom>
          <a:noFill/>
        </p:spPr>
        <p:txBody>
          <a:bodyPr wrap="square" lIns="45720" rIns="45720" tIns="18288" bIns="18288">
            <a:spAutoFit/>
          </a:bodyPr>
          <a:lstStyle/>
          <a:p>
            <a:pPr algn="l">
              <a:lnSpc>
                <a:spcPct val="140000"/>
              </a:lnSpc>
              <a:spcBef>
                <a:spcPts val="400"/>
              </a:spcBef>
            </a:pPr>
            <a:r>
              <a:rPr sz="969" b="1">
                <a:solidFill>
                  <a:srgbClr val="14B8A6"/>
                </a:solidFill>
                <a:latin typeface="Calibri"/>
              </a:rPr>
              <a:t>• </a:t>
            </a:r>
            <a:r>
              <a:rPr sz="969">
                <a:solidFill>
                  <a:srgbClr val="141B2D"/>
                </a:solidFill>
                <a:latin typeface="Calibri"/>
              </a:rPr>
              <a:t>beSocial: faculty hosted weekly threads.</a:t>
            </a:r>
          </a:p>
          <a:p>
            <a:pPr algn="l">
              <a:lnSpc>
                <a:spcPct val="140000"/>
              </a:lnSpc>
              <a:spcBef>
                <a:spcPts val="400"/>
              </a:spcBef>
            </a:pPr>
            <a:r>
              <a:rPr sz="969" b="1">
                <a:solidFill>
                  <a:srgbClr val="14B8A6"/>
                </a:solidFill>
                <a:latin typeface="Calibri"/>
              </a:rPr>
              <a:t>• </a:t>
            </a:r>
            <a:r>
              <a:rPr sz="969">
                <a:solidFill>
                  <a:srgbClr val="141B2D"/>
                </a:solidFill>
                <a:latin typeface="Calibri"/>
              </a:rPr>
              <a:t>City chapters with elected learner leads.</a:t>
            </a:r>
          </a:p>
          <a:p>
            <a:pPr algn="l">
              <a:lnSpc>
                <a:spcPct val="140000"/>
              </a:lnSpc>
              <a:spcBef>
                <a:spcPts val="400"/>
              </a:spcBef>
            </a:pPr>
            <a:r>
              <a:rPr sz="969" b="1">
                <a:solidFill>
                  <a:srgbClr val="14B8A6"/>
                </a:solidFill>
                <a:latin typeface="Calibri"/>
              </a:rPr>
              <a:t>• </a:t>
            </a:r>
            <a:r>
              <a:rPr sz="969">
                <a:solidFill>
                  <a:srgbClr val="141B2D"/>
                </a:solidFill>
                <a:latin typeface="Calibri"/>
              </a:rPr>
              <a:t>Sunday Sit Down with leadership.</a:t>
            </a:r>
          </a:p>
          <a:p>
            <a:pPr algn="l">
              <a:lnSpc>
                <a:spcPct val="140000"/>
              </a:lnSpc>
              <a:spcBef>
                <a:spcPts val="400"/>
              </a:spcBef>
            </a:pPr>
            <a:r>
              <a:rPr sz="969" b="1">
                <a:solidFill>
                  <a:srgbClr val="14B8A6"/>
                </a:solidFill>
                <a:latin typeface="Calibri"/>
              </a:rPr>
              <a:t>• </a:t>
            </a:r>
            <a:r>
              <a:rPr sz="969">
                <a:solidFill>
                  <a:srgbClr val="141B2D"/>
                </a:solidFill>
                <a:latin typeface="Calibri"/>
              </a:rPr>
              <a:t>Annual reunion stitched into Convocation.</a:t>
            </a:r>
          </a:p>
        </p:txBody>
      </p:sp>
      <p:sp>
        <p:nvSpPr>
          <p:cNvPr id="15" name="Rounded Rectangle 14"/>
          <p:cNvSpPr/>
          <p:nvPr/>
        </p:nvSpPr>
        <p:spPr>
          <a:xfrm>
            <a:off x="4526280" y="1874519"/>
            <a:ext cx="3566160" cy="461772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campus_event.jpg"/>
          <p:cNvPicPr>
            <a:picLocks noChangeAspect="1"/>
          </p:cNvPicPr>
          <p:nvPr/>
        </p:nvPicPr>
        <p:blipFill>
          <a:blip r:embed="rId4"/>
          <a:stretch>
            <a:fillRect/>
          </a:stretch>
        </p:blipFill>
        <p:spPr>
          <a:xfrm>
            <a:off x="4754880" y="2103119"/>
            <a:ext cx="3108960" cy="1417320"/>
          </a:xfrm>
          <a:prstGeom prst="rect">
            <a:avLst/>
          </a:prstGeom>
        </p:spPr>
      </p:pic>
      <p:sp>
        <p:nvSpPr>
          <p:cNvPr id="17" name="Rectangle 16"/>
          <p:cNvSpPr/>
          <p:nvPr/>
        </p:nvSpPr>
        <p:spPr>
          <a:xfrm>
            <a:off x="4754880" y="3566159"/>
            <a:ext cx="3108960" cy="4572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0" y="3675887"/>
            <a:ext cx="3566160" cy="274320"/>
          </a:xfrm>
          <a:prstGeom prst="rect">
            <a:avLst/>
          </a:prstGeom>
          <a:noFill/>
        </p:spPr>
        <p:txBody>
          <a:bodyPr wrap="square" lIns="45720" rIns="45720" tIns="18288" bIns="18288" anchor="t">
            <a:spAutoFit/>
          </a:bodyPr>
          <a:lstStyle/>
          <a:p>
            <a:pPr algn="l">
              <a:lnSpc>
                <a:spcPct val="125000"/>
              </a:lnSpc>
            </a:pPr>
            <a:r>
              <a:rPr sz="1050" b="1" i="0">
                <a:solidFill>
                  <a:srgbClr val="06B6D4"/>
                </a:solidFill>
                <a:latin typeface="Calibri"/>
              </a:rPr>
              <a:t>ADVOCACY</a:t>
            </a:r>
          </a:p>
        </p:txBody>
      </p:sp>
      <p:sp>
        <p:nvSpPr>
          <p:cNvPr id="19" name="TextBox 18"/>
          <p:cNvSpPr txBox="1"/>
          <p:nvPr/>
        </p:nvSpPr>
        <p:spPr>
          <a:xfrm>
            <a:off x="4754880" y="3950207"/>
            <a:ext cx="3200400" cy="457200"/>
          </a:xfrm>
          <a:prstGeom prst="rect">
            <a:avLst/>
          </a:prstGeom>
          <a:noFill/>
        </p:spPr>
        <p:txBody>
          <a:bodyPr wrap="square" lIns="45720" rIns="45720" tIns="18288" bIns="18288" anchor="t">
            <a:spAutoFit/>
          </a:bodyPr>
          <a:lstStyle/>
          <a:p>
            <a:pPr algn="l">
              <a:lnSpc>
                <a:spcPct val="110000"/>
              </a:lnSpc>
            </a:pPr>
            <a:r>
              <a:rPr sz="1400" b="1" i="0">
                <a:solidFill>
                  <a:srgbClr val="1E1B4B"/>
                </a:solidFill>
                <a:latin typeface="Calibri"/>
              </a:rPr>
              <a:t>Make the proud share the proud.</a:t>
            </a:r>
          </a:p>
        </p:txBody>
      </p:sp>
      <p:sp>
        <p:nvSpPr>
          <p:cNvPr id="20" name="TextBox 19"/>
          <p:cNvSpPr txBox="1"/>
          <p:nvPr/>
        </p:nvSpPr>
        <p:spPr>
          <a:xfrm>
            <a:off x="4754880" y="4571999"/>
            <a:ext cx="3200400" cy="1828800"/>
          </a:xfrm>
          <a:prstGeom prst="rect">
            <a:avLst/>
          </a:prstGeom>
          <a:noFill/>
        </p:spPr>
        <p:txBody>
          <a:bodyPr wrap="square" lIns="45720" rIns="45720" tIns="18288" bIns="18288">
            <a:spAutoFit/>
          </a:bodyPr>
          <a:lstStyle/>
          <a:p>
            <a:pPr algn="l">
              <a:lnSpc>
                <a:spcPct val="140000"/>
              </a:lnSpc>
              <a:spcBef>
                <a:spcPts val="400"/>
              </a:spcBef>
            </a:pPr>
            <a:r>
              <a:rPr sz="969" b="1">
                <a:solidFill>
                  <a:srgbClr val="06B6D4"/>
                </a:solidFill>
                <a:latin typeface="Calibri"/>
              </a:rPr>
              <a:t>• </a:t>
            </a:r>
            <a:r>
              <a:rPr sz="969">
                <a:solidFill>
                  <a:srgbClr val="141B2D"/>
                </a:solidFill>
                <a:latin typeface="Calibri"/>
              </a:rPr>
              <a:t>Outcome Stories series (1 learner / week).</a:t>
            </a:r>
          </a:p>
          <a:p>
            <a:pPr algn="l">
              <a:lnSpc>
                <a:spcPct val="140000"/>
              </a:lnSpc>
              <a:spcBef>
                <a:spcPts val="400"/>
              </a:spcBef>
            </a:pPr>
            <a:r>
              <a:rPr sz="969" b="1">
                <a:solidFill>
                  <a:srgbClr val="06B6D4"/>
                </a:solidFill>
                <a:latin typeface="Calibri"/>
              </a:rPr>
              <a:t>• </a:t>
            </a:r>
            <a:r>
              <a:rPr sz="969">
                <a:solidFill>
                  <a:srgbClr val="141B2D"/>
                </a:solidFill>
                <a:latin typeface="Calibri"/>
              </a:rPr>
              <a:t>LinkedIn Verified Alumni badge program.</a:t>
            </a:r>
          </a:p>
          <a:p>
            <a:pPr algn="l">
              <a:lnSpc>
                <a:spcPct val="140000"/>
              </a:lnSpc>
              <a:spcBef>
                <a:spcPts val="400"/>
              </a:spcBef>
            </a:pPr>
            <a:r>
              <a:rPr sz="969" b="1">
                <a:solidFill>
                  <a:srgbClr val="06B6D4"/>
                </a:solidFill>
                <a:latin typeface="Calibri"/>
              </a:rPr>
              <a:t>• </a:t>
            </a:r>
            <a:r>
              <a:rPr sz="969">
                <a:solidFill>
                  <a:srgbClr val="141B2D"/>
                </a:solidFill>
                <a:latin typeface="Calibri"/>
              </a:rPr>
              <a:t>Top 100 Voices: invite, train, equip.</a:t>
            </a:r>
          </a:p>
          <a:p>
            <a:pPr algn="l">
              <a:lnSpc>
                <a:spcPct val="140000"/>
              </a:lnSpc>
              <a:spcBef>
                <a:spcPts val="400"/>
              </a:spcBef>
            </a:pPr>
            <a:r>
              <a:rPr sz="969" b="1">
                <a:solidFill>
                  <a:srgbClr val="06B6D4"/>
                </a:solidFill>
                <a:latin typeface="Calibri"/>
              </a:rPr>
              <a:t>• </a:t>
            </a:r>
            <a:r>
              <a:rPr sz="969">
                <a:solidFill>
                  <a:srgbClr val="141B2D"/>
                </a:solidFill>
                <a:latin typeface="Calibri"/>
              </a:rPr>
              <a:t>User generated content prompts on beSocial.</a:t>
            </a:r>
          </a:p>
        </p:txBody>
      </p:sp>
      <p:sp>
        <p:nvSpPr>
          <p:cNvPr id="21" name="Rounded Rectangle 20"/>
          <p:cNvSpPr/>
          <p:nvPr/>
        </p:nvSpPr>
        <p:spPr>
          <a:xfrm>
            <a:off x="8595360" y="1874519"/>
            <a:ext cx="3566160" cy="461772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online_class.jpg"/>
          <p:cNvPicPr>
            <a:picLocks noChangeAspect="1"/>
          </p:cNvPicPr>
          <p:nvPr/>
        </p:nvPicPr>
        <p:blipFill>
          <a:blip r:embed="rId5"/>
          <a:stretch>
            <a:fillRect/>
          </a:stretch>
        </p:blipFill>
        <p:spPr>
          <a:xfrm>
            <a:off x="8823960" y="2103119"/>
            <a:ext cx="3108960" cy="1417320"/>
          </a:xfrm>
          <a:prstGeom prst="rect">
            <a:avLst/>
          </a:prstGeom>
        </p:spPr>
      </p:pic>
      <p:sp>
        <p:nvSpPr>
          <p:cNvPr id="23" name="Rectangle 22"/>
          <p:cNvSpPr/>
          <p:nvPr/>
        </p:nvSpPr>
        <p:spPr>
          <a:xfrm>
            <a:off x="8823960" y="3566159"/>
            <a:ext cx="3108960" cy="4572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23960" y="3675887"/>
            <a:ext cx="3566160" cy="274320"/>
          </a:xfrm>
          <a:prstGeom prst="rect">
            <a:avLst/>
          </a:prstGeom>
          <a:noFill/>
        </p:spPr>
        <p:txBody>
          <a:bodyPr wrap="square" lIns="45720" rIns="45720" tIns="18288" bIns="18288" anchor="t">
            <a:spAutoFit/>
          </a:bodyPr>
          <a:lstStyle/>
          <a:p>
            <a:pPr algn="l">
              <a:lnSpc>
                <a:spcPct val="125000"/>
              </a:lnSpc>
            </a:pPr>
            <a:r>
              <a:rPr sz="1050" b="1" i="0">
                <a:solidFill>
                  <a:srgbClr val="A855F7"/>
                </a:solidFill>
                <a:latin typeface="Calibri"/>
              </a:rPr>
              <a:t>REFERRALS</a:t>
            </a:r>
          </a:p>
        </p:txBody>
      </p:sp>
      <p:sp>
        <p:nvSpPr>
          <p:cNvPr id="25" name="TextBox 24"/>
          <p:cNvSpPr txBox="1"/>
          <p:nvPr/>
        </p:nvSpPr>
        <p:spPr>
          <a:xfrm>
            <a:off x="8823960" y="3950207"/>
            <a:ext cx="3200400" cy="457200"/>
          </a:xfrm>
          <a:prstGeom prst="rect">
            <a:avLst/>
          </a:prstGeom>
          <a:noFill/>
        </p:spPr>
        <p:txBody>
          <a:bodyPr wrap="square" lIns="45720" rIns="45720" tIns="18288" bIns="18288" anchor="t">
            <a:spAutoFit/>
          </a:bodyPr>
          <a:lstStyle/>
          <a:p>
            <a:pPr algn="l">
              <a:lnSpc>
                <a:spcPct val="110000"/>
              </a:lnSpc>
            </a:pPr>
            <a:r>
              <a:rPr sz="1400" b="1" i="0">
                <a:solidFill>
                  <a:srgbClr val="1E1B4B"/>
                </a:solidFill>
                <a:latin typeface="Calibri"/>
              </a:rPr>
              <a:t>Reward the referrer, not just the referral.</a:t>
            </a:r>
          </a:p>
        </p:txBody>
      </p:sp>
      <p:sp>
        <p:nvSpPr>
          <p:cNvPr id="26" name="TextBox 25"/>
          <p:cNvSpPr txBox="1"/>
          <p:nvPr/>
        </p:nvSpPr>
        <p:spPr>
          <a:xfrm>
            <a:off x="8823960" y="4571999"/>
            <a:ext cx="3200400" cy="1828800"/>
          </a:xfrm>
          <a:prstGeom prst="rect">
            <a:avLst/>
          </a:prstGeom>
          <a:noFill/>
        </p:spPr>
        <p:txBody>
          <a:bodyPr wrap="square" lIns="45720" rIns="45720" tIns="18288" bIns="18288">
            <a:spAutoFit/>
          </a:bodyPr>
          <a:lstStyle/>
          <a:p>
            <a:pPr algn="l">
              <a:lnSpc>
                <a:spcPct val="140000"/>
              </a:lnSpc>
              <a:spcBef>
                <a:spcPts val="400"/>
              </a:spcBef>
            </a:pPr>
            <a:r>
              <a:rPr sz="969" b="1">
                <a:solidFill>
                  <a:srgbClr val="A855F7"/>
                </a:solidFill>
                <a:latin typeface="Calibri"/>
              </a:rPr>
              <a:t>• </a:t>
            </a:r>
            <a:r>
              <a:rPr sz="969">
                <a:solidFill>
                  <a:srgbClr val="141B2D"/>
                </a:solidFill>
                <a:latin typeface="Calibri"/>
              </a:rPr>
              <a:t>2 sided: Rs 5,000 voucher each.</a:t>
            </a:r>
          </a:p>
          <a:p>
            <a:pPr algn="l">
              <a:lnSpc>
                <a:spcPct val="140000"/>
              </a:lnSpc>
              <a:spcBef>
                <a:spcPts val="400"/>
              </a:spcBef>
            </a:pPr>
            <a:r>
              <a:rPr sz="969" b="1">
                <a:solidFill>
                  <a:srgbClr val="A855F7"/>
                </a:solidFill>
                <a:latin typeface="Calibri"/>
              </a:rPr>
              <a:t>• </a:t>
            </a:r>
            <a:r>
              <a:rPr sz="969">
                <a:solidFill>
                  <a:srgbClr val="141B2D"/>
                </a:solidFill>
                <a:latin typeface="Calibri"/>
              </a:rPr>
              <a:t>Tiers: Bronze, Silver, Gold based on count.</a:t>
            </a:r>
          </a:p>
          <a:p>
            <a:pPr algn="l">
              <a:lnSpc>
                <a:spcPct val="140000"/>
              </a:lnSpc>
              <a:spcBef>
                <a:spcPts val="400"/>
              </a:spcBef>
            </a:pPr>
            <a:r>
              <a:rPr sz="969" b="1">
                <a:solidFill>
                  <a:srgbClr val="A855F7"/>
                </a:solidFill>
                <a:latin typeface="Calibri"/>
              </a:rPr>
              <a:t>• </a:t>
            </a:r>
            <a:r>
              <a:rPr sz="969">
                <a:solidFill>
                  <a:srgbClr val="141B2D"/>
                </a:solidFill>
                <a:latin typeface="Calibri"/>
              </a:rPr>
              <a:t>Referrals tagged in Customer Relationship Management.</a:t>
            </a:r>
          </a:p>
          <a:p>
            <a:pPr algn="l">
              <a:lnSpc>
                <a:spcPct val="140000"/>
              </a:lnSpc>
              <a:spcBef>
                <a:spcPts val="400"/>
              </a:spcBef>
            </a:pPr>
            <a:r>
              <a:rPr sz="969" b="1">
                <a:solidFill>
                  <a:srgbClr val="A855F7"/>
                </a:solidFill>
                <a:latin typeface="Calibri"/>
              </a:rPr>
              <a:t>• </a:t>
            </a:r>
            <a:r>
              <a:rPr sz="969">
                <a:solidFill>
                  <a:srgbClr val="141B2D"/>
                </a:solidFill>
                <a:latin typeface="Calibri"/>
              </a:rPr>
              <a:t>Audited monthly. Anti gaming rules public.</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eadership.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00E2E">
              <a:alpha val="74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371600"/>
            <a:ext cx="10972800" cy="365760"/>
          </a:xfrm>
          <a:prstGeom prst="rect">
            <a:avLst/>
          </a:prstGeom>
          <a:noFill/>
        </p:spPr>
        <p:txBody>
          <a:bodyPr wrap="square" lIns="45720" rIns="45720" tIns="18288" bIns="18288" anchor="t">
            <a:spAutoFit/>
          </a:bodyPr>
          <a:lstStyle/>
          <a:p>
            <a:pPr algn="l">
              <a:lnSpc>
                <a:spcPct val="100000"/>
              </a:lnSpc>
            </a:pPr>
            <a:r>
              <a:rPr sz="1100" b="1" i="0">
                <a:solidFill>
                  <a:srgbClr val="14B8A6"/>
                </a:solidFill>
                <a:latin typeface="Calibri"/>
              </a:rPr>
              <a:t>TASK 3   |   LEADERSHIP DECK   |   FIVE SLIDES</a:t>
            </a:r>
          </a:p>
        </p:txBody>
      </p:sp>
      <p:sp>
        <p:nvSpPr>
          <p:cNvPr id="6" name="TextBox 5"/>
          <p:cNvSpPr txBox="1"/>
          <p:nvPr/>
        </p:nvSpPr>
        <p:spPr>
          <a:xfrm>
            <a:off x="640080" y="1828800"/>
            <a:ext cx="10972800" cy="1828800"/>
          </a:xfrm>
          <a:prstGeom prst="rect">
            <a:avLst/>
          </a:prstGeom>
          <a:noFill/>
        </p:spPr>
        <p:txBody>
          <a:bodyPr wrap="square" lIns="45720" rIns="45720" tIns="18288" bIns="18288" anchor="t">
            <a:spAutoFit/>
          </a:bodyPr>
          <a:lstStyle/>
          <a:p>
            <a:pPr algn="l">
              <a:lnSpc>
                <a:spcPct val="100000"/>
              </a:lnSpc>
            </a:pPr>
            <a:r>
              <a:rPr sz="5400" b="1" i="0">
                <a:solidFill>
                  <a:srgbClr val="FFFFFF"/>
                </a:solidFill>
                <a:latin typeface="Calibri"/>
              </a:rPr>
              <a:t>Engagement is the</a:t>
            </a:r>
          </a:p>
          <a:p>
            <a:pPr algn="l">
              <a:lnSpc>
                <a:spcPct val="100000"/>
              </a:lnSpc>
            </a:pPr>
            <a:r>
              <a:rPr sz="5400" b="1" i="0">
                <a:solidFill>
                  <a:srgbClr val="FFFFFF"/>
                </a:solidFill>
                <a:latin typeface="Calibri"/>
              </a:rPr>
              <a:t>shortest path</a:t>
            </a:r>
          </a:p>
          <a:p>
            <a:pPr algn="l">
              <a:lnSpc>
                <a:spcPct val="100000"/>
              </a:lnSpc>
            </a:pPr>
            <a:r>
              <a:rPr sz="5400" b="1" i="0">
                <a:solidFill>
                  <a:srgbClr val="FFFFFF"/>
                </a:solidFill>
                <a:latin typeface="Calibri"/>
              </a:rPr>
              <a:t>to retention.</a:t>
            </a:r>
          </a:p>
        </p:txBody>
      </p:sp>
      <p:sp>
        <p:nvSpPr>
          <p:cNvPr id="7" name="TextBox 6"/>
          <p:cNvSpPr txBox="1"/>
          <p:nvPr/>
        </p:nvSpPr>
        <p:spPr>
          <a:xfrm>
            <a:off x="640080" y="5120640"/>
            <a:ext cx="10972800" cy="457200"/>
          </a:xfrm>
          <a:prstGeom prst="rect">
            <a:avLst/>
          </a:prstGeom>
          <a:noFill/>
        </p:spPr>
        <p:txBody>
          <a:bodyPr wrap="square" lIns="45720" rIns="45720" tIns="18288" bIns="18288" anchor="t">
            <a:spAutoFit/>
          </a:bodyPr>
          <a:lstStyle/>
          <a:p>
            <a:pPr algn="l">
              <a:lnSpc>
                <a:spcPct val="125000"/>
              </a:lnSpc>
            </a:pPr>
            <a:r>
              <a:rPr sz="1800" b="0" i="1">
                <a:solidFill>
                  <a:srgbClr val="C4B5FD"/>
                </a:solidFill>
                <a:latin typeface="Calibri"/>
              </a:rPr>
              <a:t>And retention, done well, becomes advocacy.</a:t>
            </a:r>
          </a:p>
        </p:txBody>
      </p:sp>
      <p:sp>
        <p:nvSpPr>
          <p:cNvPr id="8" name="TextBox 7"/>
          <p:cNvSpPr txBox="1"/>
          <p:nvPr/>
        </p:nvSpPr>
        <p:spPr>
          <a:xfrm>
            <a:off x="640080" y="5943600"/>
            <a:ext cx="10972800" cy="365760"/>
          </a:xfrm>
          <a:prstGeom prst="rect">
            <a:avLst/>
          </a:prstGeom>
          <a:noFill/>
        </p:spPr>
        <p:txBody>
          <a:bodyPr wrap="square" lIns="45720" rIns="45720" tIns="18288" bIns="18288" anchor="t">
            <a:spAutoFit/>
          </a:bodyPr>
          <a:lstStyle/>
          <a:p>
            <a:pPr algn="l">
              <a:lnSpc>
                <a:spcPct val="125000"/>
              </a:lnSpc>
            </a:pPr>
            <a:r>
              <a:rPr sz="1100" b="0" i="1">
                <a:solidFill>
                  <a:srgbClr val="C4B5FD"/>
                </a:solidFill>
                <a:latin typeface="Calibri"/>
              </a:rPr>
              <a:t>Audience. Chairman. Provost. Chief Marketing Officer. Chief Financial Officer.</a:t>
            </a:r>
          </a:p>
        </p:txBody>
      </p:sp>
      <p:sp>
        <p:nvSpPr>
          <p:cNvPr id="9" name="Rounded Rectangle 8"/>
          <p:cNvSpPr/>
          <p:nvPr/>
        </p:nvSpPr>
        <p:spPr>
          <a:xfrm>
            <a:off x="10340961" y="228600"/>
            <a:ext cx="1548982" cy="58521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amity_online_logo.png"/>
          <p:cNvPicPr>
            <a:picLocks noChangeAspect="1"/>
          </p:cNvPicPr>
          <p:nvPr/>
        </p:nvPicPr>
        <p:blipFill>
          <a:blip r:embed="rId3"/>
          <a:stretch>
            <a:fillRect/>
          </a:stretch>
        </p:blipFill>
        <p:spPr>
          <a:xfrm>
            <a:off x="10450689" y="292608"/>
            <a:ext cx="1329526" cy="457200"/>
          </a:xfrm>
          <a:prstGeom prst="rect">
            <a:avLst/>
          </a:prstGeom>
        </p:spPr>
      </p:pic>
      <p:sp>
        <p:nvSpPr>
          <p:cNvPr id="11" name="TextBox 10"/>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C4B5FD"/>
                </a:solidFill>
                <a:latin typeface="Calibri"/>
              </a:rPr>
              <a:t/>
            </a:r>
          </a:p>
        </p:txBody>
      </p:sp>
      <p:sp>
        <p:nvSpPr>
          <p:cNvPr id="12" name="TextBox 11"/>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C4B5FD"/>
                </a:solidFill>
                <a:latin typeface="Calibri"/>
              </a:rPr>
              <a:t>13 / 19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LEADERSHIP   |   1 / 5   THE HOOK</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One in three learners drift in the first 30 days.</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14 / 19</a:t>
            </a:r>
          </a:p>
        </p:txBody>
      </p:sp>
      <p:sp>
        <p:nvSpPr>
          <p:cNvPr id="8" name="Rounded Rectangle 7"/>
          <p:cNvSpPr/>
          <p:nvPr/>
        </p:nvSpPr>
        <p:spPr>
          <a:xfrm>
            <a:off x="457200" y="1508760"/>
            <a:ext cx="4572000" cy="5029200"/>
          </a:xfrm>
          <a:prstGeom prst="roundRect">
            <a:avLst>
              <a:gd name="adj" fmla="val 3000"/>
            </a:avLst>
          </a:prstGeom>
          <a:solidFill>
            <a:srgbClr val="100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691640"/>
            <a:ext cx="4572000" cy="365760"/>
          </a:xfrm>
          <a:prstGeom prst="rect">
            <a:avLst/>
          </a:prstGeom>
          <a:noFill/>
        </p:spPr>
        <p:txBody>
          <a:bodyPr wrap="square" lIns="45720" rIns="45720" tIns="18288" bIns="18288" anchor="t">
            <a:spAutoFit/>
          </a:bodyPr>
          <a:lstStyle/>
          <a:p>
            <a:pPr algn="ctr">
              <a:lnSpc>
                <a:spcPct val="125000"/>
              </a:lnSpc>
            </a:pPr>
            <a:r>
              <a:rPr sz="900" b="1" i="0">
                <a:solidFill>
                  <a:srgbClr val="14B8A6"/>
                </a:solidFill>
                <a:latin typeface="Calibri"/>
              </a:rPr>
              <a:t>ILLUSTRATIVE. PROXY OF INDUSTRY DATA.</a:t>
            </a:r>
          </a:p>
        </p:txBody>
      </p:sp>
      <p:sp>
        <p:nvSpPr>
          <p:cNvPr id="10" name="TextBox 9"/>
          <p:cNvSpPr txBox="1"/>
          <p:nvPr/>
        </p:nvSpPr>
        <p:spPr>
          <a:xfrm>
            <a:off x="457200" y="2286000"/>
            <a:ext cx="4572000" cy="1828800"/>
          </a:xfrm>
          <a:prstGeom prst="rect">
            <a:avLst/>
          </a:prstGeom>
          <a:noFill/>
        </p:spPr>
        <p:txBody>
          <a:bodyPr wrap="square" lIns="45720" rIns="45720" tIns="18288" bIns="18288" anchor="t">
            <a:spAutoFit/>
          </a:bodyPr>
          <a:lstStyle/>
          <a:p>
            <a:pPr algn="ctr">
              <a:lnSpc>
                <a:spcPct val="100000"/>
              </a:lnSpc>
            </a:pPr>
            <a:r>
              <a:rPr sz="12000" b="1" i="0">
                <a:solidFill>
                  <a:srgbClr val="14B8A6"/>
                </a:solidFill>
                <a:latin typeface="Calibri"/>
              </a:rPr>
              <a:t>1 in 3</a:t>
            </a:r>
          </a:p>
        </p:txBody>
      </p:sp>
      <p:sp>
        <p:nvSpPr>
          <p:cNvPr id="11" name="TextBox 10"/>
          <p:cNvSpPr txBox="1"/>
          <p:nvPr/>
        </p:nvSpPr>
        <p:spPr>
          <a:xfrm>
            <a:off x="457200" y="4114800"/>
            <a:ext cx="4572000" cy="457200"/>
          </a:xfrm>
          <a:prstGeom prst="rect">
            <a:avLst/>
          </a:prstGeom>
          <a:noFill/>
        </p:spPr>
        <p:txBody>
          <a:bodyPr wrap="square" lIns="45720" rIns="45720" tIns="18288" bIns="18288" anchor="t">
            <a:spAutoFit/>
          </a:bodyPr>
          <a:lstStyle/>
          <a:p>
            <a:pPr algn="ctr">
              <a:lnSpc>
                <a:spcPct val="125000"/>
              </a:lnSpc>
            </a:pPr>
            <a:r>
              <a:rPr sz="1800" b="0" i="1">
                <a:solidFill>
                  <a:srgbClr val="FFFFFF"/>
                </a:solidFill>
                <a:latin typeface="Calibri"/>
              </a:rPr>
              <a:t>drift in the first 30 days.</a:t>
            </a:r>
          </a:p>
        </p:txBody>
      </p:sp>
      <p:sp>
        <p:nvSpPr>
          <p:cNvPr id="12" name="TextBox 11"/>
          <p:cNvSpPr txBox="1"/>
          <p:nvPr/>
        </p:nvSpPr>
        <p:spPr>
          <a:xfrm>
            <a:off x="640080" y="4937760"/>
            <a:ext cx="4206240" cy="1371600"/>
          </a:xfrm>
          <a:prstGeom prst="rect">
            <a:avLst/>
          </a:prstGeom>
          <a:noFill/>
        </p:spPr>
        <p:txBody>
          <a:bodyPr wrap="square" lIns="45720" rIns="45720" tIns="18288" bIns="18288" anchor="t">
            <a:spAutoFit/>
          </a:bodyPr>
          <a:lstStyle/>
          <a:p>
            <a:pPr algn="ctr">
              <a:lnSpc>
                <a:spcPct val="140000"/>
              </a:lnSpc>
            </a:pPr>
            <a:r>
              <a:rPr sz="1150" b="0" i="1">
                <a:solidFill>
                  <a:srgbClr val="C4B5FD"/>
                </a:solidFill>
                <a:latin typeface="Calibri"/>
              </a:rPr>
              <a:t>Most don't drop loudly.</a:t>
            </a:r>
          </a:p>
          <a:p>
            <a:pPr algn="ctr">
              <a:lnSpc>
                <a:spcPct val="140000"/>
              </a:lnSpc>
            </a:pPr>
            <a:r>
              <a:rPr sz="1150" b="0" i="1">
                <a:solidFill>
                  <a:srgbClr val="C4B5FD"/>
                </a:solidFill>
                <a:latin typeface="Calibri"/>
              </a:rPr>
              <a:t>They just stop logging in.</a:t>
            </a:r>
          </a:p>
          <a:p>
            <a:pPr algn="ctr">
              <a:lnSpc>
                <a:spcPct val="140000"/>
              </a:lnSpc>
            </a:pPr>
            <a:r>
              <a:rPr sz="1150" b="0" i="1">
                <a:solidFill>
                  <a:srgbClr val="C4B5FD"/>
                </a:solidFill>
                <a:latin typeface="Calibri"/>
              </a:rPr>
              <a:t>Each ghost = wasted CAC + lost referral + lost story.</a:t>
            </a:r>
          </a:p>
        </p:txBody>
      </p:sp>
      <p:sp>
        <p:nvSpPr>
          <p:cNvPr id="13" name="TextBox 12"/>
          <p:cNvSpPr txBox="1"/>
          <p:nvPr/>
        </p:nvSpPr>
        <p:spPr>
          <a:xfrm>
            <a:off x="5349240" y="1508760"/>
            <a:ext cx="6400800" cy="365760"/>
          </a:xfrm>
          <a:prstGeom prst="rect">
            <a:avLst/>
          </a:prstGeom>
          <a:noFill/>
        </p:spPr>
        <p:txBody>
          <a:bodyPr wrap="square" lIns="45720" rIns="45720" tIns="18288" bIns="18288" anchor="t">
            <a:spAutoFit/>
          </a:bodyPr>
          <a:lstStyle/>
          <a:p>
            <a:pPr algn="l">
              <a:lnSpc>
                <a:spcPct val="125000"/>
              </a:lnSpc>
            </a:pPr>
            <a:r>
              <a:rPr sz="1000" b="1" i="0">
                <a:solidFill>
                  <a:srgbClr val="14B8A6"/>
                </a:solidFill>
                <a:latin typeface="Calibri"/>
              </a:rPr>
              <a:t>REMEMBER ROHIT?</a:t>
            </a:r>
          </a:p>
        </p:txBody>
      </p:sp>
      <p:sp>
        <p:nvSpPr>
          <p:cNvPr id="14" name="TextBox 13"/>
          <p:cNvSpPr txBox="1"/>
          <p:nvPr/>
        </p:nvSpPr>
        <p:spPr>
          <a:xfrm>
            <a:off x="5349240" y="1828800"/>
            <a:ext cx="6400800" cy="1371600"/>
          </a:xfrm>
          <a:prstGeom prst="rect">
            <a:avLst/>
          </a:prstGeom>
          <a:noFill/>
        </p:spPr>
        <p:txBody>
          <a:bodyPr wrap="square" lIns="45720" rIns="45720" tIns="18288" bIns="18288" anchor="t">
            <a:spAutoFit/>
          </a:bodyPr>
          <a:lstStyle/>
          <a:p>
            <a:pPr algn="l">
              <a:lnSpc>
                <a:spcPct val="105000"/>
              </a:lnSpc>
            </a:pPr>
            <a:r>
              <a:rPr sz="3400" b="1" i="0">
                <a:solidFill>
                  <a:srgbClr val="1E1B4B"/>
                </a:solidFill>
                <a:latin typeface="Calibri"/>
              </a:rPr>
              <a:t>He bought a degree.</a:t>
            </a:r>
          </a:p>
          <a:p>
            <a:pPr algn="l">
              <a:lnSpc>
                <a:spcPct val="105000"/>
              </a:lnSpc>
            </a:pPr>
            <a:r>
              <a:rPr sz="3400" b="1" i="0">
                <a:solidFill>
                  <a:srgbClr val="1E1B4B"/>
                </a:solidFill>
                <a:latin typeface="Calibri"/>
              </a:rPr>
              <a:t>We sold him a screen.</a:t>
            </a:r>
          </a:p>
        </p:txBody>
      </p:sp>
      <p:sp>
        <p:nvSpPr>
          <p:cNvPr id="15" name="TextBox 14"/>
          <p:cNvSpPr txBox="1"/>
          <p:nvPr/>
        </p:nvSpPr>
        <p:spPr>
          <a:xfrm>
            <a:off x="5349240" y="3840480"/>
            <a:ext cx="6400800" cy="365760"/>
          </a:xfrm>
          <a:prstGeom prst="rect">
            <a:avLst/>
          </a:prstGeom>
          <a:noFill/>
        </p:spPr>
        <p:txBody>
          <a:bodyPr wrap="square" lIns="45720" rIns="45720" tIns="18288" bIns="18288" anchor="t">
            <a:spAutoFit/>
          </a:bodyPr>
          <a:lstStyle/>
          <a:p>
            <a:pPr algn="l">
              <a:lnSpc>
                <a:spcPct val="125000"/>
              </a:lnSpc>
            </a:pPr>
            <a:r>
              <a:rPr sz="1000" b="1" i="0">
                <a:solidFill>
                  <a:srgbClr val="14B8A6"/>
                </a:solidFill>
                <a:latin typeface="Calibri"/>
              </a:rPr>
              <a:t>WHAT GOOD LOOKS LIKE</a:t>
            </a:r>
          </a:p>
        </p:txBody>
      </p:sp>
      <p:sp>
        <p:nvSpPr>
          <p:cNvPr id="16" name="TextBox 15"/>
          <p:cNvSpPr txBox="1"/>
          <p:nvPr/>
        </p:nvSpPr>
        <p:spPr>
          <a:xfrm>
            <a:off x="5349240" y="4160520"/>
            <a:ext cx="6400800" cy="2286000"/>
          </a:xfrm>
          <a:prstGeom prst="rect">
            <a:avLst/>
          </a:prstGeom>
          <a:noFill/>
        </p:spPr>
        <p:txBody>
          <a:bodyPr wrap="square" lIns="45720" rIns="45720" tIns="18288" bIns="18288">
            <a:spAutoFit/>
          </a:bodyPr>
          <a:lstStyle/>
          <a:p>
            <a:pPr algn="l">
              <a:lnSpc>
                <a:spcPct val="155000"/>
              </a:lnSpc>
              <a:spcBef>
                <a:spcPts val="400"/>
              </a:spcBef>
            </a:pPr>
            <a:r>
              <a:rPr sz="1250" b="1">
                <a:solidFill>
                  <a:srgbClr val="14B8A6"/>
                </a:solidFill>
                <a:latin typeface="Calibri"/>
              </a:rPr>
              <a:t>• </a:t>
            </a:r>
            <a:r>
              <a:rPr sz="1250">
                <a:solidFill>
                  <a:srgbClr val="141B2D"/>
                </a:solidFill>
                <a:latin typeface="Calibri"/>
              </a:rPr>
              <a:t>Day 14 feels alive, not lonely.</a:t>
            </a:r>
          </a:p>
          <a:p>
            <a:pPr algn="l">
              <a:lnSpc>
                <a:spcPct val="155000"/>
              </a:lnSpc>
              <a:spcBef>
                <a:spcPts val="400"/>
              </a:spcBef>
            </a:pPr>
            <a:r>
              <a:rPr sz="1250" b="1">
                <a:solidFill>
                  <a:srgbClr val="14B8A6"/>
                </a:solidFill>
                <a:latin typeface="Calibri"/>
              </a:rPr>
              <a:t>• </a:t>
            </a:r>
            <a:r>
              <a:rPr sz="1250">
                <a:solidFill>
                  <a:srgbClr val="141B2D"/>
                </a:solidFill>
                <a:latin typeface="Calibri"/>
              </a:rPr>
              <a:t>Engagement curve flattens, not falls.</a:t>
            </a:r>
          </a:p>
          <a:p>
            <a:pPr algn="l">
              <a:lnSpc>
                <a:spcPct val="155000"/>
              </a:lnSpc>
              <a:spcBef>
                <a:spcPts val="400"/>
              </a:spcBef>
            </a:pPr>
            <a:r>
              <a:rPr sz="1250" b="1">
                <a:solidFill>
                  <a:srgbClr val="14B8A6"/>
                </a:solidFill>
                <a:latin typeface="Calibri"/>
              </a:rPr>
              <a:t>• </a:t>
            </a:r>
            <a:r>
              <a:rPr sz="1250">
                <a:solidFill>
                  <a:srgbClr val="141B2D"/>
                </a:solidFill>
                <a:latin typeface="Calibri"/>
              </a:rPr>
              <a:t>Referral comes from trust, not discount.</a:t>
            </a:r>
          </a:p>
          <a:p>
            <a:pPr algn="l">
              <a:lnSpc>
                <a:spcPct val="155000"/>
              </a:lnSpc>
              <a:spcBef>
                <a:spcPts val="400"/>
              </a:spcBef>
            </a:pPr>
            <a:r>
              <a:rPr sz="1250" b="1">
                <a:solidFill>
                  <a:srgbClr val="14B8A6"/>
                </a:solidFill>
                <a:latin typeface="Calibri"/>
              </a:rPr>
              <a:t>• </a:t>
            </a:r>
            <a:r>
              <a:rPr sz="1250">
                <a:solidFill>
                  <a:srgbClr val="141B2D"/>
                </a:solidFill>
                <a:latin typeface="Calibri"/>
              </a:rPr>
              <a:t>Advocacy is the cheapest cohort we ever bought.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LEADERSHIP   |   2 / 5   THE DATA</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Why engagement is a profit and loss question, not a marketing one.</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15 / 19</a:t>
            </a:r>
          </a:p>
        </p:txBody>
      </p:sp>
      <p:sp>
        <p:nvSpPr>
          <p:cNvPr id="8" name="TextBox 7"/>
          <p:cNvSpPr txBox="1"/>
          <p:nvPr/>
        </p:nvSpPr>
        <p:spPr>
          <a:xfrm>
            <a:off x="457200" y="1417320"/>
            <a:ext cx="11247120" cy="365760"/>
          </a:xfrm>
          <a:prstGeom prst="rect">
            <a:avLst/>
          </a:prstGeom>
          <a:noFill/>
        </p:spPr>
        <p:txBody>
          <a:bodyPr wrap="square" lIns="45720" rIns="45720" tIns="18288" bIns="18288" anchor="t">
            <a:spAutoFit/>
          </a:bodyPr>
          <a:lstStyle/>
          <a:p>
            <a:pPr algn="l">
              <a:lnSpc>
                <a:spcPct val="125000"/>
              </a:lnSpc>
            </a:pPr>
            <a:r>
              <a:rPr sz="1050" b="0" i="1">
                <a:solidFill>
                  <a:srgbClr val="52597A"/>
                </a:solidFill>
                <a:latin typeface="Calibri"/>
              </a:rPr>
              <a:t>Indicative model. Numbers to be validated quarter by quarter.</a:t>
            </a:r>
          </a:p>
        </p:txBody>
      </p:sp>
      <p:sp>
        <p:nvSpPr>
          <p:cNvPr id="9" name="Rounded Rectangle 8"/>
          <p:cNvSpPr/>
          <p:nvPr/>
        </p:nvSpPr>
        <p:spPr>
          <a:xfrm>
            <a:off x="457200" y="1920240"/>
            <a:ext cx="6858000" cy="4572000"/>
          </a:xfrm>
          <a:prstGeom prst="roundRect">
            <a:avLst>
              <a:gd name="adj" fmla="val 3000"/>
            </a:avLst>
          </a:prstGeom>
          <a:solidFill>
            <a:srgbClr val="F4F6FB"/>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84832"/>
            <a:ext cx="6858000" cy="274320"/>
          </a:xfrm>
          <a:prstGeom prst="rect">
            <a:avLst/>
          </a:prstGeom>
          <a:noFill/>
        </p:spPr>
        <p:txBody>
          <a:bodyPr wrap="square" lIns="45720" rIns="45720" tIns="18288" bIns="18288" anchor="t">
            <a:spAutoFit/>
          </a:bodyPr>
          <a:lstStyle/>
          <a:p>
            <a:pPr algn="l">
              <a:lnSpc>
                <a:spcPct val="125000"/>
              </a:lnSpc>
            </a:pPr>
            <a:r>
              <a:rPr sz="1000" b="1" i="0">
                <a:solidFill>
                  <a:srgbClr val="1E1B4B"/>
                </a:solidFill>
                <a:latin typeface="Calibri"/>
              </a:rPr>
              <a:t>COMPLETION RATE BY ENGAGEMENT TIER</a:t>
            </a:r>
          </a:p>
        </p:txBody>
      </p:sp>
      <p:sp>
        <p:nvSpPr>
          <p:cNvPr id="11" name="TextBox 10"/>
          <p:cNvSpPr txBox="1"/>
          <p:nvPr/>
        </p:nvSpPr>
        <p:spPr>
          <a:xfrm>
            <a:off x="685800" y="2331720"/>
            <a:ext cx="6858000" cy="274320"/>
          </a:xfrm>
          <a:prstGeom prst="rect">
            <a:avLst/>
          </a:prstGeom>
          <a:noFill/>
        </p:spPr>
        <p:txBody>
          <a:bodyPr wrap="square" lIns="45720" rIns="45720" tIns="18288" bIns="18288" anchor="t">
            <a:spAutoFit/>
          </a:bodyPr>
          <a:lstStyle/>
          <a:p>
            <a:pPr algn="l">
              <a:lnSpc>
                <a:spcPct val="125000"/>
              </a:lnSpc>
            </a:pPr>
            <a:r>
              <a:rPr sz="900" b="0" i="1">
                <a:solidFill>
                  <a:srgbClr val="52597A"/>
                </a:solidFill>
                <a:latin typeface="Calibri"/>
              </a:rPr>
              <a:t>Internal cohort modelling. Proof of concept only.</a:t>
            </a:r>
          </a:p>
        </p:txBody>
      </p:sp>
      <p:sp>
        <p:nvSpPr>
          <p:cNvPr id="12" name="Rectangle 11"/>
          <p:cNvSpPr/>
          <p:nvPr/>
        </p:nvSpPr>
        <p:spPr>
          <a:xfrm>
            <a:off x="1097280" y="4484218"/>
            <a:ext cx="1097280" cy="1459382"/>
          </a:xfrm>
          <a:prstGeom prst="rect">
            <a:avLst/>
          </a:prstGeom>
          <a:solidFill>
            <a:srgbClr val="DDE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6016752"/>
            <a:ext cx="1097280" cy="274320"/>
          </a:xfrm>
          <a:prstGeom prst="rect">
            <a:avLst/>
          </a:prstGeom>
          <a:noFill/>
        </p:spPr>
        <p:txBody>
          <a:bodyPr wrap="square" lIns="45720" rIns="45720" tIns="18288" bIns="18288" anchor="t">
            <a:spAutoFit/>
          </a:bodyPr>
          <a:lstStyle/>
          <a:p>
            <a:pPr algn="ctr">
              <a:lnSpc>
                <a:spcPct val="125000"/>
              </a:lnSpc>
            </a:pPr>
            <a:r>
              <a:rPr sz="1000" b="1" i="0">
                <a:solidFill>
                  <a:srgbClr val="1E1B4B"/>
                </a:solidFill>
                <a:latin typeface="Calibri"/>
              </a:rPr>
              <a:t>Low</a:t>
            </a:r>
          </a:p>
        </p:txBody>
      </p:sp>
      <p:sp>
        <p:nvSpPr>
          <p:cNvPr id="14" name="TextBox 13"/>
          <p:cNvSpPr txBox="1"/>
          <p:nvPr/>
        </p:nvSpPr>
        <p:spPr>
          <a:xfrm>
            <a:off x="1097280" y="4118458"/>
            <a:ext cx="1097280" cy="274320"/>
          </a:xfrm>
          <a:prstGeom prst="rect">
            <a:avLst/>
          </a:prstGeom>
          <a:noFill/>
        </p:spPr>
        <p:txBody>
          <a:bodyPr wrap="square" lIns="45720" rIns="45720" tIns="18288" bIns="18288" anchor="t">
            <a:spAutoFit/>
          </a:bodyPr>
          <a:lstStyle/>
          <a:p>
            <a:pPr algn="ctr">
              <a:lnSpc>
                <a:spcPct val="100000"/>
              </a:lnSpc>
            </a:pPr>
            <a:r>
              <a:rPr sz="1600" b="1" i="0">
                <a:solidFill>
                  <a:srgbClr val="1E1B4B"/>
                </a:solidFill>
                <a:latin typeface="Calibri"/>
              </a:rPr>
              <a:t>42%</a:t>
            </a:r>
          </a:p>
        </p:txBody>
      </p:sp>
      <p:sp>
        <p:nvSpPr>
          <p:cNvPr id="15" name="Rectangle 14"/>
          <p:cNvSpPr/>
          <p:nvPr/>
        </p:nvSpPr>
        <p:spPr>
          <a:xfrm>
            <a:off x="2468880" y="3824021"/>
            <a:ext cx="1097280" cy="2119579"/>
          </a:xfrm>
          <a:prstGeom prst="rect">
            <a:avLst/>
          </a:prstGeom>
          <a:solidFill>
            <a:srgbClr val="C4B5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68880" y="6016752"/>
            <a:ext cx="1097280" cy="274320"/>
          </a:xfrm>
          <a:prstGeom prst="rect">
            <a:avLst/>
          </a:prstGeom>
          <a:noFill/>
        </p:spPr>
        <p:txBody>
          <a:bodyPr wrap="square" lIns="45720" rIns="45720" tIns="18288" bIns="18288" anchor="t">
            <a:spAutoFit/>
          </a:bodyPr>
          <a:lstStyle/>
          <a:p>
            <a:pPr algn="ctr">
              <a:lnSpc>
                <a:spcPct val="125000"/>
              </a:lnSpc>
            </a:pPr>
            <a:r>
              <a:rPr sz="1000" b="1" i="0">
                <a:solidFill>
                  <a:srgbClr val="1E1B4B"/>
                </a:solidFill>
                <a:latin typeface="Calibri"/>
              </a:rPr>
              <a:t>Medium</a:t>
            </a:r>
          </a:p>
        </p:txBody>
      </p:sp>
      <p:sp>
        <p:nvSpPr>
          <p:cNvPr id="17" name="TextBox 16"/>
          <p:cNvSpPr txBox="1"/>
          <p:nvPr/>
        </p:nvSpPr>
        <p:spPr>
          <a:xfrm>
            <a:off x="2468880" y="3458261"/>
            <a:ext cx="1097280" cy="274320"/>
          </a:xfrm>
          <a:prstGeom prst="rect">
            <a:avLst/>
          </a:prstGeom>
          <a:noFill/>
        </p:spPr>
        <p:txBody>
          <a:bodyPr wrap="square" lIns="45720" rIns="45720" tIns="18288" bIns="18288" anchor="t">
            <a:spAutoFit/>
          </a:bodyPr>
          <a:lstStyle/>
          <a:p>
            <a:pPr algn="ctr">
              <a:lnSpc>
                <a:spcPct val="100000"/>
              </a:lnSpc>
            </a:pPr>
            <a:r>
              <a:rPr sz="1600" b="1" i="0">
                <a:solidFill>
                  <a:srgbClr val="1E1B4B"/>
                </a:solidFill>
                <a:latin typeface="Calibri"/>
              </a:rPr>
              <a:t>61%</a:t>
            </a:r>
          </a:p>
        </p:txBody>
      </p:sp>
      <p:sp>
        <p:nvSpPr>
          <p:cNvPr id="18" name="Rectangle 17"/>
          <p:cNvSpPr/>
          <p:nvPr/>
        </p:nvSpPr>
        <p:spPr>
          <a:xfrm>
            <a:off x="3840480" y="3233319"/>
            <a:ext cx="1097280" cy="2710281"/>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40480" y="6016752"/>
            <a:ext cx="1097280" cy="274320"/>
          </a:xfrm>
          <a:prstGeom prst="rect">
            <a:avLst/>
          </a:prstGeom>
          <a:noFill/>
        </p:spPr>
        <p:txBody>
          <a:bodyPr wrap="square" lIns="45720" rIns="45720" tIns="18288" bIns="18288" anchor="t">
            <a:spAutoFit/>
          </a:bodyPr>
          <a:lstStyle/>
          <a:p>
            <a:pPr algn="ctr">
              <a:lnSpc>
                <a:spcPct val="125000"/>
              </a:lnSpc>
            </a:pPr>
            <a:r>
              <a:rPr sz="1000" b="1" i="0">
                <a:solidFill>
                  <a:srgbClr val="1E1B4B"/>
                </a:solidFill>
                <a:latin typeface="Calibri"/>
              </a:rPr>
              <a:t>High</a:t>
            </a:r>
          </a:p>
        </p:txBody>
      </p:sp>
      <p:sp>
        <p:nvSpPr>
          <p:cNvPr id="20" name="TextBox 19"/>
          <p:cNvSpPr txBox="1"/>
          <p:nvPr/>
        </p:nvSpPr>
        <p:spPr>
          <a:xfrm>
            <a:off x="3840480" y="2867559"/>
            <a:ext cx="1097280" cy="274320"/>
          </a:xfrm>
          <a:prstGeom prst="rect">
            <a:avLst/>
          </a:prstGeom>
          <a:noFill/>
        </p:spPr>
        <p:txBody>
          <a:bodyPr wrap="square" lIns="45720" rIns="45720" tIns="18288" bIns="18288" anchor="t">
            <a:spAutoFit/>
          </a:bodyPr>
          <a:lstStyle/>
          <a:p>
            <a:pPr algn="ctr">
              <a:lnSpc>
                <a:spcPct val="100000"/>
              </a:lnSpc>
            </a:pPr>
            <a:r>
              <a:rPr sz="1600" b="1" i="0">
                <a:solidFill>
                  <a:srgbClr val="1E1B4B"/>
                </a:solidFill>
                <a:latin typeface="Calibri"/>
              </a:rPr>
              <a:t>78%</a:t>
            </a:r>
          </a:p>
        </p:txBody>
      </p:sp>
      <p:sp>
        <p:nvSpPr>
          <p:cNvPr id="21" name="Rectangle 20"/>
          <p:cNvSpPr/>
          <p:nvPr/>
        </p:nvSpPr>
        <p:spPr>
          <a:xfrm>
            <a:off x="5212080" y="2851100"/>
            <a:ext cx="1097280" cy="3092500"/>
          </a:xfrm>
          <a:prstGeom prst="rect">
            <a:avLst/>
          </a:prstGeom>
          <a:solidFill>
            <a:srgbClr val="1E1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80" y="6016752"/>
            <a:ext cx="1097280" cy="274320"/>
          </a:xfrm>
          <a:prstGeom prst="rect">
            <a:avLst/>
          </a:prstGeom>
          <a:noFill/>
        </p:spPr>
        <p:txBody>
          <a:bodyPr wrap="square" lIns="45720" rIns="45720" tIns="18288" bIns="18288" anchor="t">
            <a:spAutoFit/>
          </a:bodyPr>
          <a:lstStyle/>
          <a:p>
            <a:pPr algn="ctr">
              <a:lnSpc>
                <a:spcPct val="125000"/>
              </a:lnSpc>
            </a:pPr>
            <a:r>
              <a:rPr sz="1000" b="1" i="0">
                <a:solidFill>
                  <a:srgbClr val="1E1B4B"/>
                </a:solidFill>
                <a:latin typeface="Calibri"/>
              </a:rPr>
              <a:t>Top tier</a:t>
            </a:r>
          </a:p>
        </p:txBody>
      </p:sp>
      <p:sp>
        <p:nvSpPr>
          <p:cNvPr id="23" name="TextBox 22"/>
          <p:cNvSpPr txBox="1"/>
          <p:nvPr/>
        </p:nvSpPr>
        <p:spPr>
          <a:xfrm>
            <a:off x="5212080" y="2485340"/>
            <a:ext cx="1097280" cy="274320"/>
          </a:xfrm>
          <a:prstGeom prst="rect">
            <a:avLst/>
          </a:prstGeom>
          <a:noFill/>
        </p:spPr>
        <p:txBody>
          <a:bodyPr wrap="square" lIns="45720" rIns="45720" tIns="18288" bIns="18288" anchor="t">
            <a:spAutoFit/>
          </a:bodyPr>
          <a:lstStyle/>
          <a:p>
            <a:pPr algn="ctr">
              <a:lnSpc>
                <a:spcPct val="100000"/>
              </a:lnSpc>
            </a:pPr>
            <a:r>
              <a:rPr sz="1600" b="1" i="0">
                <a:solidFill>
                  <a:srgbClr val="1E1B4B"/>
                </a:solidFill>
                <a:latin typeface="Calibri"/>
              </a:rPr>
              <a:t>89%</a:t>
            </a:r>
          </a:p>
        </p:txBody>
      </p:sp>
      <p:sp>
        <p:nvSpPr>
          <p:cNvPr id="24" name="Rounded Rectangle 23"/>
          <p:cNvSpPr/>
          <p:nvPr/>
        </p:nvSpPr>
        <p:spPr>
          <a:xfrm>
            <a:off x="7589520" y="1920240"/>
            <a:ext cx="4160520" cy="4572000"/>
          </a:xfrm>
          <a:prstGeom prst="roundRect">
            <a:avLst>
              <a:gd name="adj" fmla="val 3000"/>
            </a:avLst>
          </a:prstGeom>
          <a:solidFill>
            <a:srgbClr val="100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2148840"/>
            <a:ext cx="4160520" cy="274320"/>
          </a:xfrm>
          <a:prstGeom prst="rect">
            <a:avLst/>
          </a:prstGeom>
          <a:noFill/>
        </p:spPr>
        <p:txBody>
          <a:bodyPr wrap="square" lIns="45720" rIns="45720" tIns="18288" bIns="18288" anchor="t">
            <a:spAutoFit/>
          </a:bodyPr>
          <a:lstStyle/>
          <a:p>
            <a:pPr algn="l">
              <a:lnSpc>
                <a:spcPct val="125000"/>
              </a:lnSpc>
            </a:pPr>
            <a:r>
              <a:rPr sz="1000" b="1" i="0">
                <a:solidFill>
                  <a:srgbClr val="14B8A6"/>
                </a:solidFill>
                <a:latin typeface="Calibri"/>
              </a:rPr>
              <a:t>WHAT IT MEANS</a:t>
            </a:r>
          </a:p>
        </p:txBody>
      </p:sp>
      <p:sp>
        <p:nvSpPr>
          <p:cNvPr id="26" name="TextBox 25"/>
          <p:cNvSpPr txBox="1"/>
          <p:nvPr/>
        </p:nvSpPr>
        <p:spPr>
          <a:xfrm>
            <a:off x="7863840" y="2560320"/>
            <a:ext cx="3794760" cy="502920"/>
          </a:xfrm>
          <a:prstGeom prst="rect">
            <a:avLst/>
          </a:prstGeom>
          <a:noFill/>
        </p:spPr>
        <p:txBody>
          <a:bodyPr wrap="square" lIns="45720" rIns="45720" tIns="18288" bIns="18288" anchor="t">
            <a:spAutoFit/>
          </a:bodyPr>
          <a:lstStyle/>
          <a:p>
            <a:pPr algn="l">
              <a:lnSpc>
                <a:spcPct val="100000"/>
              </a:lnSpc>
            </a:pPr>
            <a:r>
              <a:rPr sz="2800" b="1" i="0">
                <a:solidFill>
                  <a:srgbClr val="14B8A6"/>
                </a:solidFill>
                <a:latin typeface="Calibri"/>
              </a:rPr>
              <a:t>47%</a:t>
            </a:r>
          </a:p>
        </p:txBody>
      </p:sp>
      <p:sp>
        <p:nvSpPr>
          <p:cNvPr id="27" name="TextBox 26"/>
          <p:cNvSpPr txBox="1"/>
          <p:nvPr/>
        </p:nvSpPr>
        <p:spPr>
          <a:xfrm>
            <a:off x="7863840" y="3108960"/>
            <a:ext cx="3794760" cy="731520"/>
          </a:xfrm>
          <a:prstGeom prst="rect">
            <a:avLst/>
          </a:prstGeom>
          <a:noFill/>
        </p:spPr>
        <p:txBody>
          <a:bodyPr wrap="square" lIns="45720" rIns="45720" tIns="18288" bIns="18288" anchor="t">
            <a:spAutoFit/>
          </a:bodyPr>
          <a:lstStyle/>
          <a:p>
            <a:pPr algn="l">
              <a:lnSpc>
                <a:spcPct val="135000"/>
              </a:lnSpc>
            </a:pPr>
            <a:r>
              <a:rPr sz="1100" b="0" i="1">
                <a:solidFill>
                  <a:srgbClr val="FFFFFF"/>
                </a:solidFill>
                <a:latin typeface="Calibri"/>
              </a:rPr>
              <a:t>Completion lift, Low to High engagement.</a:t>
            </a:r>
          </a:p>
          <a:p>
            <a:pPr algn="l">
              <a:lnSpc>
                <a:spcPct val="135000"/>
              </a:lnSpc>
            </a:pPr>
            <a:r>
              <a:rPr sz="1100" b="0" i="1">
                <a:solidFill>
                  <a:srgbClr val="FFFFFF"/>
                </a:solidFill>
                <a:latin typeface="Calibri"/>
              </a:rPr>
              <a:t>Biggest single jump in the funnel.</a:t>
            </a:r>
          </a:p>
        </p:txBody>
      </p:sp>
      <p:sp>
        <p:nvSpPr>
          <p:cNvPr id="28" name="TextBox 27"/>
          <p:cNvSpPr txBox="1"/>
          <p:nvPr/>
        </p:nvSpPr>
        <p:spPr>
          <a:xfrm>
            <a:off x="7863840" y="3840480"/>
            <a:ext cx="3794760" cy="502920"/>
          </a:xfrm>
          <a:prstGeom prst="rect">
            <a:avLst/>
          </a:prstGeom>
          <a:noFill/>
        </p:spPr>
        <p:txBody>
          <a:bodyPr wrap="square" lIns="45720" rIns="45720" tIns="18288" bIns="18288" anchor="t">
            <a:spAutoFit/>
          </a:bodyPr>
          <a:lstStyle/>
          <a:p>
            <a:pPr algn="l">
              <a:lnSpc>
                <a:spcPct val="100000"/>
              </a:lnSpc>
            </a:pPr>
            <a:r>
              <a:rPr sz="2800" b="1" i="0">
                <a:solidFill>
                  <a:srgbClr val="14B8A6"/>
                </a:solidFill>
                <a:latin typeface="Calibri"/>
              </a:rPr>
              <a:t>+18%</a:t>
            </a:r>
          </a:p>
        </p:txBody>
      </p:sp>
      <p:sp>
        <p:nvSpPr>
          <p:cNvPr id="29" name="TextBox 28"/>
          <p:cNvSpPr txBox="1"/>
          <p:nvPr/>
        </p:nvSpPr>
        <p:spPr>
          <a:xfrm>
            <a:off x="7863840" y="4389120"/>
            <a:ext cx="3794760" cy="731520"/>
          </a:xfrm>
          <a:prstGeom prst="rect">
            <a:avLst/>
          </a:prstGeom>
          <a:noFill/>
        </p:spPr>
        <p:txBody>
          <a:bodyPr wrap="square" lIns="45720" rIns="45720" tIns="18288" bIns="18288" anchor="t">
            <a:spAutoFit/>
          </a:bodyPr>
          <a:lstStyle/>
          <a:p>
            <a:pPr algn="l">
              <a:lnSpc>
                <a:spcPct val="135000"/>
              </a:lnSpc>
            </a:pPr>
            <a:r>
              <a:rPr sz="1100" b="0" i="1">
                <a:solidFill>
                  <a:srgbClr val="FFFFFF"/>
                </a:solidFill>
                <a:latin typeface="Calibri"/>
              </a:rPr>
              <a:t>Net Promoter Score lift in Top tier.</a:t>
            </a:r>
          </a:p>
          <a:p>
            <a:pPr algn="l">
              <a:lnSpc>
                <a:spcPct val="135000"/>
              </a:lnSpc>
            </a:pPr>
            <a:r>
              <a:rPr sz="1100" b="0" i="1">
                <a:solidFill>
                  <a:srgbClr val="FFFFFF"/>
                </a:solidFill>
                <a:latin typeface="Calibri"/>
              </a:rPr>
              <a:t>NPS leads enrolment, it does not lag it.</a:t>
            </a:r>
          </a:p>
        </p:txBody>
      </p:sp>
      <p:sp>
        <p:nvSpPr>
          <p:cNvPr id="30" name="TextBox 29"/>
          <p:cNvSpPr txBox="1"/>
          <p:nvPr/>
        </p:nvSpPr>
        <p:spPr>
          <a:xfrm>
            <a:off x="7863840" y="5120640"/>
            <a:ext cx="3794760" cy="502920"/>
          </a:xfrm>
          <a:prstGeom prst="rect">
            <a:avLst/>
          </a:prstGeom>
          <a:noFill/>
        </p:spPr>
        <p:txBody>
          <a:bodyPr wrap="square" lIns="45720" rIns="45720" tIns="18288" bIns="18288" anchor="t">
            <a:spAutoFit/>
          </a:bodyPr>
          <a:lstStyle/>
          <a:p>
            <a:pPr algn="l">
              <a:lnSpc>
                <a:spcPct val="100000"/>
              </a:lnSpc>
            </a:pPr>
            <a:r>
              <a:rPr sz="2800" b="1" i="0">
                <a:solidFill>
                  <a:srgbClr val="14B8A6"/>
                </a:solidFill>
                <a:latin typeface="Calibri"/>
              </a:rPr>
              <a:t>5%</a:t>
            </a:r>
          </a:p>
        </p:txBody>
      </p:sp>
      <p:sp>
        <p:nvSpPr>
          <p:cNvPr id="31" name="TextBox 30"/>
          <p:cNvSpPr txBox="1"/>
          <p:nvPr/>
        </p:nvSpPr>
        <p:spPr>
          <a:xfrm>
            <a:off x="7863840" y="5669280"/>
            <a:ext cx="3794760" cy="731520"/>
          </a:xfrm>
          <a:prstGeom prst="rect">
            <a:avLst/>
          </a:prstGeom>
          <a:noFill/>
        </p:spPr>
        <p:txBody>
          <a:bodyPr wrap="square" lIns="45720" rIns="45720" tIns="18288" bIns="18288" anchor="t">
            <a:spAutoFit/>
          </a:bodyPr>
          <a:lstStyle/>
          <a:p>
            <a:pPr algn="l">
              <a:lnSpc>
                <a:spcPct val="135000"/>
              </a:lnSpc>
            </a:pPr>
            <a:r>
              <a:rPr sz="1100" b="0" i="1">
                <a:solidFill>
                  <a:srgbClr val="FFFFFF"/>
                </a:solidFill>
                <a:latin typeface="Calibri"/>
              </a:rPr>
              <a:t>Referral mix in Top tier.</a:t>
            </a:r>
          </a:p>
          <a:p>
            <a:pPr algn="l">
              <a:lnSpc>
                <a:spcPct val="135000"/>
              </a:lnSpc>
            </a:pPr>
            <a:r>
              <a:rPr sz="1100" b="0" i="1">
                <a:solidFill>
                  <a:srgbClr val="FFFFFF"/>
                </a:solidFill>
                <a:latin typeface="Calibri"/>
              </a:rPr>
              <a:t>A 5% lift is a meaningful organic channel.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LEADERSHIP   |   3 / 5   THE STRATEGY</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Three levers we have not pulled hard enough.</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16 / 19</a:t>
            </a:r>
          </a:p>
        </p:txBody>
      </p:sp>
      <p:sp>
        <p:nvSpPr>
          <p:cNvPr id="8" name="TextBox 7"/>
          <p:cNvSpPr txBox="1"/>
          <p:nvPr/>
        </p:nvSpPr>
        <p:spPr>
          <a:xfrm>
            <a:off x="457200" y="1417320"/>
            <a:ext cx="11247120" cy="365760"/>
          </a:xfrm>
          <a:prstGeom prst="rect">
            <a:avLst/>
          </a:prstGeom>
          <a:noFill/>
        </p:spPr>
        <p:txBody>
          <a:bodyPr wrap="square" lIns="45720" rIns="45720" tIns="18288" bIns="18288" anchor="t">
            <a:spAutoFit/>
          </a:bodyPr>
          <a:lstStyle/>
          <a:p>
            <a:pPr algn="l">
              <a:lnSpc>
                <a:spcPct val="125000"/>
              </a:lnSpc>
            </a:pPr>
            <a:r>
              <a:rPr sz="1150" b="0" i="1">
                <a:solidFill>
                  <a:srgbClr val="52597A"/>
                </a:solidFill>
                <a:latin typeface="Calibri"/>
              </a:rPr>
              <a:t>Each lever costs less than a single major paid campaign. Each one compounds.</a:t>
            </a:r>
          </a:p>
        </p:txBody>
      </p:sp>
      <p:sp>
        <p:nvSpPr>
          <p:cNvPr id="9" name="Rounded Rectangle 8"/>
          <p:cNvSpPr/>
          <p:nvPr/>
        </p:nvSpPr>
        <p:spPr>
          <a:xfrm>
            <a:off x="457200" y="1920240"/>
            <a:ext cx="3566160" cy="461772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20240"/>
            <a:ext cx="3566160" cy="64008"/>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148840"/>
            <a:ext cx="3566160" cy="274320"/>
          </a:xfrm>
          <a:prstGeom prst="rect">
            <a:avLst/>
          </a:prstGeom>
          <a:noFill/>
        </p:spPr>
        <p:txBody>
          <a:bodyPr wrap="square" lIns="45720" rIns="45720" tIns="18288" bIns="18288" anchor="t">
            <a:spAutoFit/>
          </a:bodyPr>
          <a:lstStyle/>
          <a:p>
            <a:pPr algn="l">
              <a:lnSpc>
                <a:spcPct val="125000"/>
              </a:lnSpc>
            </a:pPr>
            <a:r>
              <a:rPr sz="1000" b="1" i="0">
                <a:solidFill>
                  <a:srgbClr val="14B8A6"/>
                </a:solidFill>
                <a:latin typeface="Calibri"/>
              </a:rPr>
              <a:t>01   COHORT, NOT CLASS.</a:t>
            </a:r>
          </a:p>
        </p:txBody>
      </p:sp>
      <p:sp>
        <p:nvSpPr>
          <p:cNvPr id="12" name="TextBox 11"/>
          <p:cNvSpPr txBox="1"/>
          <p:nvPr/>
        </p:nvSpPr>
        <p:spPr>
          <a:xfrm>
            <a:off x="685800" y="2468880"/>
            <a:ext cx="3200400" cy="640080"/>
          </a:xfrm>
          <a:prstGeom prst="rect">
            <a:avLst/>
          </a:prstGeom>
          <a:noFill/>
        </p:spPr>
        <p:txBody>
          <a:bodyPr wrap="square" lIns="45720" rIns="45720" tIns="18288" bIns="18288" anchor="t">
            <a:spAutoFit/>
          </a:bodyPr>
          <a:lstStyle/>
          <a:p>
            <a:pPr algn="l">
              <a:lnSpc>
                <a:spcPct val="105000"/>
              </a:lnSpc>
            </a:pPr>
            <a:r>
              <a:rPr sz="2200" b="1" i="0">
                <a:solidFill>
                  <a:srgbClr val="1E1B4B"/>
                </a:solidFill>
                <a:latin typeface="Calibri"/>
              </a:rPr>
              <a:t>Ritual.</a:t>
            </a:r>
          </a:p>
        </p:txBody>
      </p:sp>
      <p:sp>
        <p:nvSpPr>
          <p:cNvPr id="13" name="TextBox 12"/>
          <p:cNvSpPr txBox="1"/>
          <p:nvPr/>
        </p:nvSpPr>
        <p:spPr>
          <a:xfrm>
            <a:off x="685800" y="3474720"/>
            <a:ext cx="3200400" cy="2743200"/>
          </a:xfrm>
          <a:prstGeom prst="rect">
            <a:avLst/>
          </a:prstGeom>
          <a:noFill/>
        </p:spPr>
        <p:txBody>
          <a:bodyPr wrap="square" lIns="45720" rIns="45720" tIns="18288" bIns="18288">
            <a:spAutoFit/>
          </a:bodyPr>
          <a:lstStyle/>
          <a:p>
            <a:pPr algn="l">
              <a:lnSpc>
                <a:spcPct val="150000"/>
              </a:lnSpc>
              <a:spcBef>
                <a:spcPts val="400"/>
              </a:spcBef>
            </a:pPr>
            <a:r>
              <a:rPr sz="1050" b="1">
                <a:solidFill>
                  <a:srgbClr val="14B8A6"/>
                </a:solidFill>
                <a:latin typeface="Calibri"/>
              </a:rPr>
              <a:t>• </a:t>
            </a:r>
            <a:r>
              <a:rPr sz="1050">
                <a:solidFill>
                  <a:srgbClr val="141B2D"/>
                </a:solidFill>
                <a:latin typeface="Calibri"/>
              </a:rPr>
              <a:t>Group every learner into a 30 person cohort.</a:t>
            </a:r>
          </a:p>
          <a:p>
            <a:pPr algn="l">
              <a:lnSpc>
                <a:spcPct val="150000"/>
              </a:lnSpc>
              <a:spcBef>
                <a:spcPts val="400"/>
              </a:spcBef>
            </a:pPr>
            <a:r>
              <a:rPr sz="1050" b="1">
                <a:solidFill>
                  <a:srgbClr val="14B8A6"/>
                </a:solidFill>
                <a:latin typeface="Calibri"/>
              </a:rPr>
              <a:t>• </a:t>
            </a:r>
            <a:r>
              <a:rPr sz="1050">
                <a:solidFill>
                  <a:srgbClr val="141B2D"/>
                </a:solidFill>
                <a:latin typeface="Calibri"/>
              </a:rPr>
              <a:t>Same cohort travels through the year.</a:t>
            </a:r>
          </a:p>
          <a:p>
            <a:pPr algn="l">
              <a:lnSpc>
                <a:spcPct val="150000"/>
              </a:lnSpc>
              <a:spcBef>
                <a:spcPts val="400"/>
              </a:spcBef>
            </a:pPr>
            <a:r>
              <a:rPr sz="1050" b="1">
                <a:solidFill>
                  <a:srgbClr val="14B8A6"/>
                </a:solidFill>
                <a:latin typeface="Calibri"/>
              </a:rPr>
              <a:t>• </a:t>
            </a:r>
            <a:r>
              <a:rPr sz="1050">
                <a:solidFill>
                  <a:srgbClr val="141B2D"/>
                </a:solidFill>
                <a:latin typeface="Calibri"/>
              </a:rPr>
              <a:t>Faculty mentor for each cohort.</a:t>
            </a:r>
          </a:p>
          <a:p>
            <a:pPr algn="l">
              <a:lnSpc>
                <a:spcPct val="150000"/>
              </a:lnSpc>
              <a:spcBef>
                <a:spcPts val="400"/>
              </a:spcBef>
            </a:pPr>
            <a:r>
              <a:rPr sz="1050" b="1">
                <a:solidFill>
                  <a:srgbClr val="14B8A6"/>
                </a:solidFill>
                <a:latin typeface="Calibri"/>
              </a:rPr>
              <a:t>• </a:t>
            </a:r>
            <a:r>
              <a:rPr sz="1050">
                <a:solidFill>
                  <a:srgbClr val="141B2D"/>
                </a:solidFill>
                <a:latin typeface="Calibri"/>
              </a:rPr>
              <a:t>Outcome: belonging shows up by Day 14.</a:t>
            </a:r>
          </a:p>
        </p:txBody>
      </p:sp>
      <p:sp>
        <p:nvSpPr>
          <p:cNvPr id="14" name="Rounded Rectangle 13"/>
          <p:cNvSpPr/>
          <p:nvPr/>
        </p:nvSpPr>
        <p:spPr>
          <a:xfrm>
            <a:off x="4526280" y="1920240"/>
            <a:ext cx="3566160" cy="461772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26280" y="1920240"/>
            <a:ext cx="3566160" cy="64008"/>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2148840"/>
            <a:ext cx="3566160" cy="274320"/>
          </a:xfrm>
          <a:prstGeom prst="rect">
            <a:avLst/>
          </a:prstGeom>
          <a:noFill/>
        </p:spPr>
        <p:txBody>
          <a:bodyPr wrap="square" lIns="45720" rIns="45720" tIns="18288" bIns="18288" anchor="t">
            <a:spAutoFit/>
          </a:bodyPr>
          <a:lstStyle/>
          <a:p>
            <a:pPr algn="l">
              <a:lnSpc>
                <a:spcPct val="125000"/>
              </a:lnSpc>
            </a:pPr>
            <a:r>
              <a:rPr sz="1000" b="1" i="0">
                <a:solidFill>
                  <a:srgbClr val="06B6D4"/>
                </a:solidFill>
                <a:latin typeface="Calibri"/>
              </a:rPr>
              <a:t>02   MAKE THE CAMPUS VISIBLE.</a:t>
            </a:r>
          </a:p>
        </p:txBody>
      </p:sp>
      <p:sp>
        <p:nvSpPr>
          <p:cNvPr id="17" name="TextBox 16"/>
          <p:cNvSpPr txBox="1"/>
          <p:nvPr/>
        </p:nvSpPr>
        <p:spPr>
          <a:xfrm>
            <a:off x="4754880" y="2468880"/>
            <a:ext cx="3200400" cy="640080"/>
          </a:xfrm>
          <a:prstGeom prst="rect">
            <a:avLst/>
          </a:prstGeom>
          <a:noFill/>
        </p:spPr>
        <p:txBody>
          <a:bodyPr wrap="square" lIns="45720" rIns="45720" tIns="18288" bIns="18288" anchor="t">
            <a:spAutoFit/>
          </a:bodyPr>
          <a:lstStyle/>
          <a:p>
            <a:pPr algn="l">
              <a:lnSpc>
                <a:spcPct val="105000"/>
              </a:lnSpc>
            </a:pPr>
            <a:r>
              <a:rPr sz="2200" b="1" i="0">
                <a:solidFill>
                  <a:srgbClr val="1E1B4B"/>
                </a:solidFill>
                <a:latin typeface="Calibri"/>
              </a:rPr>
              <a:t>Experience.</a:t>
            </a:r>
          </a:p>
        </p:txBody>
      </p:sp>
      <p:sp>
        <p:nvSpPr>
          <p:cNvPr id="18" name="TextBox 17"/>
          <p:cNvSpPr txBox="1"/>
          <p:nvPr/>
        </p:nvSpPr>
        <p:spPr>
          <a:xfrm>
            <a:off x="4754880" y="3474720"/>
            <a:ext cx="3200400" cy="2743200"/>
          </a:xfrm>
          <a:prstGeom prst="rect">
            <a:avLst/>
          </a:prstGeom>
          <a:noFill/>
        </p:spPr>
        <p:txBody>
          <a:bodyPr wrap="square" lIns="45720" rIns="45720" tIns="18288" bIns="18288">
            <a:spAutoFit/>
          </a:bodyPr>
          <a:lstStyle/>
          <a:p>
            <a:pPr algn="l">
              <a:lnSpc>
                <a:spcPct val="150000"/>
              </a:lnSpc>
              <a:spcBef>
                <a:spcPts val="400"/>
              </a:spcBef>
            </a:pPr>
            <a:r>
              <a:rPr sz="1050" b="1">
                <a:solidFill>
                  <a:srgbClr val="06B6D4"/>
                </a:solidFill>
                <a:latin typeface="Calibri"/>
              </a:rPr>
              <a:t>• </a:t>
            </a:r>
            <a:r>
              <a:rPr sz="1050">
                <a:solidFill>
                  <a:srgbClr val="141B2D"/>
                </a:solidFill>
                <a:latin typeface="Calibri"/>
              </a:rPr>
              <a:t>Amity Ignite. One on campus moment per year.</a:t>
            </a:r>
          </a:p>
          <a:p>
            <a:pPr algn="l">
              <a:lnSpc>
                <a:spcPct val="150000"/>
              </a:lnSpc>
              <a:spcBef>
                <a:spcPts val="400"/>
              </a:spcBef>
            </a:pPr>
            <a:r>
              <a:rPr sz="1050" b="1">
                <a:solidFill>
                  <a:srgbClr val="06B6D4"/>
                </a:solidFill>
                <a:latin typeface="Calibri"/>
              </a:rPr>
              <a:t>• </a:t>
            </a:r>
            <a:r>
              <a:rPr sz="1050">
                <a:solidFill>
                  <a:srgbClr val="141B2D"/>
                </a:solidFill>
                <a:latin typeface="Calibri"/>
              </a:rPr>
              <a:t>Six city meetups. Hosted by alumni.</a:t>
            </a:r>
          </a:p>
          <a:p>
            <a:pPr algn="l">
              <a:lnSpc>
                <a:spcPct val="150000"/>
              </a:lnSpc>
              <a:spcBef>
                <a:spcPts val="400"/>
              </a:spcBef>
            </a:pPr>
            <a:r>
              <a:rPr sz="1050" b="1">
                <a:solidFill>
                  <a:srgbClr val="06B6D4"/>
                </a:solidFill>
                <a:latin typeface="Calibri"/>
              </a:rPr>
              <a:t>• </a:t>
            </a:r>
            <a:r>
              <a:rPr sz="1050">
                <a:solidFill>
                  <a:srgbClr val="141B2D"/>
                </a:solidFill>
                <a:latin typeface="Calibri"/>
              </a:rPr>
              <a:t>Outcome stories filmed across India.</a:t>
            </a:r>
          </a:p>
          <a:p>
            <a:pPr algn="l">
              <a:lnSpc>
                <a:spcPct val="150000"/>
              </a:lnSpc>
              <a:spcBef>
                <a:spcPts val="400"/>
              </a:spcBef>
            </a:pPr>
            <a:r>
              <a:rPr sz="1050" b="1">
                <a:solidFill>
                  <a:srgbClr val="06B6D4"/>
                </a:solidFill>
                <a:latin typeface="Calibri"/>
              </a:rPr>
              <a:t>• </a:t>
            </a:r>
            <a:r>
              <a:rPr sz="1050">
                <a:solidFill>
                  <a:srgbClr val="141B2D"/>
                </a:solidFill>
                <a:latin typeface="Calibri"/>
              </a:rPr>
              <a:t>Outcome: 'online' stops feeling distant.</a:t>
            </a:r>
          </a:p>
        </p:txBody>
      </p:sp>
      <p:sp>
        <p:nvSpPr>
          <p:cNvPr id="19" name="Rounded Rectangle 18"/>
          <p:cNvSpPr/>
          <p:nvPr/>
        </p:nvSpPr>
        <p:spPr>
          <a:xfrm>
            <a:off x="8595360" y="1920240"/>
            <a:ext cx="3566160" cy="461772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595360" y="1920240"/>
            <a:ext cx="3566160" cy="64008"/>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823960" y="2148840"/>
            <a:ext cx="3566160" cy="274320"/>
          </a:xfrm>
          <a:prstGeom prst="rect">
            <a:avLst/>
          </a:prstGeom>
          <a:noFill/>
        </p:spPr>
        <p:txBody>
          <a:bodyPr wrap="square" lIns="45720" rIns="45720" tIns="18288" bIns="18288" anchor="t">
            <a:spAutoFit/>
          </a:bodyPr>
          <a:lstStyle/>
          <a:p>
            <a:pPr algn="l">
              <a:lnSpc>
                <a:spcPct val="125000"/>
              </a:lnSpc>
            </a:pPr>
            <a:r>
              <a:rPr sz="1000" b="1" i="0">
                <a:solidFill>
                  <a:srgbClr val="A855F7"/>
                </a:solidFill>
                <a:latin typeface="Calibri"/>
              </a:rPr>
              <a:t>03   CATCH THE DRIFT EARLY.</a:t>
            </a:r>
          </a:p>
        </p:txBody>
      </p:sp>
      <p:sp>
        <p:nvSpPr>
          <p:cNvPr id="22" name="TextBox 21"/>
          <p:cNvSpPr txBox="1"/>
          <p:nvPr/>
        </p:nvSpPr>
        <p:spPr>
          <a:xfrm>
            <a:off x="8823960" y="2468880"/>
            <a:ext cx="3200400" cy="640080"/>
          </a:xfrm>
          <a:prstGeom prst="rect">
            <a:avLst/>
          </a:prstGeom>
          <a:noFill/>
        </p:spPr>
        <p:txBody>
          <a:bodyPr wrap="square" lIns="45720" rIns="45720" tIns="18288" bIns="18288" anchor="t">
            <a:spAutoFit/>
          </a:bodyPr>
          <a:lstStyle/>
          <a:p>
            <a:pPr algn="l">
              <a:lnSpc>
                <a:spcPct val="105000"/>
              </a:lnSpc>
            </a:pPr>
            <a:r>
              <a:rPr sz="2200" b="1" i="0">
                <a:solidFill>
                  <a:srgbClr val="1E1B4B"/>
                </a:solidFill>
                <a:latin typeface="Calibri"/>
              </a:rPr>
              <a:t>Intelligence.</a:t>
            </a:r>
          </a:p>
        </p:txBody>
      </p:sp>
      <p:sp>
        <p:nvSpPr>
          <p:cNvPr id="23" name="TextBox 22"/>
          <p:cNvSpPr txBox="1"/>
          <p:nvPr/>
        </p:nvSpPr>
        <p:spPr>
          <a:xfrm>
            <a:off x="8823960" y="3474720"/>
            <a:ext cx="3200400" cy="2743200"/>
          </a:xfrm>
          <a:prstGeom prst="rect">
            <a:avLst/>
          </a:prstGeom>
          <a:noFill/>
        </p:spPr>
        <p:txBody>
          <a:bodyPr wrap="square" lIns="45720" rIns="45720" tIns="18288" bIns="18288">
            <a:spAutoFit/>
          </a:bodyPr>
          <a:lstStyle/>
          <a:p>
            <a:pPr algn="l">
              <a:lnSpc>
                <a:spcPct val="150000"/>
              </a:lnSpc>
              <a:spcBef>
                <a:spcPts val="400"/>
              </a:spcBef>
            </a:pPr>
            <a:r>
              <a:rPr sz="1050" b="1">
                <a:solidFill>
                  <a:srgbClr val="A855F7"/>
                </a:solidFill>
                <a:latin typeface="Calibri"/>
              </a:rPr>
              <a:t>• </a:t>
            </a:r>
            <a:r>
              <a:rPr sz="1050">
                <a:solidFill>
                  <a:srgbClr val="141B2D"/>
                </a:solidFill>
                <a:latin typeface="Calibri"/>
              </a:rPr>
              <a:t>Active Learner Score updated weekly.</a:t>
            </a:r>
          </a:p>
          <a:p>
            <a:pPr algn="l">
              <a:lnSpc>
                <a:spcPct val="150000"/>
              </a:lnSpc>
              <a:spcBef>
                <a:spcPts val="400"/>
              </a:spcBef>
            </a:pPr>
            <a:r>
              <a:rPr sz="1050" b="1">
                <a:solidFill>
                  <a:srgbClr val="A855F7"/>
                </a:solidFill>
                <a:latin typeface="Calibri"/>
              </a:rPr>
              <a:t>• </a:t>
            </a:r>
            <a:r>
              <a:rPr sz="1050">
                <a:solidFill>
                  <a:srgbClr val="141B2D"/>
                </a:solidFill>
                <a:latin typeface="Calibri"/>
              </a:rPr>
              <a:t>Learners flagged at scores below 30.</a:t>
            </a:r>
          </a:p>
          <a:p>
            <a:pPr algn="l">
              <a:lnSpc>
                <a:spcPct val="150000"/>
              </a:lnSpc>
              <a:spcBef>
                <a:spcPts val="400"/>
              </a:spcBef>
            </a:pPr>
            <a:r>
              <a:rPr sz="1050" b="1">
                <a:solidFill>
                  <a:srgbClr val="A855F7"/>
                </a:solidFill>
                <a:latin typeface="Calibri"/>
              </a:rPr>
              <a:t>• </a:t>
            </a:r>
            <a:r>
              <a:rPr sz="1050">
                <a:solidFill>
                  <a:srgbClr val="141B2D"/>
                </a:solidFill>
                <a:latin typeface="Calibri"/>
              </a:rPr>
              <a:t>Personal phone call from a faculty member.</a:t>
            </a:r>
          </a:p>
          <a:p>
            <a:pPr algn="l">
              <a:lnSpc>
                <a:spcPct val="150000"/>
              </a:lnSpc>
              <a:spcBef>
                <a:spcPts val="400"/>
              </a:spcBef>
            </a:pPr>
            <a:r>
              <a:rPr sz="1050" b="1">
                <a:solidFill>
                  <a:srgbClr val="A855F7"/>
                </a:solidFill>
                <a:latin typeface="Calibri"/>
              </a:rPr>
              <a:t>• </a:t>
            </a:r>
            <a:r>
              <a:rPr sz="1050">
                <a:solidFill>
                  <a:srgbClr val="141B2D"/>
                </a:solidFill>
                <a:latin typeface="Calibri"/>
              </a:rPr>
              <a:t>Outcome: 30 day drop reduces by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LEADERSHIP   |   4 / 5   THE FLYWHEEL</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Retention compounds into advocacy.</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17 / 19</a:t>
            </a:r>
          </a:p>
        </p:txBody>
      </p:sp>
      <p:sp>
        <p:nvSpPr>
          <p:cNvPr id="8" name="TextBox 7"/>
          <p:cNvSpPr txBox="1"/>
          <p:nvPr/>
        </p:nvSpPr>
        <p:spPr>
          <a:xfrm>
            <a:off x="457200" y="1417320"/>
            <a:ext cx="11247120" cy="365760"/>
          </a:xfrm>
          <a:prstGeom prst="rect">
            <a:avLst/>
          </a:prstGeom>
          <a:noFill/>
        </p:spPr>
        <p:txBody>
          <a:bodyPr wrap="square" lIns="45720" rIns="45720" tIns="18288" bIns="18288" anchor="t">
            <a:spAutoFit/>
          </a:bodyPr>
          <a:lstStyle/>
          <a:p>
            <a:pPr algn="l">
              <a:lnSpc>
                <a:spcPct val="125000"/>
              </a:lnSpc>
            </a:pPr>
            <a:r>
              <a:rPr sz="1150" b="0" i="1">
                <a:solidFill>
                  <a:srgbClr val="52597A"/>
                </a:solidFill>
                <a:latin typeface="Calibri"/>
              </a:rPr>
              <a:t>When the first three levers work, the fourth one starts to spin on its own.</a:t>
            </a:r>
          </a:p>
        </p:txBody>
      </p:sp>
      <p:sp>
        <p:nvSpPr>
          <p:cNvPr id="9" name="Rounded Rectangle 8"/>
          <p:cNvSpPr/>
          <p:nvPr/>
        </p:nvSpPr>
        <p:spPr>
          <a:xfrm>
            <a:off x="457200" y="2194560"/>
            <a:ext cx="2651760" cy="301752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85800" y="2423160"/>
            <a:ext cx="640080" cy="640080"/>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423160"/>
            <a:ext cx="640080" cy="640080"/>
          </a:xfrm>
          <a:prstGeom prst="rect">
            <a:avLst/>
          </a:prstGeom>
          <a:noFill/>
        </p:spPr>
        <p:txBody>
          <a:bodyPr wrap="square" lIns="45720" rIns="45720" tIns="18288" bIns="18288" anchor="ctr">
            <a:spAutoFit/>
          </a:bodyPr>
          <a:lstStyle/>
          <a:p>
            <a:pPr algn="ctr">
              <a:lnSpc>
                <a:spcPct val="125000"/>
              </a:lnSpc>
            </a:pPr>
            <a:r>
              <a:rPr sz="1400" b="1" i="0">
                <a:solidFill>
                  <a:srgbClr val="FFFFFF"/>
                </a:solidFill>
                <a:latin typeface="Calibri"/>
              </a:rPr>
              <a:t>01</a:t>
            </a:r>
          </a:p>
        </p:txBody>
      </p:sp>
      <p:sp>
        <p:nvSpPr>
          <p:cNvPr id="12" name="TextBox 11"/>
          <p:cNvSpPr txBox="1"/>
          <p:nvPr/>
        </p:nvSpPr>
        <p:spPr>
          <a:xfrm>
            <a:off x="685800" y="3200400"/>
            <a:ext cx="2651760" cy="457200"/>
          </a:xfrm>
          <a:prstGeom prst="rect">
            <a:avLst/>
          </a:prstGeom>
          <a:noFill/>
        </p:spPr>
        <p:txBody>
          <a:bodyPr wrap="square" lIns="45720" rIns="45720" tIns="18288" bIns="18288" anchor="t">
            <a:spAutoFit/>
          </a:bodyPr>
          <a:lstStyle/>
          <a:p>
            <a:pPr algn="l">
              <a:lnSpc>
                <a:spcPct val="100000"/>
              </a:lnSpc>
            </a:pPr>
            <a:r>
              <a:rPr sz="2200" b="1" i="0">
                <a:solidFill>
                  <a:srgbClr val="1E1B4B"/>
                </a:solidFill>
                <a:latin typeface="Calibri"/>
              </a:rPr>
              <a:t>ENGAGE</a:t>
            </a:r>
          </a:p>
        </p:txBody>
      </p:sp>
      <p:sp>
        <p:nvSpPr>
          <p:cNvPr id="13" name="TextBox 12"/>
          <p:cNvSpPr txBox="1"/>
          <p:nvPr/>
        </p:nvSpPr>
        <p:spPr>
          <a:xfrm>
            <a:off x="685800" y="3886200"/>
            <a:ext cx="2286000" cy="1280160"/>
          </a:xfrm>
          <a:prstGeom prst="rect">
            <a:avLst/>
          </a:prstGeom>
          <a:noFill/>
        </p:spPr>
        <p:txBody>
          <a:bodyPr wrap="square" lIns="45720" rIns="45720" tIns="18288" bIns="18288" anchor="t">
            <a:spAutoFit/>
          </a:bodyPr>
          <a:lstStyle/>
          <a:p>
            <a:pPr algn="l">
              <a:lnSpc>
                <a:spcPct val="140000"/>
              </a:lnSpc>
            </a:pPr>
            <a:r>
              <a:rPr sz="1100" b="0" i="0">
                <a:solidFill>
                  <a:srgbClr val="1E1B4B"/>
                </a:solidFill>
                <a:latin typeface="Calibri"/>
              </a:rPr>
              <a:t>Cohort + ritual + intelligence.</a:t>
            </a:r>
          </a:p>
          <a:p>
            <a:pPr algn="l">
              <a:lnSpc>
                <a:spcPct val="140000"/>
              </a:lnSpc>
            </a:pPr>
            <a:r>
              <a:rPr sz="1100" b="0" i="0">
                <a:solidFill>
                  <a:srgbClr val="1E1B4B"/>
                </a:solidFill>
                <a:latin typeface="Calibri"/>
              </a:rPr>
              <a:t>Learner feels seen.</a:t>
            </a:r>
          </a:p>
        </p:txBody>
      </p:sp>
      <p:sp>
        <p:nvSpPr>
          <p:cNvPr id="14" name="Right Arrow 13"/>
          <p:cNvSpPr/>
          <p:nvPr/>
        </p:nvSpPr>
        <p:spPr>
          <a:xfrm>
            <a:off x="3145536" y="3566160"/>
            <a:ext cx="118872" cy="274320"/>
          </a:xfrm>
          <a:prstGeom prst="right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273552" y="2194560"/>
            <a:ext cx="2651760" cy="301752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02152" y="2423160"/>
            <a:ext cx="640080" cy="640080"/>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2152" y="2423160"/>
            <a:ext cx="640080" cy="640080"/>
          </a:xfrm>
          <a:prstGeom prst="rect">
            <a:avLst/>
          </a:prstGeom>
          <a:noFill/>
        </p:spPr>
        <p:txBody>
          <a:bodyPr wrap="square" lIns="45720" rIns="45720" tIns="18288" bIns="18288" anchor="ctr">
            <a:spAutoFit/>
          </a:bodyPr>
          <a:lstStyle/>
          <a:p>
            <a:pPr algn="ctr">
              <a:lnSpc>
                <a:spcPct val="125000"/>
              </a:lnSpc>
            </a:pPr>
            <a:r>
              <a:rPr sz="1400" b="1" i="0">
                <a:solidFill>
                  <a:srgbClr val="FFFFFF"/>
                </a:solidFill>
                <a:latin typeface="Calibri"/>
              </a:rPr>
              <a:t>02</a:t>
            </a:r>
          </a:p>
        </p:txBody>
      </p:sp>
      <p:sp>
        <p:nvSpPr>
          <p:cNvPr id="18" name="TextBox 17"/>
          <p:cNvSpPr txBox="1"/>
          <p:nvPr/>
        </p:nvSpPr>
        <p:spPr>
          <a:xfrm>
            <a:off x="3502152" y="3200400"/>
            <a:ext cx="2651760" cy="457200"/>
          </a:xfrm>
          <a:prstGeom prst="rect">
            <a:avLst/>
          </a:prstGeom>
          <a:noFill/>
        </p:spPr>
        <p:txBody>
          <a:bodyPr wrap="square" lIns="45720" rIns="45720" tIns="18288" bIns="18288" anchor="t">
            <a:spAutoFit/>
          </a:bodyPr>
          <a:lstStyle/>
          <a:p>
            <a:pPr algn="l">
              <a:lnSpc>
                <a:spcPct val="100000"/>
              </a:lnSpc>
            </a:pPr>
            <a:r>
              <a:rPr sz="2200" b="1" i="0">
                <a:solidFill>
                  <a:srgbClr val="1E1B4B"/>
                </a:solidFill>
                <a:latin typeface="Calibri"/>
              </a:rPr>
              <a:t>COMPLETE</a:t>
            </a:r>
          </a:p>
        </p:txBody>
      </p:sp>
      <p:sp>
        <p:nvSpPr>
          <p:cNvPr id="19" name="TextBox 18"/>
          <p:cNvSpPr txBox="1"/>
          <p:nvPr/>
        </p:nvSpPr>
        <p:spPr>
          <a:xfrm>
            <a:off x="3502152" y="3886200"/>
            <a:ext cx="2286000" cy="1280160"/>
          </a:xfrm>
          <a:prstGeom prst="rect">
            <a:avLst/>
          </a:prstGeom>
          <a:noFill/>
        </p:spPr>
        <p:txBody>
          <a:bodyPr wrap="square" lIns="45720" rIns="45720" tIns="18288" bIns="18288" anchor="t">
            <a:spAutoFit/>
          </a:bodyPr>
          <a:lstStyle/>
          <a:p>
            <a:pPr algn="l">
              <a:lnSpc>
                <a:spcPct val="140000"/>
              </a:lnSpc>
            </a:pPr>
            <a:r>
              <a:rPr sz="1100" b="0" i="0">
                <a:solidFill>
                  <a:srgbClr val="1E1B4B"/>
                </a:solidFill>
                <a:latin typeface="Calibri"/>
              </a:rPr>
              <a:t>Higher completion.</a:t>
            </a:r>
          </a:p>
          <a:p>
            <a:pPr algn="l">
              <a:lnSpc>
                <a:spcPct val="140000"/>
              </a:lnSpc>
            </a:pPr>
            <a:r>
              <a:rPr sz="1100" b="0" i="0">
                <a:solidFill>
                  <a:srgbClr val="1E1B4B"/>
                </a:solidFill>
                <a:latin typeface="Calibri"/>
              </a:rPr>
              <a:t>Program efficacy improves.</a:t>
            </a:r>
          </a:p>
        </p:txBody>
      </p:sp>
      <p:sp>
        <p:nvSpPr>
          <p:cNvPr id="20" name="Right Arrow 19"/>
          <p:cNvSpPr/>
          <p:nvPr/>
        </p:nvSpPr>
        <p:spPr>
          <a:xfrm>
            <a:off x="5961888" y="3566160"/>
            <a:ext cx="118872" cy="274320"/>
          </a:xfrm>
          <a:prstGeom prst="right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089904" y="2194560"/>
            <a:ext cx="2651760" cy="301752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18504" y="2423160"/>
            <a:ext cx="640080" cy="640080"/>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2423160"/>
            <a:ext cx="640080" cy="640080"/>
          </a:xfrm>
          <a:prstGeom prst="rect">
            <a:avLst/>
          </a:prstGeom>
          <a:noFill/>
        </p:spPr>
        <p:txBody>
          <a:bodyPr wrap="square" lIns="45720" rIns="45720" tIns="18288" bIns="18288" anchor="ctr">
            <a:spAutoFit/>
          </a:bodyPr>
          <a:lstStyle/>
          <a:p>
            <a:pPr algn="ctr">
              <a:lnSpc>
                <a:spcPct val="125000"/>
              </a:lnSpc>
            </a:pPr>
            <a:r>
              <a:rPr sz="1400" b="1" i="0">
                <a:solidFill>
                  <a:srgbClr val="FFFFFF"/>
                </a:solidFill>
                <a:latin typeface="Calibri"/>
              </a:rPr>
              <a:t>03</a:t>
            </a:r>
          </a:p>
        </p:txBody>
      </p:sp>
      <p:sp>
        <p:nvSpPr>
          <p:cNvPr id="24" name="TextBox 23"/>
          <p:cNvSpPr txBox="1"/>
          <p:nvPr/>
        </p:nvSpPr>
        <p:spPr>
          <a:xfrm>
            <a:off x="6318504" y="3200400"/>
            <a:ext cx="2651760" cy="457200"/>
          </a:xfrm>
          <a:prstGeom prst="rect">
            <a:avLst/>
          </a:prstGeom>
          <a:noFill/>
        </p:spPr>
        <p:txBody>
          <a:bodyPr wrap="square" lIns="45720" rIns="45720" tIns="18288" bIns="18288" anchor="t">
            <a:spAutoFit/>
          </a:bodyPr>
          <a:lstStyle/>
          <a:p>
            <a:pPr algn="l">
              <a:lnSpc>
                <a:spcPct val="100000"/>
              </a:lnSpc>
            </a:pPr>
            <a:r>
              <a:rPr sz="2200" b="1" i="0">
                <a:solidFill>
                  <a:srgbClr val="1E1B4B"/>
                </a:solidFill>
                <a:latin typeface="Calibri"/>
              </a:rPr>
              <a:t>ADVOCATE</a:t>
            </a:r>
          </a:p>
        </p:txBody>
      </p:sp>
      <p:sp>
        <p:nvSpPr>
          <p:cNvPr id="25" name="TextBox 24"/>
          <p:cNvSpPr txBox="1"/>
          <p:nvPr/>
        </p:nvSpPr>
        <p:spPr>
          <a:xfrm>
            <a:off x="6318504" y="3886200"/>
            <a:ext cx="2286000" cy="1280160"/>
          </a:xfrm>
          <a:prstGeom prst="rect">
            <a:avLst/>
          </a:prstGeom>
          <a:noFill/>
        </p:spPr>
        <p:txBody>
          <a:bodyPr wrap="square" lIns="45720" rIns="45720" tIns="18288" bIns="18288" anchor="t">
            <a:spAutoFit/>
          </a:bodyPr>
          <a:lstStyle/>
          <a:p>
            <a:pPr algn="l">
              <a:lnSpc>
                <a:spcPct val="140000"/>
              </a:lnSpc>
            </a:pPr>
            <a:r>
              <a:rPr sz="1100" b="0" i="0">
                <a:solidFill>
                  <a:srgbClr val="1E1B4B"/>
                </a:solidFill>
                <a:latin typeface="Calibri"/>
              </a:rPr>
              <a:t>Top tier publishes outcomes.</a:t>
            </a:r>
          </a:p>
          <a:p>
            <a:pPr algn="l">
              <a:lnSpc>
                <a:spcPct val="140000"/>
              </a:lnSpc>
            </a:pPr>
            <a:r>
              <a:rPr sz="1100" b="0" i="0">
                <a:solidFill>
                  <a:srgbClr val="1E1B4B"/>
                </a:solidFill>
                <a:latin typeface="Calibri"/>
              </a:rPr>
              <a:t>No paid prompt needed.</a:t>
            </a:r>
          </a:p>
        </p:txBody>
      </p:sp>
      <p:sp>
        <p:nvSpPr>
          <p:cNvPr id="26" name="Right Arrow 25"/>
          <p:cNvSpPr/>
          <p:nvPr/>
        </p:nvSpPr>
        <p:spPr>
          <a:xfrm>
            <a:off x="8778240" y="3566160"/>
            <a:ext cx="118872" cy="274320"/>
          </a:xfrm>
          <a:prstGeom prst="rightArrow">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906256" y="2194560"/>
            <a:ext cx="2651760" cy="301752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134856" y="2423160"/>
            <a:ext cx="640080" cy="640080"/>
          </a:xfrm>
          <a:prstGeom prst="ellipse">
            <a:avLst/>
          </a:prstGeom>
          <a:solidFill>
            <a:srgbClr val="1E1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34856" y="2423160"/>
            <a:ext cx="640080" cy="640080"/>
          </a:xfrm>
          <a:prstGeom prst="rect">
            <a:avLst/>
          </a:prstGeom>
          <a:noFill/>
        </p:spPr>
        <p:txBody>
          <a:bodyPr wrap="square" lIns="45720" rIns="45720" tIns="18288" bIns="18288" anchor="ctr">
            <a:spAutoFit/>
          </a:bodyPr>
          <a:lstStyle/>
          <a:p>
            <a:pPr algn="ctr">
              <a:lnSpc>
                <a:spcPct val="125000"/>
              </a:lnSpc>
            </a:pPr>
            <a:r>
              <a:rPr sz="1400" b="1" i="0">
                <a:solidFill>
                  <a:srgbClr val="FFFFFF"/>
                </a:solidFill>
                <a:latin typeface="Calibri"/>
              </a:rPr>
              <a:t>04</a:t>
            </a:r>
          </a:p>
        </p:txBody>
      </p:sp>
      <p:sp>
        <p:nvSpPr>
          <p:cNvPr id="30" name="TextBox 29"/>
          <p:cNvSpPr txBox="1"/>
          <p:nvPr/>
        </p:nvSpPr>
        <p:spPr>
          <a:xfrm>
            <a:off x="9134856" y="3200400"/>
            <a:ext cx="2651760" cy="457200"/>
          </a:xfrm>
          <a:prstGeom prst="rect">
            <a:avLst/>
          </a:prstGeom>
          <a:noFill/>
        </p:spPr>
        <p:txBody>
          <a:bodyPr wrap="square" lIns="45720" rIns="45720" tIns="18288" bIns="18288" anchor="t">
            <a:spAutoFit/>
          </a:bodyPr>
          <a:lstStyle/>
          <a:p>
            <a:pPr algn="l">
              <a:lnSpc>
                <a:spcPct val="100000"/>
              </a:lnSpc>
            </a:pPr>
            <a:r>
              <a:rPr sz="2200" b="1" i="0">
                <a:solidFill>
                  <a:srgbClr val="1E1B4B"/>
                </a:solidFill>
                <a:latin typeface="Calibri"/>
              </a:rPr>
              <a:t>ACQUIRE</a:t>
            </a:r>
          </a:p>
        </p:txBody>
      </p:sp>
      <p:sp>
        <p:nvSpPr>
          <p:cNvPr id="31" name="TextBox 30"/>
          <p:cNvSpPr txBox="1"/>
          <p:nvPr/>
        </p:nvSpPr>
        <p:spPr>
          <a:xfrm>
            <a:off x="9134856" y="3886200"/>
            <a:ext cx="2286000" cy="1280160"/>
          </a:xfrm>
          <a:prstGeom prst="rect">
            <a:avLst/>
          </a:prstGeom>
          <a:noFill/>
        </p:spPr>
        <p:txBody>
          <a:bodyPr wrap="square" lIns="45720" rIns="45720" tIns="18288" bIns="18288" anchor="t">
            <a:spAutoFit/>
          </a:bodyPr>
          <a:lstStyle/>
          <a:p>
            <a:pPr algn="l">
              <a:lnSpc>
                <a:spcPct val="140000"/>
              </a:lnSpc>
            </a:pPr>
            <a:r>
              <a:rPr sz="1100" b="0" i="0">
                <a:solidFill>
                  <a:srgbClr val="1E1B4B"/>
                </a:solidFill>
                <a:latin typeface="Calibri"/>
              </a:rPr>
              <a:t>Referral mix grows.</a:t>
            </a:r>
          </a:p>
          <a:p>
            <a:pPr algn="l">
              <a:lnSpc>
                <a:spcPct val="140000"/>
              </a:lnSpc>
            </a:pPr>
            <a:r>
              <a:rPr sz="1100" b="0" i="0">
                <a:solidFill>
                  <a:srgbClr val="1E1B4B"/>
                </a:solidFill>
                <a:latin typeface="Calibri"/>
              </a:rPr>
              <a:t>CAC drops. North Star moves.</a:t>
            </a:r>
          </a:p>
        </p:txBody>
      </p:sp>
      <p:sp>
        <p:nvSpPr>
          <p:cNvPr id="32" name="Rounded Rectangle 31"/>
          <p:cNvSpPr/>
          <p:nvPr/>
        </p:nvSpPr>
        <p:spPr>
          <a:xfrm>
            <a:off x="457200" y="5486400"/>
            <a:ext cx="11274552" cy="1005840"/>
          </a:xfrm>
          <a:prstGeom prst="roundRect">
            <a:avLst>
              <a:gd name="adj" fmla="val 3000"/>
            </a:avLst>
          </a:prstGeom>
          <a:solidFill>
            <a:srgbClr val="100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650992"/>
            <a:ext cx="10972800" cy="320040"/>
          </a:xfrm>
          <a:prstGeom prst="rect">
            <a:avLst/>
          </a:prstGeom>
          <a:noFill/>
        </p:spPr>
        <p:txBody>
          <a:bodyPr wrap="square" lIns="45720" rIns="45720" tIns="18288" bIns="18288" anchor="t">
            <a:spAutoFit/>
          </a:bodyPr>
          <a:lstStyle/>
          <a:p>
            <a:pPr algn="l">
              <a:lnSpc>
                <a:spcPct val="125000"/>
              </a:lnSpc>
            </a:pPr>
            <a:r>
              <a:rPr sz="1000" b="1" i="0">
                <a:solidFill>
                  <a:srgbClr val="14B8A6"/>
                </a:solidFill>
                <a:latin typeface="Calibri"/>
              </a:rPr>
              <a:t>THE PUNCHLINE</a:t>
            </a:r>
          </a:p>
        </p:txBody>
      </p:sp>
      <p:sp>
        <p:nvSpPr>
          <p:cNvPr id="34" name="TextBox 33"/>
          <p:cNvSpPr txBox="1"/>
          <p:nvPr/>
        </p:nvSpPr>
        <p:spPr>
          <a:xfrm>
            <a:off x="640080" y="5897880"/>
            <a:ext cx="10972800" cy="548640"/>
          </a:xfrm>
          <a:prstGeom prst="rect">
            <a:avLst/>
          </a:prstGeom>
          <a:noFill/>
        </p:spPr>
        <p:txBody>
          <a:bodyPr wrap="square" lIns="45720" rIns="45720" tIns="18288" bIns="18288" anchor="t">
            <a:spAutoFit/>
          </a:bodyPr>
          <a:lstStyle/>
          <a:p>
            <a:pPr algn="l">
              <a:lnSpc>
                <a:spcPct val="130000"/>
              </a:lnSpc>
            </a:pPr>
            <a:r>
              <a:rPr sz="1400" b="0" i="1">
                <a:solidFill>
                  <a:srgbClr val="FFFFFF"/>
                </a:solidFill>
                <a:latin typeface="Calibri"/>
              </a:rPr>
              <a:t>Treat engagement as a profit and loss line. Not a brand line. Then advocacy stops being a campaign. It becomes a habit.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502920"/>
            <a:ext cx="146304" cy="50292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11480"/>
            <a:ext cx="7315200" cy="274320"/>
          </a:xfrm>
          <a:prstGeom prst="rect">
            <a:avLst/>
          </a:prstGeom>
          <a:noFill/>
        </p:spPr>
        <p:txBody>
          <a:bodyPr wrap="square" lIns="45720" rIns="45720" tIns="18288" bIns="18288" anchor="t">
            <a:spAutoFit/>
          </a:bodyPr>
          <a:lstStyle/>
          <a:p>
            <a:pPr algn="l">
              <a:lnSpc>
                <a:spcPct val="100000"/>
              </a:lnSpc>
            </a:pPr>
            <a:r>
              <a:rPr sz="950" b="1" i="0">
                <a:solidFill>
                  <a:srgbClr val="52597A"/>
                </a:solidFill>
                <a:latin typeface="Calibri"/>
              </a:rPr>
              <a:t>LEADERSHIP   |   5 / 5   THE ASK</a:t>
            </a:r>
          </a:p>
        </p:txBody>
      </p:sp>
      <p:sp>
        <p:nvSpPr>
          <p:cNvPr id="4" name="TextBox 3"/>
          <p:cNvSpPr txBox="1"/>
          <p:nvPr/>
        </p:nvSpPr>
        <p:spPr>
          <a:xfrm>
            <a:off x="457200" y="640080"/>
            <a:ext cx="10058400" cy="548640"/>
          </a:xfrm>
          <a:prstGeom prst="rect">
            <a:avLst/>
          </a:prstGeom>
          <a:noFill/>
        </p:spPr>
        <p:txBody>
          <a:bodyPr wrap="square" lIns="45720" rIns="45720" tIns="18288" bIns="18288" anchor="t">
            <a:spAutoFit/>
          </a:bodyPr>
          <a:lstStyle/>
          <a:p>
            <a:pPr algn="l">
              <a:lnSpc>
                <a:spcPct val="100000"/>
              </a:lnSpc>
            </a:pPr>
            <a:r>
              <a:rPr sz="2400" b="1" i="0">
                <a:solidFill>
                  <a:srgbClr val="1E1B4B"/>
                </a:solidFill>
                <a:latin typeface="Calibri"/>
              </a:rPr>
              <a:t>The ask. Three phases. Outcome gated.</a:t>
            </a:r>
          </a:p>
        </p:txBody>
      </p:sp>
      <p:pic>
        <p:nvPicPr>
          <p:cNvPr id="5" name="Picture 4" descr="amity_online_logo.png"/>
          <p:cNvPicPr>
            <a:picLocks noChangeAspect="1"/>
          </p:cNvPicPr>
          <p:nvPr/>
        </p:nvPicPr>
        <p:blipFill>
          <a:blip r:embed="rId2"/>
          <a:stretch>
            <a:fillRect/>
          </a:stretch>
        </p:blipFill>
        <p:spPr>
          <a:xfrm>
            <a:off x="10450689" y="292608"/>
            <a:ext cx="1329526" cy="457200"/>
          </a:xfrm>
          <a:prstGeom prst="rect">
            <a:avLst/>
          </a:prstGeom>
        </p:spPr>
      </p:pic>
      <p:sp>
        <p:nvSpPr>
          <p:cNvPr id="6" name="TextBox 5"/>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52597A"/>
                </a:solidFill>
                <a:latin typeface="Calibri"/>
              </a:rPr>
              <a:t>Marketing Manager Assignment   Paras Jain   Amity University Online</a:t>
            </a:r>
          </a:p>
        </p:txBody>
      </p:sp>
      <p:sp>
        <p:nvSpPr>
          <p:cNvPr id="7" name="TextBox 6"/>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52597A"/>
                </a:solidFill>
                <a:latin typeface="Calibri"/>
              </a:rPr>
              <a:t>18 / 19</a:t>
            </a:r>
          </a:p>
        </p:txBody>
      </p:sp>
      <p:sp>
        <p:nvSpPr>
          <p:cNvPr id="8" name="Rounded Rectangle 7"/>
          <p:cNvSpPr/>
          <p:nvPr/>
        </p:nvSpPr>
        <p:spPr>
          <a:xfrm>
            <a:off x="457200" y="1417320"/>
            <a:ext cx="3657600" cy="5120640"/>
          </a:xfrm>
          <a:prstGeom prst="roundRect">
            <a:avLst>
              <a:gd name="adj" fmla="val 3000"/>
            </a:avLst>
          </a:prstGeom>
          <a:solidFill>
            <a:srgbClr val="100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45920"/>
            <a:ext cx="3657600" cy="274320"/>
          </a:xfrm>
          <a:prstGeom prst="rect">
            <a:avLst/>
          </a:prstGeom>
          <a:noFill/>
        </p:spPr>
        <p:txBody>
          <a:bodyPr wrap="square" lIns="45720" rIns="45720" tIns="18288" bIns="18288" anchor="t">
            <a:spAutoFit/>
          </a:bodyPr>
          <a:lstStyle/>
          <a:p>
            <a:pPr algn="l">
              <a:lnSpc>
                <a:spcPct val="125000"/>
              </a:lnSpc>
            </a:pPr>
            <a:r>
              <a:rPr sz="1000" b="1" i="0">
                <a:solidFill>
                  <a:srgbClr val="14B8A6"/>
                </a:solidFill>
                <a:latin typeface="Calibri"/>
              </a:rPr>
              <a:t>WE'RE ASKING FOR</a:t>
            </a:r>
          </a:p>
        </p:txBody>
      </p:sp>
      <p:sp>
        <p:nvSpPr>
          <p:cNvPr id="10" name="TextBox 9"/>
          <p:cNvSpPr txBox="1"/>
          <p:nvPr/>
        </p:nvSpPr>
        <p:spPr>
          <a:xfrm>
            <a:off x="731520" y="1965960"/>
            <a:ext cx="3291840" cy="1280160"/>
          </a:xfrm>
          <a:prstGeom prst="rect">
            <a:avLst/>
          </a:prstGeom>
          <a:noFill/>
        </p:spPr>
        <p:txBody>
          <a:bodyPr wrap="square" lIns="45720" rIns="45720" tIns="18288" bIns="18288" anchor="t">
            <a:spAutoFit/>
          </a:bodyPr>
          <a:lstStyle/>
          <a:p>
            <a:pPr algn="l">
              <a:lnSpc>
                <a:spcPct val="105000"/>
              </a:lnSpc>
            </a:pPr>
            <a:r>
              <a:rPr sz="3200" b="1" i="0">
                <a:solidFill>
                  <a:srgbClr val="FFFFFF"/>
                </a:solidFill>
                <a:latin typeface="Calibri"/>
              </a:rPr>
              <a:t>Less than</a:t>
            </a:r>
          </a:p>
          <a:p>
            <a:pPr algn="l">
              <a:lnSpc>
                <a:spcPct val="105000"/>
              </a:lnSpc>
            </a:pPr>
            <a:r>
              <a:rPr sz="3200" b="1" i="0">
                <a:solidFill>
                  <a:srgbClr val="FFFFFF"/>
                </a:solidFill>
                <a:latin typeface="Calibri"/>
              </a:rPr>
              <a:t>Rs 1 crore</a:t>
            </a:r>
          </a:p>
          <a:p>
            <a:pPr algn="l">
              <a:lnSpc>
                <a:spcPct val="105000"/>
              </a:lnSpc>
            </a:pPr>
            <a:r>
              <a:rPr sz="3200" b="1" i="0">
                <a:solidFill>
                  <a:srgbClr val="FFFFFF"/>
                </a:solidFill>
                <a:latin typeface="Calibri"/>
              </a:rPr>
              <a:t>per phase.</a:t>
            </a:r>
          </a:p>
        </p:txBody>
      </p:sp>
      <p:sp>
        <p:nvSpPr>
          <p:cNvPr id="11" name="TextBox 10"/>
          <p:cNvSpPr txBox="1"/>
          <p:nvPr/>
        </p:nvSpPr>
        <p:spPr>
          <a:xfrm>
            <a:off x="731520" y="3749040"/>
            <a:ext cx="3291840" cy="365760"/>
          </a:xfrm>
          <a:prstGeom prst="rect">
            <a:avLst/>
          </a:prstGeom>
          <a:noFill/>
        </p:spPr>
        <p:txBody>
          <a:bodyPr wrap="square" lIns="45720" rIns="45720" tIns="18288" bIns="18288" anchor="t">
            <a:spAutoFit/>
          </a:bodyPr>
          <a:lstStyle/>
          <a:p>
            <a:pPr algn="l">
              <a:lnSpc>
                <a:spcPct val="125000"/>
              </a:lnSpc>
            </a:pPr>
            <a:r>
              <a:rPr sz="1000" b="1" i="0">
                <a:solidFill>
                  <a:srgbClr val="14B8A6"/>
                </a:solidFill>
                <a:latin typeface="Calibri"/>
              </a:rPr>
              <a:t>FUNDED FROM</a:t>
            </a:r>
          </a:p>
        </p:txBody>
      </p:sp>
      <p:sp>
        <p:nvSpPr>
          <p:cNvPr id="12" name="TextBox 11"/>
          <p:cNvSpPr txBox="1"/>
          <p:nvPr/>
        </p:nvSpPr>
        <p:spPr>
          <a:xfrm>
            <a:off x="731520" y="4023360"/>
            <a:ext cx="3291840" cy="914400"/>
          </a:xfrm>
          <a:prstGeom prst="rect">
            <a:avLst/>
          </a:prstGeom>
          <a:noFill/>
        </p:spPr>
        <p:txBody>
          <a:bodyPr wrap="square" lIns="45720" rIns="45720" tIns="18288" bIns="18288" anchor="t">
            <a:spAutoFit/>
          </a:bodyPr>
          <a:lstStyle/>
          <a:p>
            <a:pPr algn="l">
              <a:lnSpc>
                <a:spcPct val="140000"/>
              </a:lnSpc>
            </a:pPr>
            <a:r>
              <a:rPr sz="1200" b="0" i="1">
                <a:solidFill>
                  <a:srgbClr val="FFFFFF"/>
                </a:solidFill>
                <a:latin typeface="Calibri"/>
              </a:rPr>
              <a:t>Reallocation, not net new.</a:t>
            </a:r>
          </a:p>
          <a:p>
            <a:pPr algn="l">
              <a:lnSpc>
                <a:spcPct val="140000"/>
              </a:lnSpc>
            </a:pPr>
            <a:r>
              <a:rPr sz="1200" b="0" i="1">
                <a:solidFill>
                  <a:srgbClr val="FFFFFF"/>
                </a:solidFill>
                <a:latin typeface="Calibri"/>
              </a:rPr>
              <a:t>12% of existing performance media.</a:t>
            </a:r>
          </a:p>
        </p:txBody>
      </p:sp>
      <p:sp>
        <p:nvSpPr>
          <p:cNvPr id="13" name="TextBox 12"/>
          <p:cNvSpPr txBox="1"/>
          <p:nvPr/>
        </p:nvSpPr>
        <p:spPr>
          <a:xfrm>
            <a:off x="731520" y="5074920"/>
            <a:ext cx="3291840" cy="365760"/>
          </a:xfrm>
          <a:prstGeom prst="rect">
            <a:avLst/>
          </a:prstGeom>
          <a:noFill/>
        </p:spPr>
        <p:txBody>
          <a:bodyPr wrap="square" lIns="45720" rIns="45720" tIns="18288" bIns="18288" anchor="t">
            <a:spAutoFit/>
          </a:bodyPr>
          <a:lstStyle/>
          <a:p>
            <a:pPr algn="l">
              <a:lnSpc>
                <a:spcPct val="125000"/>
              </a:lnSpc>
            </a:pPr>
            <a:r>
              <a:rPr sz="1000" b="1" i="0">
                <a:solidFill>
                  <a:srgbClr val="14B8A6"/>
                </a:solidFill>
                <a:latin typeface="Calibri"/>
              </a:rPr>
              <a:t>NORTH STAR</a:t>
            </a:r>
          </a:p>
        </p:txBody>
      </p:sp>
      <p:sp>
        <p:nvSpPr>
          <p:cNvPr id="14" name="TextBox 13"/>
          <p:cNvSpPr txBox="1"/>
          <p:nvPr/>
        </p:nvSpPr>
        <p:spPr>
          <a:xfrm>
            <a:off x="731520" y="5349240"/>
            <a:ext cx="3291840" cy="914400"/>
          </a:xfrm>
          <a:prstGeom prst="rect">
            <a:avLst/>
          </a:prstGeom>
          <a:noFill/>
        </p:spPr>
        <p:txBody>
          <a:bodyPr wrap="square" lIns="45720" rIns="45720" tIns="18288" bIns="18288" anchor="t">
            <a:spAutoFit/>
          </a:bodyPr>
          <a:lstStyle/>
          <a:p>
            <a:pPr algn="l">
              <a:lnSpc>
                <a:spcPct val="140000"/>
              </a:lnSpc>
            </a:pPr>
            <a:r>
              <a:rPr sz="1200" b="0" i="1">
                <a:solidFill>
                  <a:srgbClr val="FFFFFF"/>
                </a:solidFill>
                <a:latin typeface="Calibri"/>
              </a:rPr>
              <a:t>Active Learner Score.</a:t>
            </a:r>
          </a:p>
          <a:p>
            <a:pPr algn="l">
              <a:lnSpc>
                <a:spcPct val="140000"/>
              </a:lnSpc>
            </a:pPr>
            <a:r>
              <a:rPr sz="1200" b="0" i="1">
                <a:solidFill>
                  <a:srgbClr val="FFFFFF"/>
                </a:solidFill>
                <a:latin typeface="Calibri"/>
              </a:rPr>
              <a:t>Weekly. Public to leadership.</a:t>
            </a:r>
          </a:p>
        </p:txBody>
      </p:sp>
      <p:sp>
        <p:nvSpPr>
          <p:cNvPr id="15" name="Rounded Rectangle 14"/>
          <p:cNvSpPr/>
          <p:nvPr/>
        </p:nvSpPr>
        <p:spPr>
          <a:xfrm>
            <a:off x="4343400" y="1417320"/>
            <a:ext cx="7406640" cy="15544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3400" y="1417320"/>
            <a:ext cx="73152" cy="155448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1536192"/>
            <a:ext cx="2286000" cy="274320"/>
          </a:xfrm>
          <a:prstGeom prst="rect">
            <a:avLst/>
          </a:prstGeom>
          <a:noFill/>
        </p:spPr>
        <p:txBody>
          <a:bodyPr wrap="square" lIns="45720" rIns="45720" tIns="18288" bIns="18288" anchor="t">
            <a:spAutoFit/>
          </a:bodyPr>
          <a:lstStyle/>
          <a:p>
            <a:pPr algn="l">
              <a:lnSpc>
                <a:spcPct val="125000"/>
              </a:lnSpc>
            </a:pPr>
            <a:r>
              <a:rPr sz="1050" b="1" i="0">
                <a:solidFill>
                  <a:srgbClr val="14B8A6"/>
                </a:solidFill>
                <a:latin typeface="Calibri"/>
              </a:rPr>
              <a:t>PHASE 1</a:t>
            </a:r>
          </a:p>
        </p:txBody>
      </p:sp>
      <p:sp>
        <p:nvSpPr>
          <p:cNvPr id="18" name="TextBox 17"/>
          <p:cNvSpPr txBox="1"/>
          <p:nvPr/>
        </p:nvSpPr>
        <p:spPr>
          <a:xfrm>
            <a:off x="4572000" y="1801368"/>
            <a:ext cx="2743200" cy="365760"/>
          </a:xfrm>
          <a:prstGeom prst="rect">
            <a:avLst/>
          </a:prstGeom>
          <a:noFill/>
        </p:spPr>
        <p:txBody>
          <a:bodyPr wrap="square" lIns="45720" rIns="45720" tIns="18288" bIns="18288" anchor="t">
            <a:spAutoFit/>
          </a:bodyPr>
          <a:lstStyle/>
          <a:p>
            <a:pPr algn="l">
              <a:lnSpc>
                <a:spcPct val="105000"/>
              </a:lnSpc>
            </a:pPr>
            <a:r>
              <a:rPr sz="1400" b="1" i="0">
                <a:solidFill>
                  <a:srgbClr val="1E1B4B"/>
                </a:solidFill>
                <a:latin typeface="Calibri"/>
              </a:rPr>
              <a:t>0 to 90 days. Prove.</a:t>
            </a:r>
          </a:p>
        </p:txBody>
      </p:sp>
      <p:sp>
        <p:nvSpPr>
          <p:cNvPr id="19" name="TextBox 18"/>
          <p:cNvSpPr txBox="1"/>
          <p:nvPr/>
        </p:nvSpPr>
        <p:spPr>
          <a:xfrm>
            <a:off x="4572000" y="2203704"/>
            <a:ext cx="2743200" cy="365760"/>
          </a:xfrm>
          <a:prstGeom prst="rect">
            <a:avLst/>
          </a:prstGeom>
          <a:noFill/>
        </p:spPr>
        <p:txBody>
          <a:bodyPr wrap="square" lIns="45720" rIns="45720" tIns="18288" bIns="18288" anchor="t">
            <a:spAutoFit/>
          </a:bodyPr>
          <a:lstStyle/>
          <a:p>
            <a:pPr algn="l">
              <a:lnSpc>
                <a:spcPct val="125000"/>
              </a:lnSpc>
            </a:pPr>
            <a:r>
              <a:rPr sz="1100" b="1" i="1">
                <a:solidFill>
                  <a:srgbClr val="14B8A6"/>
                </a:solidFill>
                <a:latin typeface="Calibri"/>
              </a:rPr>
              <a:t>Up to Rs 65 lakh.</a:t>
            </a:r>
          </a:p>
        </p:txBody>
      </p:sp>
      <p:sp>
        <p:nvSpPr>
          <p:cNvPr id="20" name="TextBox 19"/>
          <p:cNvSpPr txBox="1"/>
          <p:nvPr/>
        </p:nvSpPr>
        <p:spPr>
          <a:xfrm>
            <a:off x="7452360" y="155448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Active Learner Score live in 60 days.</a:t>
            </a:r>
          </a:p>
        </p:txBody>
      </p:sp>
      <p:sp>
        <p:nvSpPr>
          <p:cNvPr id="21" name="TextBox 20"/>
          <p:cNvSpPr txBox="1"/>
          <p:nvPr/>
        </p:nvSpPr>
        <p:spPr>
          <a:xfrm>
            <a:off x="9646920" y="155448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Cohort 0 of Amity Ignite. 100 learners.</a:t>
            </a:r>
          </a:p>
        </p:txBody>
      </p:sp>
      <p:sp>
        <p:nvSpPr>
          <p:cNvPr id="22" name="TextBox 21"/>
          <p:cNvSpPr txBox="1"/>
          <p:nvPr/>
        </p:nvSpPr>
        <p:spPr>
          <a:xfrm>
            <a:off x="7452360" y="201168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Two city meetups. One outcome reel weekly.</a:t>
            </a:r>
          </a:p>
        </p:txBody>
      </p:sp>
      <p:sp>
        <p:nvSpPr>
          <p:cNvPr id="23" name="TextBox 22"/>
          <p:cNvSpPr txBox="1"/>
          <p:nvPr/>
        </p:nvSpPr>
        <p:spPr>
          <a:xfrm>
            <a:off x="9646920" y="201168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Kill rule. Engagement +15% or pause spend.</a:t>
            </a:r>
          </a:p>
        </p:txBody>
      </p:sp>
      <p:sp>
        <p:nvSpPr>
          <p:cNvPr id="24" name="Rounded Rectangle 23"/>
          <p:cNvSpPr/>
          <p:nvPr/>
        </p:nvSpPr>
        <p:spPr>
          <a:xfrm>
            <a:off x="4343400" y="3154680"/>
            <a:ext cx="7406640" cy="15544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43400" y="3154680"/>
            <a:ext cx="73152" cy="1554480"/>
          </a:xfrm>
          <a:prstGeom prst="rect">
            <a:avLst/>
          </a:prstGeom>
          <a:solidFill>
            <a:srgbClr val="06B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3273552"/>
            <a:ext cx="2286000" cy="274320"/>
          </a:xfrm>
          <a:prstGeom prst="rect">
            <a:avLst/>
          </a:prstGeom>
          <a:noFill/>
        </p:spPr>
        <p:txBody>
          <a:bodyPr wrap="square" lIns="45720" rIns="45720" tIns="18288" bIns="18288" anchor="t">
            <a:spAutoFit/>
          </a:bodyPr>
          <a:lstStyle/>
          <a:p>
            <a:pPr algn="l">
              <a:lnSpc>
                <a:spcPct val="125000"/>
              </a:lnSpc>
            </a:pPr>
            <a:r>
              <a:rPr sz="1050" b="1" i="0">
                <a:solidFill>
                  <a:srgbClr val="06B6D4"/>
                </a:solidFill>
                <a:latin typeface="Calibri"/>
              </a:rPr>
              <a:t>PHASE 2</a:t>
            </a:r>
          </a:p>
        </p:txBody>
      </p:sp>
      <p:sp>
        <p:nvSpPr>
          <p:cNvPr id="27" name="TextBox 26"/>
          <p:cNvSpPr txBox="1"/>
          <p:nvPr/>
        </p:nvSpPr>
        <p:spPr>
          <a:xfrm>
            <a:off x="4572000" y="3538728"/>
            <a:ext cx="2743200" cy="365760"/>
          </a:xfrm>
          <a:prstGeom prst="rect">
            <a:avLst/>
          </a:prstGeom>
          <a:noFill/>
        </p:spPr>
        <p:txBody>
          <a:bodyPr wrap="square" lIns="45720" rIns="45720" tIns="18288" bIns="18288" anchor="t">
            <a:spAutoFit/>
          </a:bodyPr>
          <a:lstStyle/>
          <a:p>
            <a:pPr algn="l">
              <a:lnSpc>
                <a:spcPct val="105000"/>
              </a:lnSpc>
            </a:pPr>
            <a:r>
              <a:rPr sz="1400" b="1" i="0">
                <a:solidFill>
                  <a:srgbClr val="1E1B4B"/>
                </a:solidFill>
                <a:latin typeface="Calibri"/>
              </a:rPr>
              <a:t>Months 4 to 8. Scale.</a:t>
            </a:r>
          </a:p>
        </p:txBody>
      </p:sp>
      <p:sp>
        <p:nvSpPr>
          <p:cNvPr id="28" name="TextBox 27"/>
          <p:cNvSpPr txBox="1"/>
          <p:nvPr/>
        </p:nvSpPr>
        <p:spPr>
          <a:xfrm>
            <a:off x="4572000" y="3941064"/>
            <a:ext cx="2743200" cy="365760"/>
          </a:xfrm>
          <a:prstGeom prst="rect">
            <a:avLst/>
          </a:prstGeom>
          <a:noFill/>
        </p:spPr>
        <p:txBody>
          <a:bodyPr wrap="square" lIns="45720" rIns="45720" tIns="18288" bIns="18288" anchor="t">
            <a:spAutoFit/>
          </a:bodyPr>
          <a:lstStyle/>
          <a:p>
            <a:pPr algn="l">
              <a:lnSpc>
                <a:spcPct val="125000"/>
              </a:lnSpc>
            </a:pPr>
            <a:r>
              <a:rPr sz="1100" b="1" i="1">
                <a:solidFill>
                  <a:srgbClr val="06B6D4"/>
                </a:solidFill>
                <a:latin typeface="Calibri"/>
              </a:rPr>
              <a:t>Up to Rs 90 lakh.</a:t>
            </a:r>
          </a:p>
        </p:txBody>
      </p:sp>
      <p:sp>
        <p:nvSpPr>
          <p:cNvPr id="29" name="TextBox 28"/>
          <p:cNvSpPr txBox="1"/>
          <p:nvPr/>
        </p:nvSpPr>
        <p:spPr>
          <a:xfrm>
            <a:off x="7452360" y="329184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Cohorts default to 30 person rituals.</a:t>
            </a:r>
          </a:p>
        </p:txBody>
      </p:sp>
      <p:sp>
        <p:nvSpPr>
          <p:cNvPr id="30" name="TextBox 29"/>
          <p:cNvSpPr txBox="1"/>
          <p:nvPr/>
        </p:nvSpPr>
        <p:spPr>
          <a:xfrm>
            <a:off x="9646920" y="329184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Six city meetups. Sunday Sit Down weekly.</a:t>
            </a:r>
          </a:p>
        </p:txBody>
      </p:sp>
      <p:sp>
        <p:nvSpPr>
          <p:cNvPr id="31" name="TextBox 30"/>
          <p:cNvSpPr txBox="1"/>
          <p:nvPr/>
        </p:nvSpPr>
        <p:spPr>
          <a:xfrm>
            <a:off x="7452360" y="374904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Industry sprints with 20 hiring partners.</a:t>
            </a:r>
          </a:p>
        </p:txBody>
      </p:sp>
      <p:sp>
        <p:nvSpPr>
          <p:cNvPr id="32" name="TextBox 31"/>
          <p:cNvSpPr txBox="1"/>
          <p:nvPr/>
        </p:nvSpPr>
        <p:spPr>
          <a:xfrm>
            <a:off x="9646920" y="374904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Trigger by hitting Phase 1 anchor metrics.</a:t>
            </a:r>
          </a:p>
        </p:txBody>
      </p:sp>
      <p:sp>
        <p:nvSpPr>
          <p:cNvPr id="33" name="Rounded Rectangle 32"/>
          <p:cNvSpPr/>
          <p:nvPr/>
        </p:nvSpPr>
        <p:spPr>
          <a:xfrm>
            <a:off x="4343400" y="4892040"/>
            <a:ext cx="7406640" cy="1554480"/>
          </a:xfrm>
          <a:prstGeom prst="roundRect">
            <a:avLst>
              <a:gd name="adj" fmla="val 3000"/>
            </a:avLst>
          </a:prstGeom>
          <a:solidFill>
            <a:srgbClr val="FFFFFF"/>
          </a:solidFill>
          <a:ln w="6350">
            <a:solidFill>
              <a:srgbClr val="DDE2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43400" y="4892040"/>
            <a:ext cx="73152" cy="1554480"/>
          </a:xfrm>
          <a:prstGeom prst="rect">
            <a:avLst/>
          </a:prstGeom>
          <a:solidFill>
            <a:srgbClr val="A855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0" y="5010912"/>
            <a:ext cx="2286000" cy="274320"/>
          </a:xfrm>
          <a:prstGeom prst="rect">
            <a:avLst/>
          </a:prstGeom>
          <a:noFill/>
        </p:spPr>
        <p:txBody>
          <a:bodyPr wrap="square" lIns="45720" rIns="45720" tIns="18288" bIns="18288" anchor="t">
            <a:spAutoFit/>
          </a:bodyPr>
          <a:lstStyle/>
          <a:p>
            <a:pPr algn="l">
              <a:lnSpc>
                <a:spcPct val="125000"/>
              </a:lnSpc>
            </a:pPr>
            <a:r>
              <a:rPr sz="1050" b="1" i="0">
                <a:solidFill>
                  <a:srgbClr val="A855F7"/>
                </a:solidFill>
                <a:latin typeface="Calibri"/>
              </a:rPr>
              <a:t>PHASE 3</a:t>
            </a:r>
          </a:p>
        </p:txBody>
      </p:sp>
      <p:sp>
        <p:nvSpPr>
          <p:cNvPr id="36" name="TextBox 35"/>
          <p:cNvSpPr txBox="1"/>
          <p:nvPr/>
        </p:nvSpPr>
        <p:spPr>
          <a:xfrm>
            <a:off x="4572000" y="5276088"/>
            <a:ext cx="2743200" cy="365760"/>
          </a:xfrm>
          <a:prstGeom prst="rect">
            <a:avLst/>
          </a:prstGeom>
          <a:noFill/>
        </p:spPr>
        <p:txBody>
          <a:bodyPr wrap="square" lIns="45720" rIns="45720" tIns="18288" bIns="18288" anchor="t">
            <a:spAutoFit/>
          </a:bodyPr>
          <a:lstStyle/>
          <a:p>
            <a:pPr algn="l">
              <a:lnSpc>
                <a:spcPct val="105000"/>
              </a:lnSpc>
            </a:pPr>
            <a:r>
              <a:rPr sz="1400" b="1" i="0">
                <a:solidFill>
                  <a:srgbClr val="1E1B4B"/>
                </a:solidFill>
                <a:latin typeface="Calibri"/>
              </a:rPr>
              <a:t>Months 9 to 12. Compound.</a:t>
            </a:r>
          </a:p>
        </p:txBody>
      </p:sp>
      <p:sp>
        <p:nvSpPr>
          <p:cNvPr id="37" name="TextBox 36"/>
          <p:cNvSpPr txBox="1"/>
          <p:nvPr/>
        </p:nvSpPr>
        <p:spPr>
          <a:xfrm>
            <a:off x="4572000" y="5678424"/>
            <a:ext cx="2743200" cy="365760"/>
          </a:xfrm>
          <a:prstGeom prst="rect">
            <a:avLst/>
          </a:prstGeom>
          <a:noFill/>
        </p:spPr>
        <p:txBody>
          <a:bodyPr wrap="square" lIns="45720" rIns="45720" tIns="18288" bIns="18288" anchor="t">
            <a:spAutoFit/>
          </a:bodyPr>
          <a:lstStyle/>
          <a:p>
            <a:pPr algn="l">
              <a:lnSpc>
                <a:spcPct val="125000"/>
              </a:lnSpc>
            </a:pPr>
            <a:r>
              <a:rPr sz="1100" b="1" i="1">
                <a:solidFill>
                  <a:srgbClr val="A855F7"/>
                </a:solidFill>
                <a:latin typeface="Calibri"/>
              </a:rPr>
              <a:t>Up to Rs 95 lakh.</a:t>
            </a:r>
          </a:p>
        </p:txBody>
      </p:sp>
      <p:sp>
        <p:nvSpPr>
          <p:cNvPr id="38" name="TextBox 37"/>
          <p:cNvSpPr txBox="1"/>
          <p:nvPr/>
        </p:nvSpPr>
        <p:spPr>
          <a:xfrm>
            <a:off x="7452360" y="502920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Referral 1.0 launches. Two sided.</a:t>
            </a:r>
          </a:p>
        </p:txBody>
      </p:sp>
      <p:sp>
        <p:nvSpPr>
          <p:cNvPr id="39" name="TextBox 38"/>
          <p:cNvSpPr txBox="1"/>
          <p:nvPr/>
        </p:nvSpPr>
        <p:spPr>
          <a:xfrm>
            <a:off x="9646920" y="502920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Top 100 advocate program. Trained, equipped.</a:t>
            </a:r>
          </a:p>
        </p:txBody>
      </p:sp>
      <p:sp>
        <p:nvSpPr>
          <p:cNvPr id="40" name="TextBox 39"/>
          <p:cNvSpPr txBox="1"/>
          <p:nvPr/>
        </p:nvSpPr>
        <p:spPr>
          <a:xfrm>
            <a:off x="7452360" y="548640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Annual Outcome Report (public).</a:t>
            </a:r>
          </a:p>
        </p:txBody>
      </p:sp>
      <p:sp>
        <p:nvSpPr>
          <p:cNvPr id="41" name="TextBox 40"/>
          <p:cNvSpPr txBox="1"/>
          <p:nvPr/>
        </p:nvSpPr>
        <p:spPr>
          <a:xfrm>
            <a:off x="9646920" y="5486400"/>
            <a:ext cx="2011680" cy="411480"/>
          </a:xfrm>
          <a:prstGeom prst="rect">
            <a:avLst/>
          </a:prstGeom>
          <a:noFill/>
        </p:spPr>
        <p:txBody>
          <a:bodyPr wrap="square" lIns="45720" rIns="45720" tIns="18288" bIns="18288" anchor="t">
            <a:spAutoFit/>
          </a:bodyPr>
          <a:lstStyle/>
          <a:p>
            <a:pPr algn="l">
              <a:lnSpc>
                <a:spcPct val="130000"/>
              </a:lnSpc>
            </a:pPr>
            <a:r>
              <a:rPr sz="969" b="0" i="0">
                <a:solidFill>
                  <a:srgbClr val="1E1B4B"/>
                </a:solidFill>
                <a:latin typeface="Calibri"/>
              </a:rPr>
              <a:t>• Trigger by Net Promoter Score above 40.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ndshake.jp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100E2E">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320040" cy="685800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30352" y="484632"/>
            <a:ext cx="1681935" cy="630936"/>
          </a:xfrm>
          <a:prstGeom prst="roundRect">
            <a:avLst>
              <a:gd name="adj" fmla="val 1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mity_online_logo.png"/>
          <p:cNvPicPr>
            <a:picLocks noChangeAspect="1"/>
          </p:cNvPicPr>
          <p:nvPr/>
        </p:nvPicPr>
        <p:blipFill>
          <a:blip r:embed="rId3"/>
          <a:stretch>
            <a:fillRect/>
          </a:stretch>
        </p:blipFill>
        <p:spPr>
          <a:xfrm>
            <a:off x="640080" y="548640"/>
            <a:ext cx="1462479" cy="502920"/>
          </a:xfrm>
          <a:prstGeom prst="rect">
            <a:avLst/>
          </a:prstGeom>
        </p:spPr>
      </p:pic>
      <p:sp>
        <p:nvSpPr>
          <p:cNvPr id="7" name="TextBox 6"/>
          <p:cNvSpPr txBox="1"/>
          <p:nvPr/>
        </p:nvSpPr>
        <p:spPr>
          <a:xfrm>
            <a:off x="640080" y="1828800"/>
            <a:ext cx="10972800" cy="411480"/>
          </a:xfrm>
          <a:prstGeom prst="rect">
            <a:avLst/>
          </a:prstGeom>
          <a:noFill/>
        </p:spPr>
        <p:txBody>
          <a:bodyPr wrap="square" lIns="45720" rIns="45720" tIns="18288" bIns="18288" anchor="t">
            <a:spAutoFit/>
          </a:bodyPr>
          <a:lstStyle/>
          <a:p>
            <a:pPr algn="l">
              <a:lnSpc>
                <a:spcPct val="100000"/>
              </a:lnSpc>
            </a:pPr>
            <a:r>
              <a:rPr sz="1200" b="1" i="0">
                <a:solidFill>
                  <a:srgbClr val="14B8A6"/>
                </a:solidFill>
                <a:latin typeface="Calibri"/>
              </a:rPr>
              <a:t>ONE LEARNER. ONE STORY. ONE PROMISE.</a:t>
            </a:r>
          </a:p>
        </p:txBody>
      </p:sp>
      <p:sp>
        <p:nvSpPr>
          <p:cNvPr id="8" name="TextBox 7"/>
          <p:cNvSpPr txBox="1"/>
          <p:nvPr/>
        </p:nvSpPr>
        <p:spPr>
          <a:xfrm>
            <a:off x="640080" y="2286000"/>
            <a:ext cx="10972800" cy="2194560"/>
          </a:xfrm>
          <a:prstGeom prst="rect">
            <a:avLst/>
          </a:prstGeom>
          <a:noFill/>
        </p:spPr>
        <p:txBody>
          <a:bodyPr wrap="square" lIns="45720" rIns="45720" tIns="18288" bIns="18288" anchor="t">
            <a:spAutoFit/>
          </a:bodyPr>
          <a:lstStyle/>
          <a:p>
            <a:pPr algn="l">
              <a:lnSpc>
                <a:spcPct val="110000"/>
              </a:lnSpc>
            </a:pPr>
            <a:r>
              <a:rPr sz="4000" b="1" i="0">
                <a:solidFill>
                  <a:srgbClr val="FFFFFF"/>
                </a:solidFill>
                <a:latin typeface="Calibri"/>
              </a:rPr>
              <a:t>Rohit doesn't need</a:t>
            </a:r>
          </a:p>
          <a:p>
            <a:pPr algn="l">
              <a:lnSpc>
                <a:spcPct val="110000"/>
              </a:lnSpc>
            </a:pPr>
            <a:r>
              <a:rPr sz="4000" b="1" i="0">
                <a:solidFill>
                  <a:srgbClr val="FFFFFF"/>
                </a:solidFill>
                <a:latin typeface="Calibri"/>
              </a:rPr>
              <a:t>another webinar.</a:t>
            </a:r>
          </a:p>
          <a:p>
            <a:pPr algn="l">
              <a:lnSpc>
                <a:spcPct val="110000"/>
              </a:lnSpc>
            </a:pPr>
            <a:r>
              <a:rPr sz="4000" b="1" i="0">
                <a:solidFill>
                  <a:srgbClr val="FFFFFF"/>
                </a:solidFill>
                <a:latin typeface="Calibri"/>
              </a:rPr>
              <a:t>He needs a moment</a:t>
            </a:r>
          </a:p>
          <a:p>
            <a:pPr algn="l">
              <a:lnSpc>
                <a:spcPct val="110000"/>
              </a:lnSpc>
            </a:pPr>
            <a:r>
              <a:rPr sz="4000" b="1" i="0">
                <a:solidFill>
                  <a:srgbClr val="FFFFFF"/>
                </a:solidFill>
                <a:latin typeface="Calibri"/>
              </a:rPr>
              <a:t>he can show his family.</a:t>
            </a:r>
          </a:p>
        </p:txBody>
      </p:sp>
      <p:sp>
        <p:nvSpPr>
          <p:cNvPr id="9" name="TextBox 8"/>
          <p:cNvSpPr txBox="1"/>
          <p:nvPr/>
        </p:nvSpPr>
        <p:spPr>
          <a:xfrm>
            <a:off x="640080" y="5029200"/>
            <a:ext cx="10972800" cy="411480"/>
          </a:xfrm>
          <a:prstGeom prst="rect">
            <a:avLst/>
          </a:prstGeom>
          <a:noFill/>
        </p:spPr>
        <p:txBody>
          <a:bodyPr wrap="square" lIns="45720" rIns="45720" tIns="18288" bIns="18288" anchor="t">
            <a:spAutoFit/>
          </a:bodyPr>
          <a:lstStyle/>
          <a:p>
            <a:pPr algn="l">
              <a:lnSpc>
                <a:spcPct val="135000"/>
              </a:lnSpc>
            </a:pPr>
            <a:r>
              <a:rPr sz="1500" b="0" i="1">
                <a:solidFill>
                  <a:srgbClr val="C4B5FD"/>
                </a:solidFill>
                <a:latin typeface="Calibri"/>
              </a:rPr>
              <a:t>If we get that right, retention takes care of itself. Advocacy follows. So does enrolment.</a:t>
            </a:r>
          </a:p>
        </p:txBody>
      </p:sp>
      <p:sp>
        <p:nvSpPr>
          <p:cNvPr id="10" name="Rectangle 9"/>
          <p:cNvSpPr/>
          <p:nvPr/>
        </p:nvSpPr>
        <p:spPr>
          <a:xfrm>
            <a:off x="640080" y="5852160"/>
            <a:ext cx="54864" cy="548640"/>
          </a:xfrm>
          <a:prstGeom prst="rect">
            <a:avLst/>
          </a:prstGeom>
          <a:solidFill>
            <a:srgbClr val="14B8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852160"/>
            <a:ext cx="7315200" cy="292608"/>
          </a:xfrm>
          <a:prstGeom prst="rect">
            <a:avLst/>
          </a:prstGeom>
          <a:noFill/>
        </p:spPr>
        <p:txBody>
          <a:bodyPr wrap="square" lIns="45720" rIns="45720" tIns="18288" bIns="18288" anchor="t">
            <a:spAutoFit/>
          </a:bodyPr>
          <a:lstStyle/>
          <a:p>
            <a:pPr algn="l">
              <a:lnSpc>
                <a:spcPct val="125000"/>
              </a:lnSpc>
            </a:pPr>
            <a:r>
              <a:rPr sz="950" b="1" i="0">
                <a:solidFill>
                  <a:srgbClr val="14B8A6"/>
                </a:solidFill>
                <a:latin typeface="Calibri"/>
              </a:rPr>
              <a:t>WITH GRATITUDE</a:t>
            </a:r>
          </a:p>
        </p:txBody>
      </p:sp>
      <p:sp>
        <p:nvSpPr>
          <p:cNvPr id="12" name="TextBox 11"/>
          <p:cNvSpPr txBox="1"/>
          <p:nvPr/>
        </p:nvSpPr>
        <p:spPr>
          <a:xfrm>
            <a:off x="777240" y="6080760"/>
            <a:ext cx="7315200" cy="365760"/>
          </a:xfrm>
          <a:prstGeom prst="rect">
            <a:avLst/>
          </a:prstGeom>
          <a:noFill/>
        </p:spPr>
        <p:txBody>
          <a:bodyPr wrap="square" lIns="45720" rIns="45720" tIns="18288" bIns="18288" anchor="t">
            <a:spAutoFit/>
          </a:bodyPr>
          <a:lstStyle/>
          <a:p>
            <a:pPr algn="l">
              <a:lnSpc>
                <a:spcPct val="125000"/>
              </a:lnSpc>
            </a:pPr>
            <a:r>
              <a:rPr sz="1400" b="1" i="0">
                <a:solidFill>
                  <a:srgbClr val="FFFFFF"/>
                </a:solidFill>
                <a:latin typeface="Calibri"/>
              </a:rPr>
              <a:t>Paras Jain   |   Marketing Manager Assignment</a:t>
            </a:r>
          </a:p>
        </p:txBody>
      </p:sp>
      <p:sp>
        <p:nvSpPr>
          <p:cNvPr id="13" name="TextBox 12"/>
          <p:cNvSpPr txBox="1"/>
          <p:nvPr/>
        </p:nvSpPr>
        <p:spPr>
          <a:xfrm>
            <a:off x="457200" y="6492240"/>
            <a:ext cx="9144000" cy="274320"/>
          </a:xfrm>
          <a:prstGeom prst="rect">
            <a:avLst/>
          </a:prstGeom>
          <a:noFill/>
        </p:spPr>
        <p:txBody>
          <a:bodyPr wrap="square" lIns="45720" rIns="45720" tIns="18288" bIns="18288" anchor="t">
            <a:spAutoFit/>
          </a:bodyPr>
          <a:lstStyle/>
          <a:p>
            <a:pPr algn="l">
              <a:lnSpc>
                <a:spcPct val="125000"/>
              </a:lnSpc>
            </a:pPr>
            <a:r>
              <a:rPr sz="850" b="0" i="1">
                <a:solidFill>
                  <a:srgbClr val="C4B5FD"/>
                </a:solidFill>
                <a:latin typeface="Calibri"/>
              </a:rPr>
              <a:t/>
            </a:r>
          </a:p>
        </p:txBody>
      </p:sp>
      <p:sp>
        <p:nvSpPr>
          <p:cNvPr id="14" name="TextBox 13"/>
          <p:cNvSpPr txBox="1"/>
          <p:nvPr/>
        </p:nvSpPr>
        <p:spPr>
          <a:xfrm>
            <a:off x="11094415" y="6492240"/>
            <a:ext cx="640080" cy="274320"/>
          </a:xfrm>
          <a:prstGeom prst="rect">
            <a:avLst/>
          </a:prstGeom>
          <a:noFill/>
        </p:spPr>
        <p:txBody>
          <a:bodyPr wrap="square" lIns="45720" rIns="45720" tIns="18288" bIns="18288" anchor="t">
            <a:spAutoFit/>
          </a:bodyPr>
          <a:lstStyle/>
          <a:p>
            <a:pPr algn="r">
              <a:lnSpc>
                <a:spcPct val="125000"/>
              </a:lnSpc>
            </a:pPr>
            <a:r>
              <a:rPr sz="850" b="0" i="0">
                <a:solidFill>
                  <a:srgbClr val="C4B5FD"/>
                </a:solidFill>
                <a:latin typeface="Calibri"/>
              </a:rPr>
              <a:t>19 / 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