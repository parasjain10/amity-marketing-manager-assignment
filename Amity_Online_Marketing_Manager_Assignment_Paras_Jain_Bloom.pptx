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100E2E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4864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84632"/>
            <a:ext cx="1814887" cy="6766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595431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7451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MARKETING MANAGER 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 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launch. A yearlong roadmap. A leadership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Built 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5216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807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THE APPROACH   |   PERSONA, PATTERNS,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Before I drafted, I listened.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2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3840480" cy="50749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udent_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45920"/>
            <a:ext cx="338328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9476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MEET ROHIT.   OUR LEARNER.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35661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E1B4B"/>
                </a:solidFill>
                <a:latin typeface="Calibri"/>
              </a:rPr>
              <a:t>28. Bhopal. MBA, Sem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72000"/>
            <a:ext cx="34747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Senior account executive at a Tier 2 firm.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Pays his own fees. Studies after dinner.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Married. One toddler. Family is proud.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Has never seen the Noida campus.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30" b="1">
                <a:solidFill>
                  <a:srgbClr val="14B8A6"/>
                </a:solidFill>
                <a:latin typeface="Calibri"/>
              </a:rPr>
              <a:t>• </a:t>
            </a:r>
            <a:r>
              <a:rPr sz="1030">
                <a:solidFill>
                  <a:srgbClr val="141B2D"/>
                </a:solidFill>
                <a:latin typeface="Calibri"/>
              </a:rPr>
              <a:t>Logs into beSocial maybe once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417320"/>
            <a:ext cx="7315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Three patterns showed up everywhere.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20240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084832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084832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Belonging is the missing product.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87168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beSocial is the right instinct. Add one in person moment.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127248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127248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291840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29184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Engagement leads enrolment.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3694176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Engaged learners complete more and refer more. Not the other way around.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4334256"/>
            <a:ext cx="7315200" cy="1097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4334256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498848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49884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Our learners are our cheapest growth channel.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4901184"/>
            <a:ext cx="6309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1E1B4B"/>
                </a:solidFill>
                <a:latin typeface="Calibri"/>
              </a:rPr>
              <a:t>2,50,000+ learners. Almost no system to turn them into referrers.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49240"/>
            <a:ext cx="7315200" cy="1143000"/>
          </a:xfrm>
          <a:prstGeom prst="roundRect">
            <a:avLst>
              <a:gd name="adj" fmla="val 3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4864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FRAMEWORKS I AM USING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5852160"/>
            <a:ext cx="1193292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Jobs to be 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1324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AARRR funnel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82027" y="5852160"/>
            <a:ext cx="9875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70 / 20 / 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2730" y="5852160"/>
            <a:ext cx="1330451" cy="329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1E1B4B"/>
                </a:solidFill>
                <a:latin typeface="Calibri"/>
              </a:rPr>
              <a:t>North Star Metric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6217920"/>
            <a:ext cx="6949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C4B5FD"/>
                </a:solidFill>
                <a:latin typeface="Calibri"/>
              </a:rPr>
              <a:t>All named, all auditable. None invented for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udents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Launching the Amity Online Immersion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A one day on campus experience for our online learners. One page strategy. Event concept. Launch email. LinkedIn post. Brochure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1 OF 5   |   ONE PAGE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Amity Online Immersion. The launch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2597A"/>
                </a:solidFill>
                <a:latin typeface="Calibri"/>
              </a:rPr>
              <a:t>An annual on campus immersion for our online learners. Pilot Cohort 0 with 100 learners. Scale to 6 cities in Year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THE PROGRAM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One day. One campus. One photograph.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Annual on campus immersion for online learners.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Day = academic. Evening = cultural. Wrap = mini convocation.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Pilot 100 learners. Scale to 6 cities in Year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103120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TARGET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Working professionals from Tier 2 India.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28 year olds, MBA or BBA, on Amity Online.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Have never seen the campus they paid for.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is proud but distant from the journey.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2103120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3024" y="2103120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228600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THE PROMISE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2560320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You enrolled online. You walk the campus.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3246120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Differentiation: the only online university with this experience.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Family travels with the learner.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The photograph and the stage are the products.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37033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CHANNELS AND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Pilot at approximately Rs 65 lakh.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50% organic email, in app, beSocial.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reallocated paid media.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14B8A6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25% production (photo, reel, stage, food).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25112" y="4370832"/>
            <a:ext cx="370332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53712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GOALS (COHORT 0, 90 DAYS)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Hit a tight bar before scaling.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100 learners on Noida campus, with family.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NSAT (Net Satisfaction) above 4.5 of 5.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06B6D4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More than 50% share publicly within 7 days.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4370832"/>
            <a:ext cx="3703320" cy="21031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93024" y="4370832"/>
            <a:ext cx="370332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21624" y="455371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SUCCESS IN 6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1624" y="4828032"/>
            <a:ext cx="33375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Prospects ask current learners the question.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1624" y="5513832"/>
            <a:ext cx="3337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'Did you go to immersion?' becomes the question.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Current learners answer with a photograph.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000" b="1">
                <a:solidFill>
                  <a:srgbClr val="A855F7"/>
                </a:solidFill>
                <a:latin typeface="Calibri"/>
              </a:rPr>
              <a:t>• </a:t>
            </a:r>
            <a:r>
              <a:rPr sz="1000">
                <a:solidFill>
                  <a:srgbClr val="141B2D"/>
                </a:solidFill>
                <a:latin typeface="Calibri"/>
              </a:rPr>
              <a:t>Inbound interest cites Immersion.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2 OF 5   | 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Amity Online Immersion. The day.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100 learners and 100 family members. Noida campus. One day shaped to feel like four moments in order.</a:t>
            </a:r>
          </a:p>
        </p:txBody>
      </p:sp>
      <p:pic>
        <p:nvPicPr>
          <p:cNvPr id="9" name="Picture 8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20240"/>
            <a:ext cx="329184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074920"/>
            <a:ext cx="3291840" cy="365760"/>
          </a:xfrm>
          <a:prstGeom prst="rect">
            <a:avLst/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093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1 DAY   |   100 + 100   |   NOIDA CAMPUS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532120"/>
            <a:ext cx="3291840" cy="100584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05272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WHY THIS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Every online learner gets one moment that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is theirs. One stage. One photograph. One memory</a:t>
            </a:r>
          </a:p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their family can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1920240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1920240"/>
            <a:ext cx="91440" cy="10789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2039112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4B8A6"/>
                </a:solidFill>
                <a:latin typeface="Calibri"/>
              </a:rPr>
              <a:t>MORNING  10:00 to 13:00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28600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BELONG.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03911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Welcome address. Campus walk with family.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33172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Visit to library, classrooms, the convocation hall.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2432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Family lunch with faculty.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31920" y="3090672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090672"/>
            <a:ext cx="91440" cy="10789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209544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06B6D4"/>
                </a:solidFill>
                <a:latin typeface="Calibri"/>
              </a:rPr>
              <a:t>AFTERNOON  13:30 to 16:30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3456432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BUILD.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20954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Two short masterclasses (Career, Industry).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50215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Industry mentor pairing for 12 months.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94760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Group photo on the convocation stage.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31920" y="4261104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0" y="4261104"/>
            <a:ext cx="91440" cy="1078992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60520" y="4379976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A855F7"/>
                </a:solidFill>
                <a:latin typeface="Calibri"/>
              </a:rPr>
              <a:t>EVENING  17:30 to 20:30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26864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CELEBRATE.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37997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Cultural night. Comedy or music headliner (Rs 8 to 15 lakh).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7258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Five learner finalists open via beSocial audition.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965192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Brand stalls (Boat, Cred, MakeMyTrip) offset 30% of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31920" y="5431536"/>
            <a:ext cx="7818120" cy="10789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5431536"/>
            <a:ext cx="91440" cy="1078992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5550408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1E1B4B"/>
                </a:solidFill>
                <a:latin typeface="Calibri"/>
              </a:rPr>
              <a:t>WRAP  20:30 to 21:30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5797296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AMPLIFY.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5550408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Mini convocation. Stole and certificate ceremony.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843016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Pro photographer plus 60 second reel for every learner.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6135624"/>
            <a:ext cx="4983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• Creator partner films a 3 part docuseries.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31920" y="6355080"/>
            <a:ext cx="7818120" cy="45720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6409944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6400800"/>
            <a:ext cx="6812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Production Rs 25L  +  Headliner Rs 12L  +  Photo / Video Rs 8L  +  Logistics Rs 10L   =   Rs 55L     Sponsor offset minus Rs 18L     Net Rs 37L for Cohort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3 OF 5   |   EMAIL TO EXISTING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7724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772400" cy="4114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772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2597A"/>
                </a:solidFill>
                <a:latin typeface="Calibri"/>
              </a:rPr>
              <a:t>From: Amity Online Marketing 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Subject:   You enrolled online. Come walk the campus.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223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1">
                <a:solidFill>
                  <a:srgbClr val="52597A"/>
                </a:solidFill>
                <a:latin typeface="Calibri"/>
              </a:rPr>
              <a:t>Preheader:   One day on the Noida campus. With your family. Apply by 25 August.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9748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You picked Amity Online for the right reason. It fits your work, your family, and your commute. It does.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But there is one thing it has not given you. The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are launching Amity Online Immersion. One day on the Noida campus, designed for our online learners.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31336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Morning. Walk the campus with your family. Two masterclasses.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7822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Afternoon. Industry mentor pairing for the year ahead.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25112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Evening. A cultural night with a headline act, opened by five Amity Online learners who win a beSocial audition.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72000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Wrap. A short convocation moment. Stole, certificate, photo with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7223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Free for existing learners. One family member included. 100 seats in Cohort 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21031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Reserve your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221224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52597A"/>
                </a:solidFill>
                <a:latin typeface="Calibri"/>
              </a:rPr>
              <a:t>Takes 90 seconds.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1371600"/>
            <a:ext cx="3337560" cy="516636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150876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187451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Subject is 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12140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Names the moment, not the marketing.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587751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Promise is the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2834639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Walk. Learn. Celebrate. Wrap. One thing each.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300983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Single CTA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547871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One blue button. No sidebar links.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4014215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Real scarcity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261103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100 seats. 2,50,000 learners. Honest math.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27447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Family included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974335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Solves the most common no without asking.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5440679"/>
            <a:ext cx="2971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B8A6"/>
                </a:solidFill>
                <a:latin typeface="Calibri"/>
              </a:rPr>
              <a:t>Send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687567"/>
            <a:ext cx="2971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Tuesday, 10:30 AM IST. We'll A B test subject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4 OF 5   |  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7132320" cy="5212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E1B4B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7132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2597A"/>
                </a:solidFill>
                <a:latin typeface="Calibri"/>
              </a:rPr>
              <a:t>1d 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67512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Last week, one of them. A working professional from Bhubaneswar. Doing his MBA after his work day ends. He asked me one question.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launched Amity Online to make a high quality degree fit real lives. It does. But our answer to that question was 'only during exams'.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From this year, the answer changes.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We are launching Amity Online Immersion. A one day on campus experience, designed for our 2,50,000+ online learners. They will walk our Noida campus with their families. They will sit in two masterclasses. Five of them will open a cultural night. They will stand on our convocation stage and take a photograph their family can frame.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Online gave us reach. Immersion is how we add memory.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If you're an Amity Online learner, your invite is in your inbox.</a:t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019" b="0" i="0">
                <a:solidFill>
                  <a:srgbClr val="1E1B4B"/>
                </a:solidFill>
                <a:latin typeface="Calibri"/>
              </a:rPr>
              <a:t>#AmityOnlineImmersion   #AmityUniversityOnline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7040880" cy="18288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7132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52597A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417320"/>
            <a:ext cx="3931920" cy="52120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60020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1B4B"/>
                </a:solidFill>
                <a:latin typeface="Calibri"/>
              </a:rPr>
              <a:t>Why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96596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1284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One specific learner. The launch arrives in the third paragraph.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83464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A leader admits the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08152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Our answer was 'only during exams'. Honest leadership shares.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0332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'Online gave us reach. Immersion is how we add memory.'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57200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Earned beats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1888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Employees and alumni shares carry this further than any media buy.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440680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70" b="1" i="0">
                <a:solidFill>
                  <a:srgbClr val="14B8A6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687568"/>
            <a:ext cx="35661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E1B4B"/>
                </a:solidFill>
                <a:latin typeface="Calibri"/>
              </a:rPr>
              <a:t>Hashtags below the fold. No external link. Line breaks.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1   |   DELIVERABLE 5 OF 5   |   BROCHURE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Immersion brochure. Eight pages, A5.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Saddle stitched. Around Rs 35 per copy at a 5,000 print run. Distributed digitally as a PDF. Physical copies on the 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01  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2331720" cy="12801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14500" y="2606040"/>
            <a:ext cx="274320" cy="38404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23317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14B8A6"/>
                </a:solidFill>
                <a:latin typeface="Calibri"/>
              </a:rPr>
              <a:t>AMITY ONLINE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3337560"/>
            <a:ext cx="1874520" cy="274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05840" y="3392424"/>
            <a:ext cx="1691640" cy="274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3447288"/>
            <a:ext cx="1508760" cy="274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'You enrolled online. You walk the campus.'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64992" y="196596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02  LETTER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93592" y="246888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58184" y="2633472"/>
            <a:ext cx="2002536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58184" y="2779776"/>
            <a:ext cx="2002536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58184" y="2926080"/>
            <a:ext cx="2002536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58184" y="3072384"/>
            <a:ext cx="2002536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58184" y="3218688"/>
            <a:ext cx="1636776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76472" y="3474720"/>
            <a:ext cx="64008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3547872"/>
            <a:ext cx="18288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1" i="1">
                <a:solidFill>
                  <a:srgbClr val="06B6D4"/>
                </a:solidFill>
                <a:latin typeface="Calibri"/>
              </a:rPr>
              <a:t>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3592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Founder's letter. Hand signed.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72784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2784" y="196596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03-04  WHY IMMERSION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01384" y="246888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2606040"/>
            <a:ext cx="618744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38544" y="3182112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38544" y="3255264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38544" y="3328416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2152" y="2606040"/>
            <a:ext cx="618744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2152" y="3182112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2152" y="3255264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2152" y="3328416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85760" y="2606040"/>
            <a:ext cx="618744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85760" y="3182112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85760" y="3255264"/>
            <a:ext cx="61874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85760" y="3328416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Three real learner stories with photos.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80576" y="196596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80576" y="196596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03911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05  THE DAY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09176" y="246888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37776" y="3108960"/>
            <a:ext cx="1874520" cy="228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564624" y="30358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9464" y="30358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814304" y="30358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9144" y="3035808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6345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1E1B4B"/>
                </a:solidFill>
                <a:latin typeface="Calibri"/>
              </a:rPr>
              <a:t>MORN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829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1E1B4B"/>
                </a:solidFill>
                <a:latin typeface="Calibri"/>
              </a:rPr>
              <a:t>AFT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1313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1E1B4B"/>
                </a:solidFill>
                <a:latin typeface="Calibri"/>
              </a:rPr>
              <a:t>EVE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37976" y="3273552"/>
            <a:ext cx="5486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1E1B4B"/>
                </a:solidFill>
                <a:latin typeface="Calibri"/>
              </a:rPr>
              <a:t>WRAP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09176" y="381304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Visual timeline. Four moments.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06  VALIDATION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0060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61288" y="5234940"/>
            <a:ext cx="411480" cy="411480"/>
          </a:xfrm>
          <a:prstGeom prst="ellipse">
            <a:avLst/>
          </a:prstGeom>
          <a:solidFill>
            <a:srgbClr val="06B6D4"/>
          </a:solidFill>
          <a:ln w="15240">
            <a:solidFill>
              <a:srgbClr val="1E1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61288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A+</a:t>
            </a:r>
          </a:p>
        </p:txBody>
      </p:sp>
      <p:sp>
        <p:nvSpPr>
          <p:cNvPr id="68" name="Oval 67"/>
          <p:cNvSpPr/>
          <p:nvPr/>
        </p:nvSpPr>
        <p:spPr>
          <a:xfrm>
            <a:off x="1645920" y="5234940"/>
            <a:ext cx="411480" cy="411480"/>
          </a:xfrm>
          <a:prstGeom prst="ellipse">
            <a:avLst/>
          </a:prstGeom>
          <a:solidFill>
            <a:srgbClr val="06B6D4"/>
          </a:solidFill>
          <a:ln w="15240">
            <a:solidFill>
              <a:srgbClr val="1E1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45920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QS</a:t>
            </a:r>
          </a:p>
        </p:txBody>
      </p:sp>
      <p:sp>
        <p:nvSpPr>
          <p:cNvPr id="70" name="Oval 69"/>
          <p:cNvSpPr/>
          <p:nvPr/>
        </p:nvSpPr>
        <p:spPr>
          <a:xfrm>
            <a:off x="2130552" y="5234940"/>
            <a:ext cx="411480" cy="411480"/>
          </a:xfrm>
          <a:prstGeom prst="ellipse">
            <a:avLst/>
          </a:prstGeom>
          <a:solidFill>
            <a:srgbClr val="06B6D4"/>
          </a:solidFill>
          <a:ln w="15240">
            <a:solidFill>
              <a:srgbClr val="1E1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30552" y="5234940"/>
            <a:ext cx="41148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WES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NAAC A+. QS Asia Pacific Top 10. WASC.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364992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364992" y="4297680"/>
            <a:ext cx="2788920" cy="38404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47872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07  NUMBERS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93592" y="480060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30752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30752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2.5L+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30752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1E1B4B"/>
                </a:solidFill>
                <a:latin typeface="Calibri"/>
              </a:rPr>
              <a:t>LEARNERS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30752" y="5513832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30752" y="5586984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404360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04360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450+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4360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1E1B4B"/>
                </a:solidFill>
                <a:latin typeface="Calibri"/>
              </a:rPr>
              <a:t>PARTNERS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04360" y="5513832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404360" y="5586984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77968" y="4965192"/>
            <a:ext cx="618744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77968" y="4983480"/>
            <a:ext cx="61874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A855F7"/>
                </a:solidFill>
                <a:latin typeface="Calibri"/>
              </a:rPr>
              <a:t>40+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77968" y="5212080"/>
            <a:ext cx="618744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00" b="1" i="0">
                <a:solidFill>
                  <a:srgbClr val="1E1B4B"/>
                </a:solidFill>
                <a:latin typeface="Calibri"/>
              </a:rPr>
              <a:t>PROGRAMS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77968" y="5513832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77968" y="5586984"/>
            <a:ext cx="573024" cy="2286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93592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2,50,000+ learners. 450+ partners.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272784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72784" y="4297680"/>
            <a:ext cx="2788920" cy="3840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55664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08  FAQ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01384" y="480060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84264" y="484632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14B8A6"/>
                </a:solidFill>
                <a:latin typeface="Calibri"/>
              </a:rPr>
              <a:t>?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415784" y="4983480"/>
            <a:ext cx="1234440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415784" y="5148072"/>
            <a:ext cx="1234440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15784" y="5312664"/>
            <a:ext cx="1234440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15784" y="5477256"/>
            <a:ext cx="960120" cy="27432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501384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Six honest questions, clearly answered.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180576" y="4297680"/>
            <a:ext cx="278892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80576" y="4297680"/>
            <a:ext cx="2788920" cy="38404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363456" y="4370832"/>
            <a:ext cx="2788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09  BACK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09176" y="4800600"/>
            <a:ext cx="2331720" cy="12801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186416" y="4937760"/>
            <a:ext cx="777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1E1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206416" y="4957760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61864" y="4957760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72760" y="4957760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28208" y="4957760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206416" y="5113208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517312" y="5113208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828208" y="5113208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61864" y="5268656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517312" y="5268656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672760" y="5268656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206416" y="5424104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517312" y="5424104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828208" y="5424104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06416" y="5579552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61864" y="5579552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672760" y="5579552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828208" y="5579552"/>
            <a:ext cx="115448" cy="115448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409176" y="5779008"/>
            <a:ext cx="233172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650" b="1" i="0">
                <a:solidFill>
                  <a:srgbClr val="06B6D4"/>
                </a:solidFill>
                <a:latin typeface="Calibri"/>
              </a:rPr>
              <a:t>SCAN TO REGISTER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09176" y="614476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9" b="0" i="1">
                <a:solidFill>
                  <a:srgbClr val="1E1B4B"/>
                </a:solidFill>
                <a:latin typeface="Calibri"/>
              </a:rPr>
              <a:t>QR code to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line_c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3484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 12 month engagement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5321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C4B5FD"/>
                </a:solidFill>
                <a:latin typeface="Calibri"/>
              </a:rPr>
              <a:t>All ideas at once. Engagement calendar. New initiatives. Community building. Advocacy programs. Referral opportunities.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 1 OF 5   |   ENGAGEMENT CALENDAR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12 month engagement calendar.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10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Every month has one flagship moment. The year arcs through four themes: Belong, Build, Broadcast, Beyond.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Q1   BELONG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Q2   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71616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Q3   BROADCAST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78824" y="1920240"/>
            <a:ext cx="278434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Q4   BEYOND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JAN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New cohort welcome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30 day onboarding ritual.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4408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4408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65576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FEB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5576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Sunday Sit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Weekly live AMA on beSocial.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1616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71616" y="2606040"/>
            <a:ext cx="64008" cy="1234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2784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City Meetup 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First Saturday brunch in 3 cities.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78824" y="260604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78824" y="260604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272491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APR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9992" y="297180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Industry Sprint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338328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10 day brief from a hiring partner.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93192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MAY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City Meetup #2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Mumbai, Bangalore, Hyderabad.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64408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64408" y="3931920"/>
            <a:ext cx="64008" cy="1234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65576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6B6D4"/>
                </a:solidFill>
                <a:latin typeface="Calibri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5576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Capstone Showcase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5576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Top learner work goes on LinkedIn.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71616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1616" y="393192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JUL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Mid year reunion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Online reunion. Faculty live.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78824" y="393192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78824" y="393192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79992" y="405079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AUG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9992" y="429768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Immersion Cohort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79992" y="470916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100 learners on Noida campus.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257800"/>
            <a:ext cx="64008" cy="12344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855F7"/>
                </a:solidFill>
                <a:latin typeface="Calibri"/>
              </a:rPr>
              <a:t>SEP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Weekly learner reels begin.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64408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264408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65576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OCT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65576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Referral 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65576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Two sided launch, all learners.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71616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71616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NOV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72784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Top 100 Voices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72784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Trained advocate program.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878824" y="5257800"/>
            <a:ext cx="2784348" cy="1234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78824" y="5257800"/>
            <a:ext cx="64008" cy="12344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79992" y="5376672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DEC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9992" y="5623560"/>
            <a:ext cx="246430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E1B4B"/>
                </a:solidFill>
                <a:latin typeface="Calibri"/>
              </a:rPr>
              <a:t>Annual Outcome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79992" y="6035040"/>
            <a:ext cx="2464308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1E1B4B"/>
                </a:solidFill>
                <a:latin typeface="Calibri"/>
              </a:rPr>
              <a:t>Public report. Convocation.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629400"/>
            <a:ext cx="11274552" cy="50292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72084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WHAT WE TRACK MONTHLY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0" y="6748272"/>
            <a:ext cx="7772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Active Learner Score   |   Course completion   |   NPS (Net Promoter Score)   |   Referral mix   |   Cost per engaged learner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DELIVERABLES 2 AND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New initiatives and community building ideas.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11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Five initiatives. Five community building ideas. Each one is lightweight, owned, and runs inside our existing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1B4B"/>
                </a:solidFill>
                <a:latin typeface="Calibri"/>
              </a:rPr>
              <a:t>FIVE NEW INITIATIVES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1B4B"/>
                </a:solidFill>
                <a:latin typeface="Calibri"/>
              </a:rPr>
              <a:t>FIVE COMMUNITY BUILDING IDEAS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City Meetups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Six cities. Saturday brunch. Hosted by an alum.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18 lakh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Sunday Sit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Weekly 45 min live AMA on beSocial.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6 lakh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Industry Sprints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10 day briefs from hiring partners. Top work showcased.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22 lakh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Alumni Mentor Network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 mentor per learner who opts in. 12 month program.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14 lakh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B8A6"/>
                </a:solidFill>
                <a:latin typeface="Calibri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30 second reels. 1 learner per week. Real, uncoached.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~Rs 10 lakh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beSocial faculty threads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2852928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Weekly faculty hosted threads on every programme.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2715768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410712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City chapters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2320" y="3703320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Elected learner leads. Monthly informal meetups.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35661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~Rs 8 lakh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261104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Buddy program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4553712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Each new joiner paired with a Sem 2 learner.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441655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2320" y="5111496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Faculty office hours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5404104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Bookable 15 min slots with faculty, monthly.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5266944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Cost neutral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B6D4"/>
                </a:solidFill>
                <a:latin typeface="Calibri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32320" y="5961888"/>
            <a:ext cx="3383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Annual reunion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0" y="6254496"/>
            <a:ext cx="33832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On campus alumni meet stitched into Convocation.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117336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~Rs 12 lakh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TASK 2   |   DELIVERABLES 4 AND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Student advocacy programs and referral opportunities.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12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52597A"/>
                </a:solidFill>
                <a:latin typeface="Calibri"/>
              </a:rPr>
              <a:t>Once learners feel seen, they tell their network. Advocacy is what we earn. Referrals are how we measure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5852160" cy="4572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STUDENT ADVOCACY PROGRAMS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852160" cy="4572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65959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FIVE REFERRAL OPPORTUNITIES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68880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Outcome Stories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1 learner story per week. Reel + LinkedIn carousel.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19272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Verified Alumni badge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LinkedIn badge for completed alumni. Earned credibility.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69664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Top 100 Voices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Train and equip 100 learner storytellers. Annual cohort.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20056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User generated content prompts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Monthly beSocial prompts. Best posts amplified by brand.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870448"/>
            <a:ext cx="64008" cy="77724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855F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Annual Outcome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Public report card. Pass rates, placements, learner stories.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2468880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2468880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260604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2560320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Two sided cash reward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Rs 5,000 voucher each, on enrolment + first fee.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55080" y="3319272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319272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3456432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3410712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Tiered 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370332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Bronze, Silver, Gold based on referral count + outcomes.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55080" y="4169664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169664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56248" y="4306824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4261104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CRM tagged tracking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4553712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Each referral mapped to a learner. Clean attribution.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5020056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5020056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56248" y="5157216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5111496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Anti gaming rules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32320" y="5404104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Public eligibility. Audit monthly. Transparent leaderboard.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5870448"/>
            <a:ext cx="585216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5870448"/>
            <a:ext cx="64008" cy="77724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56248" y="6007608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1B4B"/>
                </a:solidFill>
                <a:latin typeface="Calibri"/>
              </a:rPr>
              <a:t>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5961888"/>
            <a:ext cx="4937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Hiring partner referrals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6254496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1">
                <a:solidFill>
                  <a:srgbClr val="1E1B4B"/>
                </a:solidFill>
                <a:latin typeface="Calibri"/>
              </a:rPr>
              <a:t>Partners refer their employees. We share placements with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4B8A6"/>
                </a:solidFill>
                <a:latin typeface="Calibri"/>
              </a:rPr>
              <a:t>TASK 3   |   LEADERSHIP DECK   |   1 OF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How Student Engagement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Drives Retention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and Brand Advocacy.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C4B5FD"/>
                </a:solidFill>
                <a:latin typeface="Calibri"/>
              </a:rPr>
              <a:t>Strategic Framework for Amity Online University.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89788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97880"/>
            <a:ext cx="5486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126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 |   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5989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1">
                <a:solidFill>
                  <a:srgbClr val="C4B5FD"/>
                </a:solidFill>
                <a:latin typeface="Calibri"/>
              </a:rPr>
              <a:t>Audience. Chairman, Provost, Chief Marketing Officer, Chief Financial Officer.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40961" y="228600"/>
            <a:ext cx="1548982" cy="58521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2 OF 5   |   THE CRITICAL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The retention challenge in online higher education.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14 /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1274552" cy="4114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KEY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VERIFIED STATISTIC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00200"/>
            <a:ext cx="505663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1274552" cy="77724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8483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US national second fall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8483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69.5%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8483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NSC Research Center, Persistence and Retention Report 2025 (Fall 2023 cohort).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97480"/>
            <a:ext cx="1127455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86207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First year students leaving higher education before second term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6207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~14%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6207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NSC Research Center, via Inside Higher Ed, June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11274552" cy="77724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3931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Amity Online MBA cohort 2023 to 24. Did not pass on schedule.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63931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23%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3931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Careers360 dataset (AISHE tracked). 22,831 enrolled, 77% pass, 1,051 placed.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51960"/>
            <a:ext cx="1127455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16552"/>
            <a:ext cx="3566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1B4B"/>
                </a:solidFill>
                <a:latin typeface="Calibri"/>
              </a:rPr>
              <a:t>India online higher education enrolment growth, year on year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16552"/>
            <a:ext cx="21031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1B4B"/>
                </a:solidFill>
                <a:latin typeface="Calibri"/>
              </a:rPr>
              <a:t>+18.4%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416552"/>
            <a:ext cx="4782312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AISHE 2024 (6.47 million online learners, ~18% of all enrolment).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120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376672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30952"/>
            <a:ext cx="1036015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EARLY DISENGAGEMENT IS COSTLY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577840"/>
            <a:ext cx="10360152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Roughly 14% of first year entrants leave higher education before the second term. Most of that loss happens in the first 30 days.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172200"/>
            <a:ext cx="11274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KEY TAKEAWAY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1090879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 i="1">
                <a:solidFill>
                  <a:srgbClr val="1E1B4B"/>
                </a:solidFill>
                <a:latin typeface="Calibri"/>
              </a:rPr>
              <a:t>The market opportunity is growing, but retention remains fragile. Engagement is a strategic lever, not a support function.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3 OF 5   |   THE DATA PROOF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Direct correlation. Engagement levels drive retention.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Retention outcomes by level of student engagement. Pilot data, not modelled.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6858000" cy="425196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39111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RETENTION RATE BY NUMBER OF ENGAGEMENT TOUCHPOINTS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5999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52597A"/>
                </a:solidFill>
                <a:latin typeface="Calibri"/>
              </a:rPr>
              <a:t>All undergraduate students. Fall 2023 to Fall 2024. n = 19,524.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1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0 engagements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19" y="2788919"/>
            <a:ext cx="4206240" cy="50292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19" y="2788919"/>
            <a:ext cx="3280867" cy="50292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399" y="2907791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03319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1 engagement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19" y="3584447"/>
            <a:ext cx="4206240" cy="50292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31719" y="3584447"/>
            <a:ext cx="3575304" cy="502920"/>
          </a:xfrm>
          <a:prstGeom prst="rect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399" y="3703319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85%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7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2 to 3 engagements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19" y="4379975"/>
            <a:ext cx="4206240" cy="50292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31719" y="4379975"/>
            <a:ext cx="3701491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4498847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88%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94375"/>
            <a:ext cx="16916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4 or more engagements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19" y="5175503"/>
            <a:ext cx="4206240" cy="502920"/>
          </a:xfrm>
          <a:prstGeom prst="rect">
            <a:avLst/>
          </a:prstGeom>
          <a:solidFill>
            <a:srgbClr val="DD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19" y="5175503"/>
            <a:ext cx="3869740" cy="50292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399" y="5294375"/>
            <a:ext cx="640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1B4B"/>
                </a:solidFill>
                <a:latin typeface="Calibri"/>
              </a:rPr>
              <a:t>92%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623559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Source: University of Houston, Division of Student Affairs Pilot. Academic Year 2024 dataset.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39"/>
            <a:ext cx="64922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52597A"/>
                </a:solidFill>
                <a:latin typeface="Calibri"/>
              </a:rPr>
              <a:t>Reference: uh.edu/dsa/news/2025 (Dr. Scott Radimer).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1874519"/>
            <a:ext cx="4160520" cy="425196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103119"/>
            <a:ext cx="4160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WHAT THE DATA 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514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4B8A6"/>
                </a:solidFill>
                <a:latin typeface="Calibri"/>
              </a:rPr>
              <a:t>+14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971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Retention gap between zero and 4+ engagement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touchpoints. The single largest moveable lever.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3657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4B8A6"/>
                </a:solidFill>
                <a:latin typeface="Calibri"/>
              </a:rPr>
              <a:t>+7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114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Lift from a single engagement event.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Even one touchpoint is non trivial.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800599"/>
            <a:ext cx="37947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4B8A6"/>
                </a:solidFill>
                <a:latin typeface="Calibri"/>
              </a:rPr>
              <a:t>+13 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799"/>
            <a:ext cx="37947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Pell eligible students. Effect is even stronger</a:t>
            </a:r>
          </a:p>
          <a:p>
            <a:pPr algn="l">
              <a:lnSpc>
                <a:spcPct val="135000"/>
              </a:lnSpc>
            </a:pPr>
            <a:r>
              <a:rPr sz="1050" b="0" i="1">
                <a:solidFill>
                  <a:srgbClr val="FFFFFF"/>
                </a:solidFill>
                <a:latin typeface="Calibri"/>
              </a:rPr>
              <a:t>for the at risk segments we lose first.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5760719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C4B5FD"/>
                </a:solidFill>
                <a:latin typeface="Calibri"/>
              </a:rPr>
              <a:t>Source: UH Division of Student Affairs, 2025.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263639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318503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BUSINESS IMPLICATION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6309359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Illustrative financial upside can be modelled once a verified per learner fee benchmark from Amity Online is confirmed.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4 OF 5   |   THE ADVOCACY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How engaged students become brand advocates.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16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The engagement to advocacy flywheel. Research backed mechanism, not hype. Each stage is a decision point we can intervene 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103119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ENGAGED 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Forums, live sessions,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faculty feedback, peer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interaction, optional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campus touchpoints.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45536" y="2971799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2103119"/>
            <a:ext cx="548640" cy="5486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POSITIVE BRAND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EXPERIENCE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Sense of belonging.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Perceived support.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Academic confidence.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Stronger experience.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2971799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89904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18504" y="2103119"/>
            <a:ext cx="548640" cy="5486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BRAND ADVOCACY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Word of mouth.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Referral intent.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Testimonials.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Peer recommendations.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78240" y="2971799"/>
            <a:ext cx="118872" cy="2743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6" y="1874519"/>
            <a:ext cx="265176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34856" y="2103119"/>
            <a:ext cx="548640" cy="548640"/>
          </a:xfrm>
          <a:prstGeom prst="ellipse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4856" y="2103119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743199"/>
            <a:ext cx="265176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NEW ACQUISITION</a:t>
            </a:r>
          </a:p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E1B4B"/>
                </a:solidFill>
                <a:latin typeface="Calibri"/>
              </a:rPr>
              <a:t>LOWER CAC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6" y="3337559"/>
            <a:ext cx="2286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Stronger trust signals.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Referral led demand.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Improved acquisition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E1B4B"/>
                </a:solidFill>
                <a:latin typeface="Calibri"/>
              </a:rPr>
              <a:t>efficiency.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389119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Mechanism backed by Reichheld 2003 (HBR), Tyton Partners 2024, and University of Houston DSA pilot 2025.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11274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AMITY SPECIFIC ADVOCACY OPPORTUNITIES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11274552" cy="36576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56632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OPPORTUNITY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05663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CURRENT VISIBLE SIGNAL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0" y="5056632"/>
            <a:ext cx="44165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STRATEGIC UPSIDE (HYPOTHESIS)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49240"/>
            <a:ext cx="11274552" cy="38404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440680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Learner testimonials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5440680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Sparse, ad hoc.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0" y="5440680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Outcome Stories series. One reel per week.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733288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824728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Alumni storytelling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5824728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Convocation only.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0" y="5824728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Top 100 Voices program. Trained, equipped advocates.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117336"/>
            <a:ext cx="11274552" cy="38404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208776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Campus touchpoint amplification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0" y="6208776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Limited to exam visits.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6208776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Annual Immersion. One day on campus per learner.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501384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592824"/>
            <a:ext cx="29260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1E1B4B"/>
                </a:solidFill>
                <a:latin typeface="Calibri"/>
              </a:rPr>
              <a:t>Peer referral and community loops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6592824"/>
            <a:ext cx="33832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2597A"/>
                </a:solidFill>
                <a:latin typeface="Calibri"/>
              </a:rPr>
              <a:t>Word of mouth, untracked.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0" y="6592824"/>
            <a:ext cx="4142232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E1B4B"/>
                </a:solidFill>
                <a:latin typeface="Calibri"/>
              </a:rPr>
              <a:t>Two sided referral 1.0. CRM tagged. Public leaderboard.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LEADERSHIP   |   5 OF 5   |   EXECUTIVE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What leadership should do next.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17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Three strategic moves. Each one operationalisable inside the existing budget. Each one tied back to Task 1 or Task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56616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4B8A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INCREASE STRUCTURED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ENGAGEMENT MOMENTS.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4B8A6"/>
                </a:solidFill>
                <a:latin typeface="Calibri"/>
              </a:rPr>
              <a:t>WHAT TO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Embed cohort rituals, weekly community moments, and an annual on campus immersion (Task 1).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4B8A6"/>
                </a:solidFill>
                <a:latin typeface="Calibri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14 point retention lift between zero and 4+ engagement touchpoints (UH Pilot, AY24).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14B8A6"/>
                </a:solidFill>
                <a:latin typeface="Calibri"/>
              </a:rPr>
              <a:t>BUSINESS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Higher pass rate. More completers per cohort. Lower wasted CAC.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1874519"/>
            <a:ext cx="356616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OPERATIONALISE EARLY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DRIFT INTERVENTIONS.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6B6D4"/>
                </a:solidFill>
                <a:latin typeface="Calibri"/>
              </a:rPr>
              <a:t>WHAT TO 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Active Learner Score updated weekly. Faculty call learners below threshold (Task 2).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6B6D4"/>
                </a:solidFill>
                <a:latin typeface="Calibri"/>
              </a:rPr>
              <a:t>WHY IT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First 30 days drive most attrition. ~14% of first year entrants leave higher education entirely before second term (NSC 2025).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06B6D4"/>
                </a:solidFill>
                <a:latin typeface="Calibri"/>
              </a:rPr>
              <a:t>BUSINESS IMPLICATION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Saved at risk learners protect already spent acquisition cost.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1874519"/>
            <a:ext cx="35661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95360" y="1874519"/>
            <a:ext cx="3566160" cy="64008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2075687"/>
            <a:ext cx="640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2039111"/>
            <a:ext cx="2560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TURN SATISFIED LEARNERS</a:t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E1B4B"/>
                </a:solidFill>
                <a:latin typeface="Calibri"/>
              </a:rPr>
              <a:t>INTO VISIBLE ADVOCATES.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926079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WHAT TO 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154679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Outcome Stories series, Verified Alumni badge, two sided referral 1.0 (Task 2).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3776471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WHY IT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05071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Net Promoter Score is the leading growth indicator (Reichheld, HBR 2003). Earned beats paid.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626863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A855F7"/>
                </a:solidFill>
                <a:latin typeface="Calibri"/>
              </a:rPr>
              <a:t>BUSINESS IMPLICATION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855463"/>
            <a:ext cx="320040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1E1B4B"/>
                </a:solidFill>
                <a:latin typeface="Calibri"/>
              </a:rPr>
              <a:t>Lower CAC. Stronger trust signals. Compounding alumni equity.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6928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78815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B8A6"/>
                </a:solidFill>
                <a:latin typeface="Calibri"/>
              </a:rPr>
              <a:t>LEADERSHIP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03504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Engagement is not a student life add on. In online higher education, it is a measurable growth lever that improves retention and amplifies advocacy.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46304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2597A"/>
                </a:solidFill>
                <a:latin typeface="Calibri"/>
              </a:rPr>
              <a:t>SOURCES   |   EVERY CLAIM IS AUDITABLE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E1B4B"/>
                </a:solidFill>
                <a:latin typeface="Calibri"/>
              </a:rPr>
              <a:t>Research and references.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689" y="292608"/>
            <a:ext cx="1329526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52597A"/>
                </a:solidFill>
                <a:latin typeface="Calibri"/>
              </a:rPr>
              <a:t>Marketing Manager Assignment   Paras Jain 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52597A"/>
                </a:solidFill>
                <a:latin typeface="Calibri"/>
              </a:rPr>
              <a:t>18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2597A"/>
                </a:solidFill>
                <a:latin typeface="Calibri"/>
              </a:rPr>
              <a:t>Every fact in this deck is either verifiable on a renowned source or labelled an indicative model. Nothing is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AMITY ONLINE OFFICIAL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amityonline.com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2,50,000+ learners. 450+ hiring partners. Accreditations.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NAAC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naac.gov.in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University Online graded A+.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920240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920240"/>
            <a:ext cx="73152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4464" y="203911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NIRF MANAGEMENT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nirfindia.org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514600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Online MBA in management top 50.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QS WORLD RANKINGS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topuniversities.com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Asia Pacific Top 10 Online MBA. Only Indian online MBA QS ranked.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WASC, QAA, WES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wscuc.org   qaa.ac.uk   wes.org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Global accreditations referenced on Amity Online MBA page.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3136392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3136392"/>
            <a:ext cx="73152" cy="10972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84464" y="325526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6B6D4"/>
                </a:solidFill>
                <a:latin typeface="Calibri"/>
              </a:rPr>
              <a:t>CAREERS360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4464" y="350215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careers360.com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4464" y="3730752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Amity Online MBA 2023-24. 22,831 enrolled. 77% pass. 1,051 placed.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MBA INSIGHTS / NCES IPEDS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mba-insights.com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Online MBA completion. 47 AACSB programmes. Dropout drivers.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2272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TYTON PARTNERS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Time for Class 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Digital learning and student success. 3,000+ admin survey.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01584" y="4352544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1584" y="4352544"/>
            <a:ext cx="73152" cy="109728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447141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A855F7"/>
                </a:solidFill>
                <a:latin typeface="Calibri"/>
              </a:rPr>
              <a:t>HBR / REICHHELD 2003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4718304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The One Number You Need to Grow.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4464" y="4946904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Net Promoter Score as a leading growth metric.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CHRISTENSEN 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Competing Against Luck. HBR.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Jobs to be Done framework. Used on the approach slide.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79392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79392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62272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MCCLURE 2007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62272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Startup Metrics for Pirates.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62272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AARRR funnel framework. Used on the engagement roadmap.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01584" y="5568696"/>
            <a:ext cx="3703320" cy="1097280"/>
          </a:xfrm>
          <a:prstGeom prst="roundRect">
            <a:avLst>
              <a:gd name="adj" fmla="val 3000"/>
            </a:avLst>
          </a:prstGeom>
          <a:solidFill>
            <a:srgbClr val="F4F6FB"/>
          </a:solidFill>
          <a:ln w="635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01584" y="5568696"/>
            <a:ext cx="73152" cy="109728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687568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E1B4B"/>
                </a:solidFill>
                <a:latin typeface="Calibri"/>
              </a:rPr>
              <a:t>SEAN ELLIS / AMPLITUDE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5934456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1">
                <a:solidFill>
                  <a:srgbClr val="1E1B4B"/>
                </a:solidFill>
                <a:latin typeface="Calibri"/>
              </a:rPr>
              <a:t>North Star Playbook.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84464" y="6163056"/>
            <a:ext cx="3429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E1B4B"/>
                </a:solidFill>
                <a:latin typeface="Calibri"/>
              </a:rPr>
              <a:t>North Star Metric framework. Used on the leadership ask.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6784848"/>
            <a:ext cx="11274552" cy="457200"/>
          </a:xfrm>
          <a:prstGeom prst="roundRect">
            <a:avLst>
              <a:gd name="adj" fmla="val 3000"/>
            </a:avLst>
          </a:prstGeom>
          <a:solidFill>
            <a:srgbClr val="100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689457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4B8A6"/>
                </a:solidFill>
                <a:latin typeface="Calibri"/>
              </a:rPr>
              <a:t>INDICATIVE MODELS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" y="7031736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C4B5FD"/>
                </a:solidFill>
                <a:latin typeface="Calibri"/>
              </a:rPr>
              <a:t>Active Learner Score thresholds and Cohort 0 budget split are modelled forecasts. To be validated in the 90 day pilot.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ndsh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0E2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0352" y="48463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462479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8288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B8A6"/>
                </a:solidFill>
                <a:latin typeface="Calibri"/>
              </a:rPr>
              <a:t>ONE LEARNER. ONE STORY. ONE PROMISE.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972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Rohit doesn't need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another webinar.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needs a moment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he can show his family.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C4B5FD"/>
                </a:solidFill>
                <a:latin typeface="Calibri"/>
              </a:rPr>
              <a:t>If we get that right, retention takes care of itself. Advocacy follows. So does enrolment.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852160"/>
            <a:ext cx="54864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7315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B8A6"/>
                </a:solidFill>
                <a:latin typeface="Calibri"/>
              </a:rPr>
              <a:t>WITH GRATITUDE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0807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Paras Jain   |   Marketing Manager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1">
                <a:solidFill>
                  <a:srgbClr val="C4B5FD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0" i="0">
                <a:solidFill>
                  <a:srgbClr val="C4B5FD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